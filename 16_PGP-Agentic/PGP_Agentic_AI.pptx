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</p:sldIdLst>
  <p:notesMasterIdLst>
    <p:notesMasterId r:id="rId1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aee707b-d7df-a869-6aa7-ae6bdd037ae5}">
          <p14:sldIdLst>
            <p14:sldId id="256"/>
            <p14:sldId id="257"/>
          </p14:sldIdLst>
        </p14:section>
        <p14:section name="Session 1 – Agentic AI Foundations" id="{e6522885-b7f0-58a7-66b5-77137932e44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Session 2 – LangChain Core" id="{a53dcead-b237-8bb9-b26d-7506347cac91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Session 3 – LangChain Agents and Tools" id="{f1938429-39cd-e996-ed68-12f188413c40}">
          <p14:sldIdLst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Session 4 – LangGraph Workflows" id="{b60371a6-59d9-71b4-155d-fcd842e9a5b1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</p14:sldIdLst>
        </p14:section>
        <p14:section name="Session 5 – LangGraph Cycles, HITL, Persistence" id="{351dae4c-4119-ca57-84ba-df53bfe7dc8f}">
          <p14:sldIdLst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</p14:sldIdLst>
        </p14:section>
        <p14:section name="Session 6 – CrewAI" id="{a8551c7e-d68e-3bf5-e7ec-57fe0ff0b979}">
          <p14:sldIdLst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</p14:sldIdLst>
        </p14:section>
        <p14:section name="Session 7 – AutoGen" id="{c70f9342-a430-054b-2e9b-f7bc8502011f}">
          <p14:sldIdLst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</p14:sldIdLst>
        </p14:section>
        <p14:section name="Session 8 – Agentic RAG and GraphRAG" id="{23253663-5e9c-57eb-43f0-195c2d62c855}">
          <p14:sldIdLst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</p14:sldIdLst>
        </p14:section>
        <p14:section name="Session 9 – Deep Agents" id="{fb1d4a75-51c8-8033-d6fb-72587c9185d3}">
          <p14:sldIdLst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notesMaster" Target="notesMasters/notesMaster1.xml"/><Relationship Id="rId147" Type="http://schemas.openxmlformats.org/officeDocument/2006/relationships/presProps" Target="presProps.xml"/><Relationship Id="rId148" Type="http://schemas.openxmlformats.org/officeDocument/2006/relationships/viewProps" Target="viewProps.xml"/><Relationship Id="rId149" Type="http://schemas.openxmlformats.org/officeDocument/2006/relationships/theme" Target="theme/theme1.xml"/><Relationship Id="rId1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OPE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image" Target="../media/image-7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image" Target="../media/image-79-4.png"/><Relationship Id="rId5" Type="http://schemas.openxmlformats.org/officeDocument/2006/relationships/image" Target="../media/image-79-5.png"/><Relationship Id="rId6" Type="http://schemas.openxmlformats.org/officeDocument/2006/relationships/image" Target="../media/image-7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image" Target="../media/image-85-7.png"/><Relationship Id="rId8" Type="http://schemas.openxmlformats.org/officeDocument/2006/relationships/image" Target="../media/image-85-8.png"/><Relationship Id="rId9" Type="http://schemas.openxmlformats.org/officeDocument/2006/relationships/image" Target="../media/image-8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image" Target="../media/image-9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image" Target="../media/image-101-3.png"/><Relationship Id="rId4" Type="http://schemas.openxmlformats.org/officeDocument/2006/relationships/image" Target="../media/image-10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image" Target="../media/image-10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image" Target="../media/image-105-3.png"/><Relationship Id="rId4" Type="http://schemas.openxmlformats.org/officeDocument/2006/relationships/image" Target="../media/image-105-4.png"/><Relationship Id="rId5" Type="http://schemas.openxmlformats.org/officeDocument/2006/relationships/image" Target="../media/image-10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image" Target="../media/image-107-3.png"/><Relationship Id="rId4" Type="http://schemas.openxmlformats.org/officeDocument/2006/relationships/image" Target="../media/image-10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image" Target="../media/image-108-3.png"/><Relationship Id="rId4" Type="http://schemas.openxmlformats.org/officeDocument/2006/relationships/image" Target="../media/image-10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image" Target="../media/image-109-3.png"/><Relationship Id="rId4" Type="http://schemas.openxmlformats.org/officeDocument/2006/relationships/image" Target="../media/image-10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12-2.png"/><Relationship Id="rId3" Type="http://schemas.openxmlformats.org/officeDocument/2006/relationships/image" Target="../media/image-112-3.png"/><Relationship Id="rId4" Type="http://schemas.openxmlformats.org/officeDocument/2006/relationships/image" Target="../media/image-1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image" Target="../media/image-114-3.png"/><Relationship Id="rId4" Type="http://schemas.openxmlformats.org/officeDocument/2006/relationships/image" Target="../media/image-114-4.png"/><Relationship Id="rId5" Type="http://schemas.openxmlformats.org/officeDocument/2006/relationships/image" Target="../media/image-114-5.png"/><Relationship Id="rId6" Type="http://schemas.openxmlformats.org/officeDocument/2006/relationships/image" Target="../media/image-114-6.png"/><Relationship Id="rId7" Type="http://schemas.openxmlformats.org/officeDocument/2006/relationships/image" Target="../media/image-114-7.png"/><Relationship Id="rId8" Type="http://schemas.openxmlformats.org/officeDocument/2006/relationships/image" Target="../media/image-114-8.png"/><Relationship Id="rId9" Type="http://schemas.openxmlformats.org/officeDocument/2006/relationships/image" Target="../media/image-114-9.png"/><Relationship Id="rId10" Type="http://schemas.openxmlformats.org/officeDocument/2006/relationships/image" Target="../media/image-114-10.png"/><Relationship Id="rId11" Type="http://schemas.openxmlformats.org/officeDocument/2006/relationships/image" Target="../media/image-114-11.png"/><Relationship Id="rId12" Type="http://schemas.openxmlformats.org/officeDocument/2006/relationships/image" Target="../media/image-114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image" Target="../media/image-117-2.png"/><Relationship Id="rId3" Type="http://schemas.openxmlformats.org/officeDocument/2006/relationships/image" Target="../media/image-117-3.png"/><Relationship Id="rId4" Type="http://schemas.openxmlformats.org/officeDocument/2006/relationships/image" Target="../media/image-117-4.png"/><Relationship Id="rId5" Type="http://schemas.openxmlformats.org/officeDocument/2006/relationships/image" Target="../media/image-117-5.png"/><Relationship Id="rId6" Type="http://schemas.openxmlformats.org/officeDocument/2006/relationships/image" Target="../media/image-1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image" Target="../media/image-119-2.png"/><Relationship Id="rId3" Type="http://schemas.openxmlformats.org/officeDocument/2006/relationships/image" Target="../media/image-1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120-2.png"/><Relationship Id="rId3" Type="http://schemas.openxmlformats.org/officeDocument/2006/relationships/image" Target="../media/image-120-3.png"/><Relationship Id="rId4" Type="http://schemas.openxmlformats.org/officeDocument/2006/relationships/image" Target="../media/image-120-4.png"/><Relationship Id="rId5" Type="http://schemas.openxmlformats.org/officeDocument/2006/relationships/image" Target="../media/image-1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5-1.png"/><Relationship Id="rId2" Type="http://schemas.openxmlformats.org/officeDocument/2006/relationships/image" Target="../media/image-125-2.png"/><Relationship Id="rId3" Type="http://schemas.openxmlformats.org/officeDocument/2006/relationships/image" Target="../media/image-125-3.png"/><Relationship Id="rId4" Type="http://schemas.openxmlformats.org/officeDocument/2006/relationships/image" Target="../media/image-1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126-2.png"/><Relationship Id="rId3" Type="http://schemas.openxmlformats.org/officeDocument/2006/relationships/image" Target="../media/image-126-3.png"/><Relationship Id="rId4" Type="http://schemas.openxmlformats.org/officeDocument/2006/relationships/image" Target="../media/image-1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image" Target="../media/image-128-2.png"/><Relationship Id="rId3" Type="http://schemas.openxmlformats.org/officeDocument/2006/relationships/image" Target="../media/image-128-3.png"/><Relationship Id="rId4" Type="http://schemas.openxmlformats.org/officeDocument/2006/relationships/image" Target="../media/image-1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image" Target="../media/image-130-2.png"/><Relationship Id="rId3" Type="http://schemas.openxmlformats.org/officeDocument/2006/relationships/image" Target="../media/image-130-3.png"/><Relationship Id="rId4" Type="http://schemas.openxmlformats.org/officeDocument/2006/relationships/image" Target="../media/image-1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32-2.png"/><Relationship Id="rId3" Type="http://schemas.openxmlformats.org/officeDocument/2006/relationships/image" Target="../media/image-13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3-1.png"/><Relationship Id="rId2" Type="http://schemas.openxmlformats.org/officeDocument/2006/relationships/image" Target="../media/image-133-2.png"/><Relationship Id="rId3" Type="http://schemas.openxmlformats.org/officeDocument/2006/relationships/image" Target="../media/image-13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image" Target="../media/image-134-2.png"/><Relationship Id="rId3" Type="http://schemas.openxmlformats.org/officeDocument/2006/relationships/image" Target="../media/image-13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image" Target="../media/image-135-2.png"/><Relationship Id="rId3" Type="http://schemas.openxmlformats.org/officeDocument/2006/relationships/image" Target="../media/image-135-3.png"/><Relationship Id="rId4" Type="http://schemas.openxmlformats.org/officeDocument/2006/relationships/image" Target="../media/image-135-4.png"/><Relationship Id="rId5" Type="http://schemas.openxmlformats.org/officeDocument/2006/relationships/image" Target="../media/image-135-5.png"/><Relationship Id="rId6" Type="http://schemas.openxmlformats.org/officeDocument/2006/relationships/image" Target="../media/image-135-6.png"/><Relationship Id="rId7" Type="http://schemas.openxmlformats.org/officeDocument/2006/relationships/image" Target="../media/image-135-7.png"/><Relationship Id="rId8" Type="http://schemas.openxmlformats.org/officeDocument/2006/relationships/image" Target="../media/image-13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138-2.png"/><Relationship Id="rId3" Type="http://schemas.openxmlformats.org/officeDocument/2006/relationships/image" Target="../media/image-13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139-2.png"/><Relationship Id="rId3" Type="http://schemas.openxmlformats.org/officeDocument/2006/relationships/image" Target="../media/image-139-3.png"/><Relationship Id="rId4" Type="http://schemas.openxmlformats.org/officeDocument/2006/relationships/image" Target="../media/image-139-4.png"/><Relationship Id="rId5" Type="http://schemas.openxmlformats.org/officeDocument/2006/relationships/image" Target="../media/image-13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image" Target="../media/image-142-3.png"/><Relationship Id="rId4" Type="http://schemas.openxmlformats.org/officeDocument/2006/relationships/image" Target="../media/image-14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3-1.png"/><Relationship Id="rId2" Type="http://schemas.openxmlformats.org/officeDocument/2006/relationships/image" Target="../media/image-143-2.png"/><Relationship Id="rId3" Type="http://schemas.openxmlformats.org/officeDocument/2006/relationships/image" Target="../media/image-143-3.png"/><Relationship Id="rId4" Type="http://schemas.openxmlformats.org/officeDocument/2006/relationships/image" Target="../media/image-143-4.png"/><Relationship Id="rId5" Type="http://schemas.openxmlformats.org/officeDocument/2006/relationships/image" Target="../media/image-14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66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PROGRAM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hands-on sessions: from your first OpenAI agent to stateful LangGraph workflows, multi-agent crews, agentic RAG and deep agents.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52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2724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linkedin.com/in/atulkahate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20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REPOSITORY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21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26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1–9  ·  08:00–11:00 AM  ·  Demo code: 16_PGP-Agentic/code/session_N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58384" y="1106424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74920" y="502920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652" y="644652"/>
            <a:ext cx="283464" cy="28346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24728" y="548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786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agents, tools and design patterns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358384" y="2016252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74920" y="1412748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652" y="1554480"/>
            <a:ext cx="283464" cy="2834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824728" y="14584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824728" y="16962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Chains, memory, RAG and tool-using agents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358384" y="2926080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74920" y="23225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652" y="2464308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824728" y="2368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824728" y="2606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graphs, loops, human-in-the-loop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358384" y="3835908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074920" y="3232404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8" name="Image 3" descr="Fa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652" y="337413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824728" y="32781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and AutoGen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824728" y="35158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crews, flows and teams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74920" y="4142232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2" name="Image 4" descr="FaB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6652" y="428396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824728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deep agents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824728" y="44256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retrieval, reflection, memory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sessions, each 08:00–11:00 AM, each with live demos from the course repository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4358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075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075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2435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24-Oct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12435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2435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SDK, tools, design patterns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6733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673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16093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25-Oct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6093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1609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LCEL, memory, vector stores, RAG pipeline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0391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0391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1975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31-Oct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9751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19751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Prompting, custom tools, SQL agents, tool chaining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4048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4048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23408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1-Nov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23408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3408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nodes, edges, streaming, LangGraph Studio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270662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77063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7706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70432" y="2706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7-Nov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270662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HITL and Persistence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270662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human approval, checkpointers, guardrails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31363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1363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0723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8-Nov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30723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23560" y="30723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Crews, flows, managers, memory, observability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43814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5021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3502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170432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14-Nov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148840" y="34381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4381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AgentChat, teams, GraphFlow, memory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679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6928" y="38679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70432" y="38039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15-Nov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623560" y="38039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Self-RAG, CRAG, reranking, GraphRAG, RAGAS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41696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42336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66928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170432" y="41696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21-Nov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2148840" y="41696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1696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replanning, long-term memory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 ·  SAT 24-OCT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are, how they are built, and the patterns behind them – using the OpenAI Agents SDK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an AI agent is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an LLM, a chatbot and a workflow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with the OpenAI Agents SDK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tools, and the Runner that executes them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Bo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know when concurrency pays off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ap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core design patterns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use, ReAct, plan-and-execute, reflection, multi-agent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agent is and why we need one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vs workflows vs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components and architecture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API key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 basics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 agent tools (@function_tool)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multi-tool agent step by step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vs async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 patterns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framework landscape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uses AI models to perceive, decide and act toward a goal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4686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6428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input from its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text, user queries, images, audio, sensor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55748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54686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642872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do using rules, logic or 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a route, pick the best response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546860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42872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tasks based on its decisions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answer a question, run a command, call an API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752844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546860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642872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improves over time from feedback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refine recommendations, improve accuracy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920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21792" y="370179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21792" y="392125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generates text. An agent wraps an LLM with goals, tools and a loop, so it can actually get things done.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 (teaser)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is an LL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LM alone is limited; an agentic application is the complete 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chine learning, deep learning, generative AI and agentic AI compa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ic system vs workflow vs autonomous ag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366" y="164592"/>
            <a:ext cx="7697267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Agentic AI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we build in this course combines some of these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2593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0365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role in plain language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2593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cro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0365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2593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Screwdriver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0365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code, databases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2593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ArrowsRot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0365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– act – review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64490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72262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in your own documents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64490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Plu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72262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way to plug in tools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64490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Mem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72262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and long-term context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64490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User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72262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the risky steps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4101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1873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inputs and outputs safe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4101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PeopleGro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1873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that collaborate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4101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Ey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1873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of every step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4101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GaugeHigh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1873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answer quality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Setup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laptop – every later session reuses this environment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2095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20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520952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Python 3.12, VS Code and git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627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62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932432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course repository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 → Fork → keep the name agenticai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3481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7348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04516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open it in VS Code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https://github.com/YOUR-USERNAME/agenticai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32308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3230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7660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activate a virtual environment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Ctrl+Shift+P → Python: Select Interpreter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82752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75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8104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OpenAI API key to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platform.openai.com → API keys → copy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1520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758696"/>
            <a:ext cx="393192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868424"/>
            <a:ext cx="365760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agenticai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venv myenv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(if blocked, first run: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Set-ExecutionPolicy -Scope Process Bypass)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myenv\Scripts\activate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myenv/bin/activate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openai openai-agents python-dotenv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(in the repo root)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OPENAI_API_KEY=sk-...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Call: Talking to an LLM Directly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 level – one request, one response, no agent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779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773936"/>
            <a:ext cx="192024" cy="1920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87552" y="1581912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from .env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puts OPENAI_API_KEY into the environment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0030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96312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304288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in, text out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message sets the role; the user message asks the question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226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868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7552" y="3026664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tools, no memory, no loop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an agent does, we would have to code ourselves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242021" y="1581912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1_5_openai_basic.py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42021" y="1819656"/>
            <a:ext cx="4444779" cy="2395728"/>
          </a:xfrm>
          <a:prstGeom prst="roundRect">
            <a:avLst>
              <a:gd name="adj" fmla="val 190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379181" y="1929384"/>
            <a:ext cx="4170459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messages=[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"system",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"You are a helpful assistant"},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"user",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"Explain agentic AI in one paragraph"},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SDK, API and Endpoint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where when our agent talks to the model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y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Python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our machine; builds the requests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URL exposed by the provider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model running on OpenAI's servers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12592"/>
          <a:ext cx="82296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2743200"/>
                <a:gridCol w="37719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Development Kit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our client – a Python library we import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Programming Interface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side – the model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URL of one API operation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the chat completions or responses 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7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openai-agents  ·  define an agent → add tools → run it → inspect the result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79298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88998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with instructions and tools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support bot answering FAQs with function calls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55748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79298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88998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delegates to another agent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 support hands billing questions to a billing 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54296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79298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88998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inputs and outputs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unsafe requests, check the output is valid JSON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752844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792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lockRotate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88998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86762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conversation history across runs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tutor remembers topics already covered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80009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built in: tracing, MCP tools and human approval. The SDK runs the agent loop for us instead of us hand-coding it.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objects: Agent describes it, Runner runs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4517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1_2_openai_agent_basic.py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517525" cy="2275840"/>
          </a:xfrm>
          <a:prstGeom prst="roundRect">
            <a:avLst>
              <a:gd name="adj" fmla="val 2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4243205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Agent, Runner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instructions="You are a helpful customer support analyst.",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          # optional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"Analyze this customer feedback and suggest improvements: "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"'The product was a bit stale'")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40485" y="183870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353" y="1925574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34261" y="1636776"/>
            <a:ext cx="2852539" cy="75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but does not run, the agent: a name, a system prompt (instructions) and a model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40485" y="264871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53" y="2735580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34261" y="2534412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Runner.run_sync(...)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instructions + message to the LLM and waits for the answer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40485" y="337108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e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353" y="34579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34261" y="3256788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result.final_output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final answer, after any tool calls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tool system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33" y="164592"/>
            <a:ext cx="735493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Tool Call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and describes the call; our code executes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3085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temperature in Tokyo?"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3936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3085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directly, or call a tool?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39369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3085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call that matches the tool's schema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39369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3085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our Python function with those arguments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3085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combines the tool result into a reply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(agent)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21792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when to call a tool, using its instructions, the context and the tool schemas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255264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3419856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3419856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3419856" y="3704082"/>
            <a:ext cx="23042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 (docstring) and parameters, plus the code to run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053328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217920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THEM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6217920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217920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the call to our function, handles async and errors, returns the result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3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Tool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Python function plus a decorator – the docstring tells the agent when to use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91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the function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6864"/>
            <a:ext cx="393192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6592"/>
            <a:ext cx="365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"""Returns mock temperature for a city."""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temps = {"london": "65°F", "tokyo": "78°F",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"mumbai": "85°F"}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temps.get(city.lower(), "70°F")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5783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give it to the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83527"/>
            <a:ext cx="3931920" cy="874649"/>
          </a:xfrm>
          <a:prstGeom prst="roundRect">
            <a:avLst>
              <a:gd name="adj" fmla="val 522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693255"/>
            <a:ext cx="3657600" cy="691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name="QuickAssistant",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1453420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1" name="Image 0" descr="Fa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1748" y="1540288"/>
            <a:ext cx="173736" cy="1737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248656" y="1339120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function into a tool and generates its JSON schema from the type hints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217579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4" name="Image 1" descr="FaCom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62664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48656" y="206149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docstring matters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it to decide if and when to call the tool – make it clear and specific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754880" y="2898172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48" y="2985040"/>
            <a:ext cx="173736" cy="1737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48656" y="278387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are the contract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city: str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required string parameter the LLM must fill in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ing an AI agent in seven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Multi-Tool Agent,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one agent, three questions answered concurrently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1_1_my_first_agent.py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get_time(timezone: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calculate(expression: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Agent(name="QuickAssistant", model="gpt-4o-mini",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run_agent():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queries = ["What's the temperature in Tokyo?",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"Calculate 25 * 4 + 10",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"What time is it in New York timezone?"]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tasks = [Runner.run(agent, q) for q in queries]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await asyncio.gather(*tasks)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q, r in zip(queries, results):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print(f"Q: {q}\nA: {r.final_output}")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67739" y="1237234"/>
          <a:ext cx="3419061" cy="914400"/>
        </p:xfrm>
        <a:graphic>
          <a:graphicData uri="http://schemas.openxmlformats.org/drawingml/2006/table">
            <a:tbl>
              <a:tblPr/>
              <a:tblGrid>
                <a:gridCol w="1315023"/>
                <a:gridCol w="2104037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@function_tool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each function callable by the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tools=[...]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menu of tools the agent may choose 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questions – the agent picks the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Runner.run(...)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run; the list holds one task per query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asyncio.gather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all tasks at once, waits for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agent's answer after its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or Async?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two ways to run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– Runner.run_sync(...)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Blocking: one call at a time, each waits for the previous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write – no async /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scripts, one-off calls, debugging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when there are many requests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197225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06953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– await Runner.run(...)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Non-blocking: many LLM or tool calls in parallel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asyncio and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production apps, web servers, many sessions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throughput; errors via gather, timeouts, cancellation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3364865"/>
            <a:ext cx="3749040" cy="642366"/>
          </a:xfrm>
          <a:prstGeom prst="roundRect">
            <a:avLst>
              <a:gd name="adj" fmla="val 711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474593"/>
            <a:ext cx="3474720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await Runner.run(agent,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c vs async: total time 15 s vs 6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agentic AI patterns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session_1/1_9_openai_agent_pattern_plan.py, 1_4_…_react.py, 1_10_…_reflection.py, 1_3_…_rewoo.py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Tool 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decides when and how to call external tools instead of doing everything itself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suitable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structured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tool's output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PuzzlePie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it into the answer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2064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Cub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2842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is a specialist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2064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2842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tools, not code paths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2064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List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2842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trace of who did what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2064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GaugeHig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2842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work to optimised tools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ReAct (Reason + Act)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act, look at the result, think again –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need next?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right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tool's result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goal is met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2919984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2700528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achieved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 is chosen from the latest observation, so the agent adapts as it learns more – ideal when the path to the answer is not known up front.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session_1/1_4_openai_agent_pattern_react.py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whole job first, then carry out the steps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9974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10056" y="163677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10056" y="163677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9606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70938" y="1636776"/>
            <a:ext cx="120853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0938" y="1636776"/>
            <a:ext cx="1208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690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17214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7214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71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4743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4743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2866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3897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3897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020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3051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051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1174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22058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22058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" y="25511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9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647188"/>
            <a:ext cx="192024" cy="19202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15568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" y="3044952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complete plan to reach the goal before doing anything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55264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419856" y="255117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647188"/>
            <a:ext cx="192024" cy="192024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3913632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19856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each step in order; each step can be a small ReAct loop of its own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053328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17920" y="25511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9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647188"/>
            <a:ext cx="192024" cy="19202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711696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ReAct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217920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decides after every observation; plan-and-execute commits to a strategy first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Multi-Agent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collaborate on one problem, coordinated by an orchestrator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45008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8724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718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096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at the orchestrator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7244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4500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8724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718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3096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sub-tasks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7244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45008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ople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8724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718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3096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sub-task to a specialist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7244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45008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8724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718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3096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or in sequence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7244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45008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8724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718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3096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and validate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0380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12267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UserT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20040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10438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00380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12267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20040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10438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swap agents freely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00380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12267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20040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10438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concurrently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00380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12267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20040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10438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failure doesn't sink the rest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457200" y="4161282"/>
            <a:ext cx="8229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1_11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three agents run in sequence for each candidate: extractor → evaluator → decider.</a:t>
            </a:r>
            <a:endParaRPr lang="en-US" sz="1100" dirty="0"/>
          </a:p>
        </p:txBody>
      </p:sp>
      <p:sp>
        <p:nvSpPr>
          <p:cNvPr id="45" name="Shape 3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3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session_1/1_11_openai_agent_pattern_multi_agent.py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FAQ Bot to RAG: The Code Ladder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capability to the previous one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82268"/>
          <a:ext cx="8229600" cy="914400"/>
        </p:xfrm>
        <a:graphic>
          <a:graphicData uri="http://schemas.openxmlformats.org/drawingml/2006/table">
            <a:tbl>
              <a:tblPr/>
              <a:tblGrid>
                <a:gridCol w="391886"/>
                <a:gridCol w="2687216"/>
                <a:gridCol w="2463282"/>
                <a:gridCol w="2687216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/ 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 bot with a hardcoded knowledge base, keyword match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1_12_openai_agent_tool_hardcoded_knowledge.py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by meaning instead of keywords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(embeddings)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1_13_openai_agent_hardcoded_semantic.py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Chroma store with OpenAI embeddings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1_14_openai_agent_openai_vectorstore.py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FAQs in SQLite, vectorised locally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1_15_…_create_faq_db.py → 1_16_…_faq_db_vectorized.py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in the browser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the UI (Flask)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1_17_openai_agent_flask.py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from an insurance PDF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a 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1_18_openai_agent_insurance_flask.py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balance questions before the agent answers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1_19_openai_agent_guardrails.py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vs 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1_20_… vs 1_21_…_agentic_rag.py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used as tools by a manager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1_22_openai_agent_agent_as_tool.py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 earlier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1_23_openai_agent_short_term_memory.py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session_1/1_12_* … 1_23_*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AI Framework Landscape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API calls to full multi-agent frameworks – the order we cover them in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18488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45920"/>
                <a:gridCol w="1954530"/>
                <a:gridCol w="4217670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/ 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fits 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API /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level – call LLMs and embeddings; everything else builds on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Agents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agents, tools, handoffs, guardrails and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/ LangGraph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and agent graphs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 workflows as graphs: predictable flows, loops,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crews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agents collaborating on tasks; built for 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that talk to each other: debate, negotiate,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agent ↔ tool connection that makes all of the above interoperable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No-code / low-code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builders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Drag-and-drop agents with many connectors (n8n, OpenAI Agent Builder)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+ Runner.run_sync, with instructions and a model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 functions the agent decides to call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Multi-tool async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queries, run concurrently with asyncio.gather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1_4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plan-and-execute, reflection, ReWOO, multi-agent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1_12+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bot → RAG ladder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search, vector stores, guardrails, memory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= LLM + instructions + tools +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describes a tool call – our code runs 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Docstrings and type hints are how the agent understands a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async when calls are independent; sync when each step needs the last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pattern by how predictable the path to the answer is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LangChain Core – Chains, Memory and RAG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·  SAT 25-OCT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LLM apps from small parts, give them memory, and ground them in your own documents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chains with LCEL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and the Runnables behind the pipe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conversation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persistence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11429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030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search embeddings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and FAISS, similarity metrics, metadata filters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88086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97687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78104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RAG pipeline end to end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embed, retrieve, generate – and a PDF Q&amp;A bot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overview and architecture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and Runnables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and output parsers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(session and persistent)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and vector databases (Chroma, FAISS)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loaders, text splitters and chunking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RAG pipeline with retrievers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framework for building applications on top of LLMs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107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794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prompts, output parsers, retrievers, tools – all interchangeable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7345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6032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5915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OpenAI, Gemini or a local Ollama model without rewriting the app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958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826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81528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blocks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run any chain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.invoke()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.batch()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.stream()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LangChain evolved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276856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18872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LCEL (Runnables)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CEL operators an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session_2/2_1_langchain_lcel.py, 2_2_langchain_lcel_ollama.py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ree types of prompt templates in LangCh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session_2/2_3_prompt_templates.py (chat, MessagesPlaceholder and partial templates)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Chain output par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session_2/2_4_output_parsers.py (Str, JSON and Pydantic parsers)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remember a customer-support chat – each trades detail for size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ListU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memory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every past turn, word for word, to the LLM every time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grows without limit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SUMMARY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p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memory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rewrites the chat into a running summary: "Customer's blender arrived damaged; a replacement ships in 3 days."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loses detail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MEANING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Vector-store memory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turns about a laptop; "My battery drains fast" → retrieves the battery turn (turn 3) – the most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the most recent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long histories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session_2/2_5_memory_types.py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 lives only while the app runs; persistent memory survives restarts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773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assistant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440180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ockRotate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773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conversation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from the database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44018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773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question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turn's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440180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773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full context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773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turn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back for next time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5720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when the program stops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a single chat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66344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66344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480060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80060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a database (e.g. SQLite)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restarts – multi-turn across days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 real assistants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session_2/2_6_persistent_chatbot.py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y do we need RAG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mbeddings: turning text into ve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Similarity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retrieval ranks stored vectors by how close they are to the query vector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33472" cy="1700784"/>
          </a:xfrm>
          <a:prstGeom prst="roundRect">
            <a:avLst>
              <a:gd name="adj" fmla="val 322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81912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passDraf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677924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581912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075688"/>
            <a:ext cx="2304288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between two vectors – ignores length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= same direction)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5264" y="1417320"/>
            <a:ext cx="2633472" cy="1700784"/>
          </a:xfrm>
          <a:prstGeom prst="roundRect">
            <a:avLst>
              <a:gd name="adj" fmla="val 322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9856" y="158191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ulerHorizon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677924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3632" y="1581912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(Euclidean) distance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19856" y="2118360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distance between two points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 = identical)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53328" y="1417320"/>
            <a:ext cx="2633472" cy="1700784"/>
          </a:xfrm>
          <a:prstGeom prst="roundRect">
            <a:avLst>
              <a:gd name="adj" fmla="val 322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581912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ArrowsLef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677924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11696" y="1581912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075688"/>
            <a:ext cx="2304288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and magnitude together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equals cosine for normalised vectors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the demo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55701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66674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IN ONE LINE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88620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question, score it against every stored vector, keep the top-k closest – those chunks go to the LLM.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hromaDB stores Q&amp;A: questions as vectors, answers as 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Meaning plus Metadata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local, persistent vector database – documents, embeddings and metadata together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50492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1932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636776"/>
            <a:ext cx="34198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you store – here, FAQ questions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73808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65248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76272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for you by Chroma's built-in model, or one you choose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0944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a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238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3408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Key–value tags on each item: category, priority, the answer text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meaning, filter by metadata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754880" y="1874520"/>
            <a:ext cx="393192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892040" y="1984248"/>
            <a:ext cx="365760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collection.query(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query_texts=["can i use cash?"],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n_results=1,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where={"category": "returns"},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754880" y="3263011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19472" y="3372739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WORK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919472" y="3592195"/>
            <a:ext cx="3602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narrows the candidates by metadata first; similarity then ranks what is left.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Databases Compared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– store vectors, find the nearest ones – different trade-offs</a:t>
            </a:r>
            <a:endParaRPr lang="en-US" sz="13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090670"/>
                <a:gridCol w="1388125"/>
                <a:gridCol w="1883884"/>
                <a:gridCol w="1983036"/>
                <a:gridCol w="188388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/ embedded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Small–medium apps, notebooks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Easy, local persistence, Python-first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ideal at very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Library, not a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in-process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offline, optimised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metadata store or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Production,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Scalable, highly available, no infra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Paid, cloud-only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with filters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filtering, simple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Heavier to self-host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roma vs FAISS: documents with details vs vectors in a fast ind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FAISS: Search Without Comparing Everything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AI Similarity Search – Meta's library for fast similarity search over dense vectors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one million documents (the demo has ten), and the user asks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artificial intelligence?"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FAISS – linear scan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document 1, then 2, then 3 …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all the way to document 1,000,000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and gets slower as data grows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FAISS – an index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FAISS index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top-k results (top_k=3 in the demo)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IndexFlatL2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demo still compares all;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IndexHNSW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skips most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Chunking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files into Document objects, then into chunks small enough to embed and retrieve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format – PDF, CSV, web, Notion; a PDF loads as one Document per page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973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WindowMaximiz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54203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context window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documents do not fit, and tokens cost money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6687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324916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3051048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better retrieval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focused chunks match questions better</a:t>
            </a:r>
            <a:endParaRPr lang="en-US" sz="13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99560" y="1636776"/>
          <a:ext cx="4587240" cy="914400"/>
        </p:xfrm>
        <a:graphic>
          <a:graphicData uri="http://schemas.openxmlformats.org/drawingml/2006/table">
            <a:tbl>
              <a:tblPr/>
              <a:tblGrid>
                <a:gridCol w="1084257"/>
                <a:gridCol w="2168513"/>
                <a:gridCol w="133447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splits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 characters, with overlap so ideas are not cut in half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prototypes (not in the demo)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Paragraph → sentence → word until each chunk fits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RAG (most common)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topic changes, judged with embeddings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High-quality 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7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session_2/2_11_document_loaders.py, 2_12_text_splitters.py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Pipeline,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once, then answer many questions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2362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pPr algn="l" indent="0" marL="0">
              <a:buNone/>
            </a:pPr>
            <a:r>
              <a:rPr lang="en-US" sz="115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done once, or when documents change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0584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ile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89255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9377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Word, web, CSV, DB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020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75539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FileIm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89255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3969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3969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Document objects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4612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297680" y="175539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cisso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89255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8561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Splitter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78561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small chunks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9204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5943600" y="175539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ub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89255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3153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3153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53796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58952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892554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7745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7745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Chroma, FAISS, Pinecone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3029966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pPr algn="l"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for every user question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00584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1" name="Image 5" descr="Fa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55015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377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9377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160020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265176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6" name="Image 6" descr="FaCub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550158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3969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it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213969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embedding model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24612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429768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1" name="Image 7" descr="Fa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550158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378561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378561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similar chunks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89204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594360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6" name="Image 8" descr="FaFileLin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3550158"/>
            <a:ext cx="274320" cy="27432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543153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48" name="Text 37"/>
          <p:cNvSpPr txBox="1"/>
          <p:nvPr/>
        </p:nvSpPr>
        <p:spPr>
          <a:xfrm>
            <a:off x="543153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question</a:t>
            </a:r>
            <a:endParaRPr lang="en-US" sz="1000" dirty="0"/>
          </a:p>
        </p:txBody>
      </p:sp>
      <p:sp>
        <p:nvSpPr>
          <p:cNvPr id="49" name="Shape 38"/>
          <p:cNvSpPr/>
          <p:nvPr/>
        </p:nvSpPr>
        <p:spPr>
          <a:xfrm>
            <a:off x="653796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758952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51" name="Image 9" descr="FaMicrochi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680" y="3550158"/>
            <a:ext cx="274320" cy="27432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7745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707745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000" dirty="0"/>
          </a:p>
        </p:txBody>
      </p:sp>
      <p:sp>
        <p:nvSpPr>
          <p:cNvPr id="54" name="Shape 4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7" name="Text 4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session_2/2_13_rag_pipeline.py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between the vector database and the LLM – only the relevant chunks reach the prompt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00403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96415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VectorStoreRetriever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194179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the question and returns the most similar chunks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only as good as the question's wording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REPHRASE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00403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96415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MultiQueryRetriever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194179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writes several versions of the question, retrieves for each, merges the results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chunks a single wording misses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00403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Compr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96415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00403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ContextualCompression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36851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candidates, then an LLM keeps only the parts that answer the question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noise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prompt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57981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67709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THESE THREE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87165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Self-query, parent-document and ensemble retrievers (not demoed in this course) build on the same idea – they change how a question becomes the final chunks.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session_2/2_14_retrievers.py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that answers questions about an insurance PDF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Chroma version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2_15_langchain_qand_a_bot_chroma.py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playground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http://localhost:8000/ask/playground/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policy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the retrieved chunks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8041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04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FAISS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2_16_langchain_qanda_bot_faiss.py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same app, different store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548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 directory of files for 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automatically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.index file + .pkl of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save_local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load_local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session_2/2_15_langchain_qand_a_bot_chroma.py, 2_16_langchain_qanda_bot_faiss.py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with OpenAI and with local Ollama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a persistent chatbot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search with metadata filters; FAISS indexes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split → embed → store → retrieve → generate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2_15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Q&amp;A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over an insurance document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modern LangChain, everything is a Runnable joined with |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memory by what you can afford to send: all, a summary, or what is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turn meaning into geometry; retrieval is nearest-neighbour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 often matters more than the choice of vector DB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decides what the LLM gets to see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LangChain Agents and Tool Use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·  SUN 31-OCT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agents, custom tools, and agents connected to real systems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nTo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that steer agents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 examples, chain-of-thought, ReAct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bind custom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bind_tools, and Pydantic schemas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99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93598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agents to real systems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databases, chained tools and web research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 (recap)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tools and binding them to an LLM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with Pydantic schemas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 agents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and tool chaining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Fundamentals: A Quick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chatbot, an agent makes decisions and performs tasks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environment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problem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ignsPo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next action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it with a tool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MagnifyingGlass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result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until the goal is achieved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loop, built with LangChain: prompts steer the Reason step, tools power the Act step, and a short loop in our own code ties them together.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for Domain-Expert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role, expertise, rules and style before any user interaction</a:t>
            </a:r>
            <a:endParaRPr lang="en-US" sz="135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55979"/>
          <a:ext cx="3495040" cy="914400"/>
        </p:xfrm>
        <a:graphic>
          <a:graphicData uri="http://schemas.openxmlformats.org/drawingml/2006/table">
            <a:tbl>
              <a:tblPr/>
              <a:tblGrid>
                <a:gridCol w="1165013"/>
                <a:gridCol w="2330027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assistant's expertise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objective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or information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generate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avoid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format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Formal, friendly, technical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18000" y="1355979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318000" y="1593723"/>
            <a:ext cx="436880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55160" y="1703451"/>
            <a:ext cx="409448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expert &lt;ROLE&gt;.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goal is to &lt;OBJECTIVE&gt;.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your expertise in &lt;DOMAIN&gt;.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answering: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concepts clearly.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Ask clarifying questions if information is missing.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make up facts. If uncertain, say so.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in a professional and concise manner.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18000" y="3396361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from the demo (REACT_INSTRUCTIONS)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8000" y="3634105"/>
            <a:ext cx="4368800" cy="807212"/>
          </a:xfrm>
          <a:prstGeom prst="roundRect">
            <a:avLst>
              <a:gd name="adj" fmla="val 566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55160" y="3743833"/>
            <a:ext cx="4094480" cy="624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customer-support assistant that decides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 eligibility using ReAct-style reasoning.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do NOT know order details in advance -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must look them up.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Zero-Shot, One-Shot and Few-Shot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refund decision for order A1002, with examples or with none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AND CASE ONLY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97637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QA, summaries, translation, simple classification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inconsistent on complex tasks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23824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34797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Headphones, 42 days, opened,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undamaged. Eligible for a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refund? Yes/No and amount.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55264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19856" y="197637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9856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teaching a format or style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example rarely covers every case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19856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 Lamp, 10 days, unopened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Yes, refund of $19.99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Headphones, 42 days…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53328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EXAMPLES HERE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9763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6711696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complex classification, extraction, structured output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longer prompts cost tokens and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 Lamp, unopened → Yes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Coffee Mug, damaged → No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Yoga Mat, 35 days → No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Headphones, 42 days… → ?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and Tree-of-Thought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step, or to compare several lines of reasoning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075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"I'd like to return order A1002. Can I get a refund?" Bluetooth Headphones, delivered 42 days ago, opened but undamaged. The policy allows returns within 30 days.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938528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938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Zero-shot: answer directly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4505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"No, this order is not eligible."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– but we cannot see or check the reasoning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938528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938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CoT: "Think through the policy step by step"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window: 42 days is past the 30-day limit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condition: opened but undamaged is acceptable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eligible, because of the window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6674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77647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TREE-OF-THOUGHT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99592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calls each explore one line of reasoning (temperature 0.9); a final call evaluates them against the policy and gives one decision.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+ Act: alternate thinking with tool calls, and use each result to decide the next step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discussed this in Section 1, earlier; but now want to see the inside working of the loop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3463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I'd like to return order A1003. Can I get a refund?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5973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5973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77112" y="26151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87424" y="245973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7424" y="245973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37994" y="26151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48306" y="245973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48306" y="245973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80360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85138" y="30358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695450" y="2880360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5450" y="2880360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46020" y="30358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56332" y="2880360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6332" y="2880360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9275" y="16657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9275" y="16657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4608187" y="1636776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I don't know this order yet, so I must look it up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9275" y="2069592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69275" y="206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4608187" y="2069592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lookup_order[A1003]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69275" y="2473452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69275" y="24734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4608187" y="2444496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Laptop Stand, 6 days since delivery, opened, damaged, $34.5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9275" y="29062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275" y="29062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4608187" y="2877312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within 30 days, but the policy excludes opened and damaged items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169275" y="3310128"/>
            <a:ext cx="292608" cy="29260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69275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4608187" y="3310128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Answer: No, this order is not eligible for a refund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Calling: The LLM Asks, the App Acts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an LLM cannot query an API, send an email, read a database or run a function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downloaded Jane Austen book on Project Gutenberg?"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the book catalogue"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search_gutenberg_books("Jane Austen")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runs the function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46504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the result and replies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6499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47472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69417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executes anything. It only generates a structured request; the application decides whether and how to run it.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with @tool, attach with bind_tools, and constrain inputs with Pydantic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tool and bind it to the LLM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3625"/>
            <a:ext cx="3931920" cy="1519047"/>
          </a:xfrm>
          <a:prstGeom prst="roundRect">
            <a:avLst>
              <a:gd name="adj" fmla="val 301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3353"/>
            <a:ext cx="3657600" cy="133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"""Search Project Gutenberg books."""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llm_with_tools = llm.bind_tools(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[search_gutenberg_books])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in, Pydantic out (3_3)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73625"/>
            <a:ext cx="3931920" cy="2148459"/>
          </a:xfrm>
          <a:prstGeom prst="roundRect">
            <a:avLst>
              <a:gd name="adj" fmla="val 21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83353"/>
            <a:ext cx="3657600" cy="196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SearchGutenbergInput(BaseModel):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query: str = Field(description="Title, author or subject")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@tool("search_gutenberg_books",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args_schema=SearchGutenbergInput)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 ...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BookAnswer(BaseModel):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download_count: int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structured_llm = llm.with_structured_output(BookAnswer)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107847"/>
            <a:ext cx="39319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makes sure what goes to and from the LLM matches a schema – wrong types fail fast.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session_3/3_2_tool_calling.py, 3_3_tool_calling_pydantic.py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Databases: SQLDatabaseToolkit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→ SQL query → answer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4188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product generated the highest total revenue?" – the agent inspects the schema, writes the SQL, runs it and explains the result. </a:t>
            </a:r>
            <a:pPr algn="l"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3_6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asks the same kind of question with one hand-written </a:t>
            </a:r>
            <a:pPr algn="l"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run_sql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 on the OpenAI Agents SDK.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18998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30886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Table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386584"/>
            <a:ext cx="155448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6696" y="229057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sql_db_list_tables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tables exist?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36008" y="218998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230886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4" y="238658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75504" y="229057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sql_db_schema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of the chosen tables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6072" y="304495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" y="3122676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6696" y="302666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SQL query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36008" y="292608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754880" y="304495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9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604" y="3122676"/>
            <a:ext cx="155448" cy="1554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75504" y="302666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sql_db_query_checker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query before running it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381533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21792" y="392506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TIP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" y="414451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a read-only database user – an LLM that can write SQL can also write DELETE.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session_3/3_4_create_sales_db.py → 3_5_sql_database_toolkit_agent.py, 3_6_sales_db_agent.py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Loop, in Our Own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bind_tools idea from 3_2, repeated until the LLM stops asking for tools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50785"/>
            <a:ext cx="4517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run_agent() from 3_5 (prints and try/except left out)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88529"/>
            <a:ext cx="4517525" cy="2657983"/>
          </a:xfrm>
          <a:prstGeom prst="roundRect">
            <a:avLst>
              <a:gd name="adj" fmla="val 172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98257"/>
            <a:ext cx="4243205" cy="2475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run_agent(question, max_steps=8):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 = [SystemMessage(SYSTEM_PROMPT),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HumanMessage(question)]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_ in range(max_steps):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ai_message = llm_with_tools.invoke(messages)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messages.append(ai_message)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ai_message.tool_calls: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ai_message.content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tool_call in ai_message.tool_calls: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tool = tools_by_name[tool_call["name"]]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 = tool.invoke(tool_call["args"])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messages.append(ToolMessage(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content=str(result),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tool_call_id=tool_call["id"]))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340485" y="1485837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40485" y="148583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5779397" y="1450785"/>
            <a:ext cx="2907403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sees the question and all results so far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340485" y="1967421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0485" y="196742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5779397" y="1932369"/>
            <a:ext cx="2907403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calls?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this is the final answer, so stop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40485" y="2449005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0485" y="244900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779397" y="2413953"/>
            <a:ext cx="2907403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tools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runs them, not the LLM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40485" y="3010599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0485" y="30105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779397" y="2895537"/>
            <a:ext cx="2907403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the results back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ToolMessage goes into the history; loop again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40485" y="3652203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0485" y="3652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5779397" y="3537141"/>
            <a:ext cx="2907403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the steps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 stops a confused agent from looping forever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session_3/3_5_sql_database_toolkit_agent.py, 3_7_chaining_tool_outputs.py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Reasoning: Chaining Tools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should I wear outside today in Tokyo?" – no single tool can answer that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city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geocode_city()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latitude / longitude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loud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get_current_weather()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Shi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recommend_clothing()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weather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Map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find_nearby_places()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973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4168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3_7 runs this twice: first the agent decides each next tool, then the same chain is hardcoded with no LLM. The Flask app (3_8) puts a UI on the hardcoded version.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session_3/3_7_chaining_tool_outputs.py, 3_8_chaining_tool_outputs_flask.py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web, dig deeper where needed, and save a report of what it found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alendar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get_current_date()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topic depends on recency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web_search()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Tavily (3_9) or SerpAPI (3_10)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fetch_page_content()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reads promising pages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save_report()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file with sources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FRAMEWORK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two demos use the OpenAI Agents SDK from Session 1, not LangChain. The agent decides the tool order, and the script then checks that the report file really exists.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session_3/3_9_research_agent_tools.py, 3_10_research_agent_tools_serp.py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Few-shot, chain-of-thought, tree-of-thought and ReAct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 and Pydantic input schemas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questions, with our own agent loop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958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1958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683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chaining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152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tool's output becomes the next tool's input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7216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7216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6941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410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scrape and summarise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the agent's operating manual – structure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requests tool calls; your code runs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docstring and schema are what make a tool usable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tools when one output is the next one's input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what tools can do (read-only DB, allow-lists)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LangGraph – Stateful Workflows and Routing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 ·  SAT 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 LLM application as a graph: shared state, nodes that update it, and edges that decide what runs next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de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reach for LangGraph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plain LangChain chains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graphs from state, nodes and edges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TypedDict state, StateGraph, conditional edges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and debug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output and LangGraph Studio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 (LangChain vs LangGraph)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components: state, nodes, edges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graph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pipelines and LangGraph Studio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Work with LLMs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structure at each level: plain Python, a LangChain chain, and a LangGraph graph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ABSTRACTION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(OOP)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calls; we write the flow, state and error handling ourselves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one-off calls, prototypes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ABSTRACTION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(LCEL)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declarative pipeline: prompt → LLM → parser → tool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linear; built-in retries and fallbacks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standard pipelines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ABSTRACTION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and edges over an explicit, persistent state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parallel paths, conditional routing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stateful, multi-step, multi-agent work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vs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builds on LangChain; it doesn't replace it</a:t>
            </a:r>
            <a:endParaRPr lang="en-US" sz="13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LLMs with tools, retrievers and parsers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stateful, multi-agent applications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single-step or short 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Multi-step, long-running, with loops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Minimal; memory handled outside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shared state across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predefined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branching and runtime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Chatbots, document Q&amp;A, calculators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Steeper: state, nodes, edges, coordination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Four Key Components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greeting graph: ask for a name, then greet the user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19834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1274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614678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that flows through the graph and is updated at each step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42210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365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337054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takes the current state, returns an updated state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64586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56026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3059430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nodes and decides how control flows between them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799332"/>
            <a:ext cx="365760" cy="36576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90772"/>
            <a:ext cx="182880" cy="182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69264" y="3781806"/>
            <a:ext cx="3856736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structure that organises nodes and edges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939280" y="200787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5933440" y="161467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988304" y="161467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939280" y="264795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5933440" y="225475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988304" y="225475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step_1 (ask_name)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939280" y="328803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5933440" y="289483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988304" y="289483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step_2 (greet_user)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933440" y="353491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88304" y="353491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session_4/4_1_langgraph_basic.py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with TypedDict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don't pass many variables to each other – they read and update one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3538"/>
            <a:ext cx="334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now knows which fields exist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1282"/>
            <a:ext cx="3346315" cy="664845"/>
          </a:xfrm>
          <a:prstGeom prst="roundRect">
            <a:avLst>
              <a:gd name="adj" fmla="val 687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1010"/>
            <a:ext cx="3071995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InputState(TypedDict):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greeting: str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2975039"/>
            <a:ext cx="3346315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084767"/>
            <a:ext cx="30171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304223"/>
            <a:ext cx="30171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can return only the fields it changed: classify_mood in 4_2 returns just {"mood": ...}, and LangGraph merges it in.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9275" y="1633538"/>
          <a:ext cx="4517525" cy="914400"/>
        </p:xfrm>
        <a:graphic>
          <a:graphicData uri="http://schemas.openxmlformats.org/drawingml/2006/table">
            <a:tbl>
              <a:tblPr/>
              <a:tblGrid>
                <a:gridCol w="1198527"/>
                <a:gridCol w="1567305"/>
                <a:gridCol w="1751693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BaseModel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hints for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and parsing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enforced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Enforced, with type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nested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– no checks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– validates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just need 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 validation (e.g. API input)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session_4/4_1_langgraph_basic.py, 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name, then greet the user – two nodes over a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4_1_langgraph_basic.py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InputState(TypedDict):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ask_name(state):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user_name = input("Bot: What's your name? 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{"name": user_name, "greeting": ""}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greet_user(state):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state.get("name") or "there"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 = f"Hello {name}, nice to meet you!"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{"name": name, "greeting": greeting}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StateGraph(InputState)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graph.add_node("step_1", ask_name)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graph.add_node("step_2", greet_user)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graph.add_edge(START, "step_1")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graph.add_edge("step_1", "step_2")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graph.add_edge("step_2", END)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graph.compile()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app.invoke({"name": "", "greeting": ""})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67739" y="1237234"/>
            <a:ext cx="56794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67739" y="1237234"/>
            <a:ext cx="56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63115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73427" y="1237234"/>
            <a:ext cx="63398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3427" y="1237234"/>
            <a:ext cx="63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34843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945155" y="1237234"/>
            <a:ext cx="63398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5155" y="1237234"/>
            <a:ext cx="63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06571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816883" y="1237234"/>
            <a:ext cx="4358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6883" y="1237234"/>
            <a:ext cx="435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67739" y="209677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9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5463" y="2174494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724939" y="198704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clipboard every node reads and writes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67739" y="265684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463" y="2734564"/>
            <a:ext cx="155448" cy="15544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24939" y="2627122"/>
            <a:ext cx="2961861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functions: state in, updated fields out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267739" y="313690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463" y="3214624"/>
            <a:ext cx="155448" cy="1554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24939" y="3107182"/>
            <a:ext cx="2961861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step_1 → step_2 → END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267739" y="369697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8" name="Image 3" descr="Fa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463" y="3774694"/>
            <a:ext cx="155448" cy="15544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724939" y="358724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compile() and invoke()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runnable graph, then run it from an initial state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session_4/4_1_langgraph_basic.py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Edges: Choosing the Next Node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edge always goes to the same node; a conditional edge picks one from the current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9009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4_2_greeter_graph.py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06753"/>
            <a:ext cx="4368800" cy="1661414"/>
          </a:xfrm>
          <a:prstGeom prst="roundRect">
            <a:avLst>
              <a:gd name="adj" fmla="val 275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16481"/>
            <a:ext cx="4094480" cy="1478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route_by_mood(state):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state["mood"]    # "happy" or "sad"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graph.add_conditional_edges(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"classify_mood",        # after this node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route_by_mood,          # call this function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{"happy": "cheerful_reply",     # label -&gt; next node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"sad": "sympathetic_reply"},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07079"/>
            <a:ext cx="43688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4_4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uses only plain edges.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4_5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one conditional edge: positive news goes to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invest_summary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negative to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alternatives_summary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39280" y="1862201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933440" y="1469009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8304" y="1469009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H="1">
            <a:off x="5996940" y="2502281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939280" y="2502281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33440" y="2109089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8304" y="2109089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classify_mood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96940" y="3142361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6939280" y="3142361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91760" y="2749169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46624" y="2749169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cheerful_reply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76440" y="2749169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1304" y="2749169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sympathetic_reply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33440" y="3389249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88304" y="3389249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session_4/4_2_greeter_graph.py, 4_4_stock_price_graph.py, 4_5_stock_news_sentiment_graph.py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and LangGraph Studio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progress while the graph runs, and see the graph itself while you build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7776"/>
            <a:ext cx="395478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 the graph runs every node, then returns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stream_mode="updates"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node's output as soon as it completes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stream_mode="messages"</a:t>
            </a:r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LLM's answer token by token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 progress instead of waiting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pPr algn="l"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visual IDE for graphs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32020" y="2017776"/>
            <a:ext cx="3954780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9180" y="2127504"/>
            <a:ext cx="3680460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"langgraph-cli[inmem]"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 dev --tunnel     # opens Studio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"domain not allowed"? Advanced settings →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Allowed domains: *.trycloudflare.com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pick stock_news, input: hdfcbank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Ctrl+C to stop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session_4/4_3_streaming_stock_recommendation.py, langgraph.json, 4_5_stock_news_sentiment_graph.py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Graph memory options: no memory, MemorySaver, SqliteSa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session_5/5_4_langgraph_memory.py (covered in Session 5)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LangGraph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demos that combine everything so far – several continue into Session 5</a:t>
            </a:r>
            <a:endParaRPr lang="en-US" sz="135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235200"/>
                <a:gridCol w="3352800"/>
                <a:gridCol w="26416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summariser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API + conditional logic on news sentiment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4_6 (4_7 Ollama, 4_8 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sector outlook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Multi-node research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security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planner agent decides the review steps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chatbot (real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FAQs in ChromaDB, ntfy.sh and Gmail,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a Hugging Face dataset, apply to the bank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session_5/5_8 → 5_9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 + RAG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from memory first, else the vector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session_4/4_6_…_news_summarizer.py (+4_7/4_8), 4_9_…_sector_outlook.py, 4_10_…_planner_agent.py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Sending Email from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demos send mail through Gmail with an app password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Google Account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sign-in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2-step verification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passwords are only available with it enabled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app password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"App passwords" option, or go to myaccount.google.com/apppasswords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16-character password without spaces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GMAIL_APP_PASSWORD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session_5/5_7_langgraph_bank_ntfy_email_flask.py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graph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two nodes, edges, compile and invoke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greeter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nodes and a conditional edge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by node, and token by token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4_5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debug the stock news 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summariser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API-driven graph with sentiment-based branches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LangGraph when you need state, branches or loops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contract between nodes – design it first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return partial updates; LangGraph merges them into the state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let the state choose the next node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for responsiveness; use Studio to see and debug the graph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LangGraph – Cycles, Human-in-the-Loop and Persistence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 ·  SUN 7-NOV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Human-in-the-Loop and Persistence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that loop until the work is good enough, pause for a human, and survive a crash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Rot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loops with a safe exit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back to an earlier node, with a limit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for human approval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resume with Command(resume=…)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and recover state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checkpointers, thread IDs, SQLite crash recovery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protect the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design, subgraphs, guardrails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and loops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(HITL)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 and persistence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banking chatbot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in LangGraph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in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can run more than once – here, an answer is refined until the evaluator is satisfied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 to answer or improve; iterations + 1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aleBalanc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LLM: continue or stop?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should_continue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iterations ≥ 3, else use the decision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158240" y="3319272"/>
            <a:ext cx="280416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158240" y="3099816"/>
            <a:ext cx="280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→ back to answer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just a conditional edge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0" y="1874520"/>
            <a:ext cx="365760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66360" y="1984248"/>
            <a:ext cx="338328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AgentState(TypedDict):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history: List[str]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iterations: int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decision: str   # "continue" | "stop"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builder.add_conditional_edges(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"evaluate",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should_continue,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{"continue": "answer",   # LOOP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"stop": END},           # EXIT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session_5/5_1_langgraph_looping_agents.py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Loops in a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order-processing state machine: approve, retry the payment, or give up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31620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after payment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69364"/>
            <a:ext cx="3744686" cy="1451610"/>
          </a:xfrm>
          <a:prstGeom prst="roundRect">
            <a:avLst>
              <a:gd name="adj" fmla="val 315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9092"/>
            <a:ext cx="3470366" cy="126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graph.add_conditional_edges(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"process_payment",        # source node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route_after_payment,      # routing function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"approved": "ship_order",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"retry":    "process_payment",   # loop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"give_up":  "fail_order",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67646" y="1554480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8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4514" y="1641348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61422" y="1531620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to ship_order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67646" y="209397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514" y="2180844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61422" y="2071116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process_payment – this is the cycle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67646" y="2633472"/>
            <a:ext cx="347472" cy="347472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2" descr="FaCircleX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514" y="272034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61422" y="2610612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give_up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fail_order after too many attempts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67646" y="3442716"/>
            <a:ext cx="4119154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32238" y="3552444"/>
            <a:ext cx="3789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32238" y="3771900"/>
            <a:ext cx="378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loop an exit: an attempt counter, a quality threshold, or both.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session_5/5_2_order_processing_state_machine.py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the graph at a risky step so a person can approve, edit or reject before it continues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51790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65506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evaluate_expense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assesses the claim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51790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65506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human_approval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interrupt(…) pauses here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51790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65506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invoke(Command(resume=decision))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121152"/>
            <a:ext cx="420624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interrupt()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control to the caller with a payload to show the human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saved by the checkpointer – a checkpointer is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alternative: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interrupt_before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interrupt_after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named node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0" y="1517904"/>
            <a:ext cx="3657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needed: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loan approvals, large transfers, medical recommendations, legal documents, contract signing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29200" y="2500884"/>
            <a:ext cx="3657600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93792" y="2610612"/>
            <a:ext cx="3328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HITL SCREEN SHOWS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193792" y="2830068"/>
            <a:ext cx="3328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recommendation · supporting evidence and retrieved documents · a confidence score · a short reasoning summary · clear action buttons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session_5/5_3_human_approval_gate.py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graph's state so execution can continue later instead of starting over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549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2636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field values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5491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Crosshai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2636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node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execution stopped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549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2636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so far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9100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Hash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8728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 this state belongs to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9100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Pa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8728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interrupts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must answer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9100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st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8728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flags, results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5720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9436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persistence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59436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RAM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466344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66344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80060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persistence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480060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SQLite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267708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≠ memory.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checkpointer answers "where was the agent?"; memory answers "what does the agent know?"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0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session_5/5_4_langgraph_memory.py, 5_5_sqlite_checkpointing_crash_recovery.py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with a SQLite Checkpointer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transfer that crashes half-way, then resumes exactly where it stopped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40741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54457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= "transfer-1"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n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54457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debit_account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 debited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40741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54457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SQLite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Bur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54457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credit_account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crash on attempt 1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2858262"/>
            <a:ext cx="3678865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– resume from disk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231642"/>
            <a:ext cx="367886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app.invoke(None, config)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None means "don't start fresh; resume this thread"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finds transfer-1 with debit_account already completed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only credit_account – the second attempt succeeds, and the debit is not repeated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456105" y="2858262"/>
            <a:ext cx="4230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checkpoint holds for transfer-1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56105" y="3096006"/>
            <a:ext cx="423069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593265" y="3205734"/>
            <a:ext cx="395637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"amount": 250.00,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"completed_steps": ["debit_account"]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node to run: credit_account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session_5/5_5_sqlite_checkpointing_crash_recovery.py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the State Schema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everything the agent needs while it works – each node reads it and adds to it</a:t>
            </a:r>
            <a:endParaRPr lang="en-US" sz="1350" dirty="0"/>
          </a:p>
        </p:txBody>
      </p:sp>
      <p:graphicFrame>
        <p:nvGraphicFramePr>
          <p:cNvPr id="8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1704"/>
          <a:ext cx="3574473" cy="914400"/>
        </p:xfrm>
        <a:graphic>
          <a:graphicData uri="http://schemas.openxmlformats.org/drawingml/2006/table">
            <a:tbl>
              <a:tblPr/>
              <a:tblGrid>
                <a:gridCol w="1390073"/>
                <a:gridCol w="218440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user_query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retrieved_docs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found by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returned by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final_answer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 and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workflow 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97433" y="144170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 I eligible for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state fills up as the graph runs: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397433" y="22844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97433" y="2284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4836345" y="2249424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user_query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7433" y="272034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97433" y="27203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4836345" y="2685288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retrieval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retrieved_docs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97433" y="315620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97433" y="31562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4836345" y="3121152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tool execution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tool_results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7433" y="3592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97433" y="3592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7" name="Text 14"/>
          <p:cNvSpPr txBox="1"/>
          <p:nvPr/>
        </p:nvSpPr>
        <p:spPr>
          <a:xfrm>
            <a:off x="4836345" y="3557016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reasoning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97433" y="40279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7433" y="4027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0" name="Text 17"/>
          <p:cNvSpPr txBox="1"/>
          <p:nvPr/>
        </p:nvSpPr>
        <p:spPr>
          <a:xfrm>
            <a:off x="4836345" y="3992880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final_answer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inside a graph – split one huge workflow into smaller, reusable pieces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509168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50916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parallel: medical_history + lab_analysis (subgraphs) + analyze_xray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57631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786628" y="1636776"/>
            <a:ext cx="86182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86628" y="1636776"/>
            <a:ext cx="861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67588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86194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86194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86584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5_6, each subgraph has its own state and nodes – e.g. lab_analysis runs load_lab_results → flag_abnormal_results → summarize_labs – and is called from one node of the main graph.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" y="3297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5" name="Image 0" descr="FaPuzzle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3375660"/>
            <a:ext cx="155448" cy="15544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96696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 each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subgraph does one well-defined job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243072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61944" y="329793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9" name="Image 1" descr="Fa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3375660"/>
            <a:ext cx="155448" cy="15544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3782568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same subgraph into other graphs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028944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147816" y="329793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3375660"/>
            <a:ext cx="155448" cy="1554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568440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to test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a piece without running everything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session_5/5_6_medical_diagnosis_subgraphs.py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Stateful Banking Chatbot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assistant grows feature by feature across these scripts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5_7  RAG + notifications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FAQs in ChromaDB; ntfy for account opening, Gmail for loans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5_8  Build a guardrail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6888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examples from a Hugging Face dataset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5_9  Guarded bot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6888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questions are blocked; an LLM explains why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em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5_10  STM + RAG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6888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short-term memory first, then the vector DB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36499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47472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IT, IN THIS ORDER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369417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5_7 builds the FAQ store that 5_9 reads: ask about opening an account (ntfy) or a loan (Gmail). Then run 5_8 and 5_9 and try an off-topic or unsafe question.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session_5/5_7_…_email_flask.py, 5_8_…_guardrails.py, 5_9_…_bank_flask.py, 5_10_…_RAG_chatbot.py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uardrails in AI ag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session_5/5_8_langgraph_create_guardrails.py, 5_9_langgraph_guardrails_bank_flask.py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Guardrails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that keep a model within limits: safe, on-topic, accurate and within policy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05128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52400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60172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505712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blocking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restricted words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405128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52400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60172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505712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length, no URLs or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405128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52400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60172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505712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topics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product questions, say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133600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25247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330196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234184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safety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similarity to harmful intent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133600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25247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om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33019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234184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guardrails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the context only"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133600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25247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Era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33019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234184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filtering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sensitive data, profanity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3014472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76072" y="313334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ScrewdriverWren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" y="3211068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96696" y="3115056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limits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search for medical queries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3243072" y="3014472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3361944" y="313334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GaugeHig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668" y="3211068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82568" y="3115056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and abuse control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Throttling, authentication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028944" y="3014472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147816" y="313334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BookO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5540" y="321106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568440" y="3115056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answers with citations</a:t>
            </a:r>
            <a:endParaRPr lang="en-US" sz="1200" dirty="0"/>
          </a:p>
        </p:txBody>
      </p:sp>
      <p:sp>
        <p:nvSpPr>
          <p:cNvPr id="40" name="Text 29"/>
          <p:cNvSpPr txBox="1"/>
          <p:nvPr/>
        </p:nvSpPr>
        <p:spPr>
          <a:xfrm>
            <a:off x="457200" y="4206240"/>
            <a:ext cx="8229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demos build a semantic guardrail from a Hugging Face dataset (5_8), then put it in front of the bank chatbot (5_9).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4" name="Text 3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session_5/5_8_langgraph_create_guardrails.py, 5_9_langgraph_guardrails_bank_flask.py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self-refining loop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→ evaluate → continue or stop, capped at 3 rounds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Command(resume=…) for expense claims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SQLite checkpointer resumes a half-done transfer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medical-diagnosis flow built from smaller graphs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bank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guardrails in front of RAG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59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is a conditional edge pointing backwards – always add an exit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needs a checkpointer to pause and resume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is how you pick which saved run to continue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state fields before writing nodes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belong on input, output and tool use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6: Multi-Agent Orchestration with CrewAI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 ·  SAT 8-NOV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role-playing agents (crews) and the event-driven flows that control them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crews from agents and tasks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goals, backstories, tools and processes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execution with Flows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@listen, @router and shared state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99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93598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with managers and humans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crews, levels of autonomy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crews reliable and observable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structured output, guardrails, LangSmith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concepts: agents, tasks, crews, process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crews for real tasks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Flow, and conditional routing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and knowledge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and agent-to-agent communication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for crews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crew application</a:t>
            </a:r>
            <a:endParaRPr lang="en-US" sz="11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CrewAI?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framework where AI agents with different roles collaborate on complex tasks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238201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aim for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Backstory: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context that sharpens them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can call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238201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14600"/>
            <a:ext cx="1604772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to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 and content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does it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"Fetch the current financial snapshot for {ticker}"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238201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14600"/>
            <a:ext cx="16047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tasks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agents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process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results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238201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readers, web search, APIs, databases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 for your domain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Basic Crew to an Advanced 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crew runs tasks in order; advanced applications also need orchestration, state and control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5788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160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00656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Data Analyst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38400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a stock snapshot with a tool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853184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160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00656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Writer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38400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it into a plain-English brief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853184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16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00656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38400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two tasks in order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029712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7200" y="3029712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1069086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1279398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1279398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1821942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2032254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32254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457200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57200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1069086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1279398" y="3450336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279398" y="3450336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446020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2656332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656332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3268218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3478530" y="345033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478530" y="345033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5458408" y="3029712"/>
            <a:ext cx="3228392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5623000" y="3139440"/>
            <a:ext cx="2899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CREWS MUST ANSWER</a:t>
            </a:r>
            <a:endParaRPr lang="en-US" sz="900" dirty="0"/>
          </a:p>
        </p:txBody>
      </p:sp>
      <p:sp>
        <p:nvSpPr>
          <p:cNvPr id="39" name="Text 34"/>
          <p:cNvSpPr txBox="1"/>
          <p:nvPr/>
        </p:nvSpPr>
        <p:spPr>
          <a:xfrm>
            <a:off x="5623000" y="3358896"/>
            <a:ext cx="2899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next? · Which agent should act? · What carries forward? · What if the result is poor? · Where should a human step in?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3" name="Text 3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ontext and memory work in Crew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session_6/6_2_crewai_document_generator.py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crews to run and adapt</a:t>
            </a:r>
            <a:endParaRPr lang="en-US" sz="135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150918"/>
                <a:gridCol w="4021282"/>
                <a:gridCol w="20574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generator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Researches a technology and writes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6_2_crewai_document_generator.py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analyser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Parses, analyses and summarises system logs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6_3_crewai_log_analyzer.py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bill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cost drivers in a GCP billing export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6_4_crewai_cloud_bill.py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data (marketaux.com key) with a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6_5_crewai_stock_analysis_flask.py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review, without and with agent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6_11 vs 6_10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crew traced in LangSmith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6_14_crewai_observability.py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service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search, then low → reply, medium → email, high → ntfy alert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6_15 (embeddings) → 6_16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 … 6_5, 6_10/6_11, 6_14, 6_15 → 6_16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= who does the work.  Flow = how the application runs.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32128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321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21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441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agents working together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collaboration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perform the tasks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multi-agent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32128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5321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5321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441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the overall application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orchestration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happens next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complex, branching workflows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33648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33648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69086" y="368909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79398" y="3533648"/>
            <a:ext cx="120853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79398" y="3533648"/>
            <a:ext cx="1208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snapshot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15362" y="368909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25674" y="3533648"/>
            <a:ext cx="1555242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25674" y="3533648"/>
            <a:ext cx="15552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on confidence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08348" y="368909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18660" y="3533648"/>
            <a:ext cx="224866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18660" y="3533648"/>
            <a:ext cx="22486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Crew analysis → Report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954272"/>
            <a:ext cx="245668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54272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→ Explain why not → Report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Building Blocks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decorators plus a shared state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40345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18069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flow begins (there can be several)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40345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EarList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18069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when another step's output arrives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40345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18069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path to take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40345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18069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update → pass forward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2988501"/>
            <a:ext cx="37664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on confidence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226245"/>
            <a:ext cx="3766457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4360" y="3335973"/>
            <a:ext cx="3492137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route_on_confidence(self):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self.state.confidence &gt;= 0.8: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"good"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"retry"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43697" y="2988501"/>
            <a:ext cx="41431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 subscribe to the route labels: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@listen("good")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@listen("retry")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can converge again with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or_(…)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hard-coded sequence – the flow decides at run time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Flow: Stock Research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 live snapshot, judge its quality, then analyse it with a crew – or explain why not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08418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6_6_crew_vs_flow.py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46162"/>
            <a:ext cx="4368800" cy="2942717"/>
          </a:xfrm>
          <a:prstGeom prst="roundRect">
            <a:avLst>
              <a:gd name="adj" fmla="val 155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55890"/>
            <a:ext cx="4094480" cy="275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ResearchState(BaseModel):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ticker: str = "AAPL"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snapshot: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= 0.0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report: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StockResearchFlow(Flow[ResearchState]):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@start()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fetch_snapshot(self): ...      # yfinance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route_on_confidence(self): ... # good | retry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@listen("retry")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handle_low_confidence(self):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@listen("good")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analyze_with_crew(self): ...   # Crew.kickoff()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@listen(or_(handle_low_confidence,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analyze_with_crew))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finalize_report(self): ...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191760" y="13510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91760" y="13510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5630672" y="1308418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model shared by every step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91760" y="190049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1760" y="19004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5630672" y="1777810"/>
            <a:ext cx="3056128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stock snapshot; confidence = share of fields present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191760" y="24498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1760" y="2449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630672" y="2407222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 → "good", otherwise "retry"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91760" y="291928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91760" y="29192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630672" y="2876614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@listen("good")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equity-analyst crew writes the take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191760" y="33886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91760" y="33886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5630672" y="3346006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or_(…)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in finalize_report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 fixed researcher → analyst → writer chain, a manager decides who does what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 flipH="1">
            <a:off x="1056277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28751" y="183794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28751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97231" y="144475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2095" y="14447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Manager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56277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28751" y="247802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2528751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9674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84538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&amp; Sentiment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02149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57013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97231" y="272491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52095" y="272491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20343" y="1444752"/>
            <a:ext cx="3766457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overall objective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work to specialists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their results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needs more work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final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ONLY WHEN NEEDED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workflow is straightforward and not agentic, a sequential crew is simpler and cheaper than a manager agent.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session_6/6_7_hierarchical_crew.py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how much the crew may do on its own</a:t>
            </a:r>
            <a:endParaRPr lang="en-US" sz="135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4517525" cy="914400"/>
        </p:xfrm>
        <a:graphic>
          <a:graphicData uri="http://schemas.openxmlformats.org/drawingml/2006/table">
            <a:tbl>
              <a:tblPr/>
              <a:tblGrid>
                <a:gridCol w="1505842"/>
                <a:gridCol w="1417263"/>
                <a:gridCol w="159442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approves each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trade recommendation (this demo)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supervises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Human-out-of-the-loop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snapshot summary in 6_1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13643" y="202996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282123" y="163677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36987" y="163677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013643" y="267004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282123" y="227685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36987" y="227685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14496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01364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282123" y="291693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987" y="291693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1344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6830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Execute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5080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0566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→ Revise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session_6/6_8_human_in_the_loop.py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Knowledge and 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know, what they remember – and how they hand results to each other reliably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4345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032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information do I need to know?" – documents given up front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059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3746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43912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I remember from earlier work?" – retrieved when needed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577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445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51048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state ≠ 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this run's temporary context; memory outlives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72495" y="163677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372495" y="163677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984381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5194693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194693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638683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848995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48995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schema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72495" y="2057400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372495" y="2057400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agent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72495" y="2532888"/>
            <a:ext cx="43143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6_12_structured_outputs.py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372495" y="2770632"/>
            <a:ext cx="4314305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09655" y="2880360"/>
            <a:ext cx="4039985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ResearchFinding(BaseModel):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company: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revenue_growth: float   # 0.12 = 12%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risk_level: str         # low | medium | high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      # 0-1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evidence: list[str]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session_6/6_9_memory_and_knowledge.py, 6_10 vs 6_11, 6_12_structured_outputs.py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fail – plan for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fail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incomplete information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wrong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invalid output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stuck in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a service that is 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guardrail checks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2010156"/>
            <a:ext cx="395478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states buy, hold or sell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gives reasoning, not one word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claimed price is near the real one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common: required fields, evidence, confidence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common: read-only SQL, allowed value ranges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59708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759708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138428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348740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48740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99310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09622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09622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0192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70504" y="3759708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70504" y="3759708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policy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session_6/6_13_guardrails_and_reliability.py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with LangSmith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agent step, prompt, tool call and token count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smith.langchain.com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947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947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048256"/>
            <a:ext cx="3305774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tracing project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→ New → market-research-crew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5270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527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55270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settings to .env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6418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64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6418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crew and open the trace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67646" y="1636776"/>
            <a:ext cx="4119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67646" y="1874520"/>
            <a:ext cx="4119154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4806" y="1984248"/>
            <a:ext cx="3844834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LANGSMITH_TRACING="true"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LANGSMITH_ENDPOINT="https://api.smith.langchain.com"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LANGSMITH_API_KEY="your api key"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LANGSMITH_PROJECT="market-research-crew"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session_6/6_14_crewai_observability.py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crew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tasks and a crew that combines their work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@router and @listen around a stock-analysis crew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agent delegating to specialists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hand-offs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outputs and guardrails between agents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plus priority-based escalation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crew is about who works; a flow is about what happens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roles, goals and expected outputs make agents dependable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manager agent only when the work really needs judgement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structured data between agents, not free text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 – multi-agent bugs are hard to see otherwise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7: Multi-Agent Systems with Microsoft AutoGen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 ·  SUN 14-NOV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cooperate by talking to each other – in teams, group chats and graphs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48971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58572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AssistantAgents with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clients, messages, streaming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07340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16941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06502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get structured, multimodal output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74853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84454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64871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agents into teams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group chats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conversation as a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with parallel branches and joins; memory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overview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and tools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messages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group chats: round-robin, selector, magentic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(including parallel join)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open-source framework for agents that cooperate – fully asynchronous since v0.4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UI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5564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51660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Studio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to prototype agents by drag and drop and watch them interact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demoing ideas or validating a workflow before coding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5564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85166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Python API for single- and multi-agent conversational apps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dialogue and turn-taking matter most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5564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851660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runtime: agents, messages, handlers at scale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agents coordinate beyond simple chats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0273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1246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3192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demo uses AgentChat (packages autogen-agentchat and autogen-ext) with an OpenAI model client – except 7_5, which uses Anthropic Claude.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session_7/7_1_autogen_basic.py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AutoGen Demos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concept per script, building up from a single agent to teams and graphs</a:t>
            </a:r>
            <a:endParaRPr lang="en-US" sz="1350" dirty="0"/>
          </a:p>
        </p:txBody>
      </p:sp>
      <p:graphicFrame>
        <p:nvGraphicFramePr>
          <p:cNvPr id="10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AssistantAgent syntax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a live forex API as a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a TextMessage instead of a plain 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agents, run one after the 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 in parallel – Claude + Yahoo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output (OpenAI models)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MultiModalMessage – text plus an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3202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Magentic-One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Fact-check: "India never faced a recession in 30 years"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 with a parallel join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session_7/7_1_* … 7_14_*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LLM-backed agent that can call Python functions as tools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7_2_autogen_forex_api.py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57600" cy="1893697"/>
          </a:xfrm>
          <a:prstGeom prst="roundRect">
            <a:avLst>
              <a:gd name="adj" fmla="val 241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383280" cy="1710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name="forex_agent",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model_client=OpenAIChatCompletionClient(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model="gpt-4o-mini"),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tools=[get_forex_rate],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Console(agent.run_stream(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task="What is the current forex rate of USD to INR?"))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850" dirty="0"/>
          </a:p>
        </p:txBody>
      </p:sp>
      <p:graphicFrame>
        <p:nvGraphicFramePr>
          <p:cNvPr id="10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636776"/>
          <a:ext cx="4206240" cy="914400"/>
        </p:xfrm>
        <a:graphic>
          <a:graphicData uri="http://schemas.openxmlformats.org/drawingml/2006/table">
            <a:tbl>
              <a:tblPr/>
              <a:tblGrid>
                <a:gridCol w="1602377"/>
                <a:gridCol w="2603863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agent among many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backend that powers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functions – converted to FunctionTools with a schema automatically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system_message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Role, tone and 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reflect_on_tool_use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 self-check after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model_client_stream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tokens as they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session_7/7_2_autogen_forex_api.py, 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TextMessage Travels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 to the model and back, wrapped in message objects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TextMessage(content=…, source="User")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In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agent.run_stream(task=text_message.content)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ight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to_model_message() – automatic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client generates a reply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TextMessage(content="1 USD = 83.12 INR", source="forex_agent")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924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5021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BOTHER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72160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objects carry who sent what – essential once several agents are talking in the same conversation.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idea again, now with AutoGen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finishes before the next starts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later steps need earlier outputs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reason about; slower on I/O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840736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950464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= await desc_agent.on_messages([...])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 = await context_agent.on_messages([...])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agents run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tasks don't depend on each other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Faster; shared state is harder to manage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840736"/>
            <a:ext cx="3749040" cy="912114"/>
          </a:xfrm>
          <a:prstGeom prst="roundRect">
            <a:avLst>
              <a:gd name="adj" fmla="val 501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950464"/>
            <a:ext cx="347472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stock_task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stock_return_agent.on_messages(...))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index_task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index_return_agent.on_messages(...))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asyncio.gather(stock_task, index_task)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session_7/7_4_autogen_synchronous_agents.py, 7_5_autogen_asynchronous_agents.py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return JSON that matches a schema, ready for the next step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job postings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description text (Kaggle LinkedIn jobs)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each description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Table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company_name, role, location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easy to parse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2400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supported with OpenAI models. The schema guarantees the downstream code always gets the same keys.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session_7/7_6_autogen_structured_output.py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Agents Talking to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speaks next is what distinguishes the team types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S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16047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take turns in a fixed order; everyone sees everything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primary and critic refine a text until the critic says STOP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HandPo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picks the next speaker after each 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Reviewer, Coder and Tester – whoever is needed next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Magentic-One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general-purpose team for open-ended tasks over web and files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extract, summarise, analyse and review a PDF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Right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 off control with HandoffMessage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DataCollector passes results to a DataAnalyzer (no demo)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session_7/7_8_…_round_robin_group_chat.py, 7_9_…_selector_….py, 7_10_…_magentic_….py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GraphFlow: Conversations as a Directed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LangGraph, for AutoGen teams – sequential, parallel and conditional paths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336053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agents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the allowed transitions, optionally conditional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37591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45821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joins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to parallel agents, then join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1541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FlagChecke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99770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2883408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termination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turns, a stop signal, or graph completion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454908"/>
            <a:ext cx="329184" cy="329184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353720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688" y="3422904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experimental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API changes; design termination carefully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658980" y="1636776"/>
            <a:ext cx="4027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7_13: two editors in parallel, one reviewer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58980" y="1874520"/>
            <a:ext cx="4027820" cy="1511554"/>
          </a:xfrm>
          <a:prstGeom prst="roundRect">
            <a:avLst>
              <a:gd name="adj" fmla="val 302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796140" y="1984248"/>
            <a:ext cx="3753500" cy="1328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 = DiGraphBuilder()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builder.add_node(writer).add_node(editor1) \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.add_node(editor2).add_node(final_reviewer)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"editor1")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"editor2")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builder.add_edge("editor1",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builder.add_edge("editor2",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= GraphFlow(participants=builder.get_participants(),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graph=builder.build())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session_7/7_12_autogen_graphflow.py, 7_13_autogen_graphflow_parallel_join.py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AutoGen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facts and inject the relevant ones into the agent's context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7_14_autogen_memory.py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744686" cy="1893697"/>
          </a:xfrm>
          <a:prstGeom prst="roundRect">
            <a:avLst>
              <a:gd name="adj" fmla="val 241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470366" cy="1710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user_memory = ListMemory()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assistant_agent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name="multilingual_assistant",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model_client=client,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memory=[user_memory],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preferred_language = input("...preferred language...")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user_memory.add(MemoryContent(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content=f"The user prefers replies in {preferred_language}.",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mime_type=MemoryMimeType.TEXT))</a:t>
            </a:r>
            <a:endParaRPr lang="en-US" sz="85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7646" y="1636776"/>
          <a:ext cx="4119154" cy="914400"/>
        </p:xfrm>
        <a:graphic>
          <a:graphicData uri="http://schemas.openxmlformats.org/drawingml/2006/table">
            <a:tbl>
              <a:tblPr/>
              <a:tblGrid>
                <a:gridCol w="1441704"/>
                <a:gridCol w="267745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relevant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update_context()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them into the agent's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close()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fresh / release resources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chronological list – demos, small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in a vector DB – RAG-style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session_7/7_14_autogen_memory.py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tool-using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calling a live forex 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and Yahoo Finance agents run concurrently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7_6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postings → JSON via a Pydantic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teams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editors joined by a final reviewer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models collaboration as conversation between agents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async – use it to run independent agents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type = the rule for who speaks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brings explicit, graph-shaped control to teams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just context the framework injects for you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8: Agentic RAG and GraphRAG for Agents</a:t>
            </a:r>
            <a:endParaRPr lang="en-US" sz="1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 ·  SAT 15-NOV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simple retrieve-then-generate is not enough: smarter retrieval, self-checking, graphs – and how to measure it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TriangleExcla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why RAG fails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retrieval, noise, hallucination, fragmentation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an agent drive retrieval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strategies, Self-RAG, corrective RAG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Ranking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what reaches the LLM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keyword + semantic search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CircleNod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facts and measure quality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GraphRAG, multi-hop reasoning, RAGAS metrics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failure modes and advanced approaches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retrieved chunks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11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RAG Fails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failure modes to recognise before reaching for a fix</a:t>
            </a:r>
            <a:endParaRPr lang="en-US" sz="1350" dirty="0"/>
          </a:p>
        </p:txBody>
      </p:sp>
      <p:graphicFrame>
        <p:nvGraphicFramePr>
          <p:cNvPr id="1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403873"/>
                <a:gridCol w="2226833"/>
                <a:gridCol w="2275242"/>
                <a:gridCol w="2323652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causes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in the knowledge base but isn't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query wording, weak embeddings, top-k too 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has the ATM withdrawal limit; unrelated card-security chunks come back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 chunks aren't relevant enough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retrieval precision, too much top-k, no reranking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question; shipping and warranty chunks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states facts the context doesn't support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information, model assumptions, overconfidence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Context: refunds in 5 business days. LLM: "…and you'll receive an email confirmation"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in the middle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chunk is retrieved but buried among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context, poor ordering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key clause sits at position 7 of 10 and is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split across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fixed-size chunking, no overlap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rule and its exception land in different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Advanced-RAG Toolbox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techniques, each aimed at a specific weakness – this session demos most of them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51638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9410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decides what, how and when to retrieve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51638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9410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its draft answer; regenerates if unsupported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51638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59410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web search when local fails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51638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Ranking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59410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model re-orders the chunks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5496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62737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hypothetical answer, search with it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54965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Cl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62737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rewrites of the question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54965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CircleNod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62737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as a graph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54965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Shuff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62737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keyword and vector search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8292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tai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6064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several facts to one answer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8292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Brai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6064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decide on retrieved facts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8292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GaugeHig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6064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and answer quality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8292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ShieldHalve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6064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 by context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pipeline vs an agent that plans its retrieval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retrieval pipeline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once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planning; follows a predefined sequence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straightforward Q&amp;A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Intelligent, dynamic workflow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as many times as needed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reasoning steps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then chooses the best path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agent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complex problem solving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session_8/8_3_…_vs_agentic_rag.py, 8_4_…_serp.py, 8_5_…_traditional_rag.py vs 8_6_…_agentic_rag.py</a:t>
            </a:r>
            <a:endParaRPr lang="en-US" sz="8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aditional RAG vs agentic RAG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session_8/8_3_traditional_vs_agentic_rag.py (FAQ index from 8_2_support_ticketing_agent_hitl.py)</a:t>
            </a:r>
            <a:endParaRPr lang="en-US" sz="8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Retrieval Strategies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system picks how to retrieve – including not retrieving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orwardFa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 when existing knowledge is enough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once for simple factual questions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more when the first pass isn't enough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65176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PenTo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72948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reformulation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question for better search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65176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729484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FAQ knowledge base, web search and a calculator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65176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ScrewdriverWrenc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729484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Tool-based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tool for the request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session_8/8_7_adaptive_retrieval_strategies.py, 8_8_adaptive_retrieval_strategies_serp.py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supplies the facts; reasoning uses them to solve the user's problem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016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113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308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 My salary is ₹18 lakh a year, I already have a car loan, and my credit score is 760."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finds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eligibility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interest rates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and existing loans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Credit-score rules, RBI lending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does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the debt-to-income ratio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credit-score eligibility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the policy rules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the maximum amount and suitable options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session_8/8_9_loan_eligibility_rag_reasoning.py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Cohere RAG Pipeline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Embed, rerank and generate – with grounding built into the chat endpoint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embed()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1536-dim vectors (embed-v4.0)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anking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FAQs → the top 3 for the query (rerank-v3.5)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the reranked FAQs passed as documents=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get my money back for an order?" – reranking correctly surfaces the three refund FAQs. Cohere's chat endpoint grounds the answer itself; with OpenAI you build that prompt yourself.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session_8/8_10_cohere_rag_pipeline.py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Self-RAG: Don't Trust the First Draft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draft → critique the draft → regenerate if needed → answer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after 3 years? Can I switch insurer?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from the insurance policy KB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answer from those chunks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ScaleBalanc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backed? Question fully answered?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4" descr="FaRotateRigh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grounding or a follow-up retrieval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3166872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947416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not supported → regenerate, at most 2 more times</a:t>
            </a:r>
            <a:endParaRPr lang="en-US" sz="95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3678936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catches what grading documents cannot: the chunks were relevant, but the answer still overreached beyond them.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session_8/8_11_self_rag.py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local knowledge fails, fall back to the web instead of guessing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572547" y="161848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886747" y="1225296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41611" y="1225296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72547" y="2368296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86747" y="1975104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41611" y="1975104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vector DB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070876" y="3118104"/>
            <a:ext cx="1501672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72547" y="3118104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72547" y="3118104"/>
            <a:ext cx="1501672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682275" y="3145536"/>
            <a:ext cx="20056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are relevant?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86747" y="27249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41611" y="272491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documents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70876" y="3867912"/>
            <a:ext cx="1501672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572547" y="3867912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572547" y="3867912"/>
            <a:ext cx="1501672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" y="3474720"/>
            <a:ext cx="1227352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" y="3474720"/>
            <a:ext cx="111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All: KB only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958872" y="3474720"/>
            <a:ext cx="1227352" cy="365760"/>
          </a:xfrm>
          <a:prstGeom prst="roundRect">
            <a:avLst>
              <a:gd name="adj" fmla="val 15000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013736" y="3474720"/>
            <a:ext cx="111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Some: KB + web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60543" y="3474720"/>
            <a:ext cx="1227352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15407" y="3474720"/>
            <a:ext cx="111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None: web only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86747" y="4224528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41611" y="42245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answer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07935" y="1225296"/>
            <a:ext cx="3678865" cy="143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answers from whatever it retrieved – even the wrong thing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CRAG grades the retrieved chunks first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relevant: refine them, then add a web search. None: rewrite the query and use the web only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comes from the best evidence available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07935" y="2819908"/>
            <a:ext cx="3678865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72527" y="2929636"/>
            <a:ext cx="33496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VS CRAG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72527" y="3149092"/>
            <a:ext cx="334968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grades the generated answer; CRAG grades the retrieved documents and can change source.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session_8/8_12_corrective_rag.py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Retrieved Chunks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similar chunk is not always the most relevant one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16964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16964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69086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79398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79398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6020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56332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6332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chunks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954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33266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33266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53178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63490" y="161696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63490" y="161696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3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44718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55030" y="161696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55030" y="161696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graphicFrame>
        <p:nvGraphicFramePr>
          <p:cNvPr id="1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66772"/>
          <a:ext cx="8229600" cy="914400"/>
        </p:xfrm>
        <a:graphic>
          <a:graphicData uri="http://schemas.openxmlformats.org/drawingml/2006/table">
            <a:tbl>
              <a:tblPr/>
              <a:tblGrid>
                <a:gridCol w="5108028"/>
                <a:gridCol w="1560786"/>
                <a:gridCol w="1560786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"Documents for a cashless health insurance claim?" (illustrative scores)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Reranked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– Submit the claim form, original bills and discharge 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– Premiums must be paid within the grace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– Required documents include prescription and diagnostic 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reads the query and each chunk together. B was only "about health insurance"; A and C go to the LLM.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session_8/8_13_cohere_reranking.py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methods so each one covers the other's blind spot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embeddings (8_14)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words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"SIP investment plan"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2603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2603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319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319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money away for old age"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37636"/>
            <a:ext cx="39547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combine: a weighted average, or Reciprocal Rank Fusion.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dense vectors (8_15)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32020" y="2010156"/>
            <a:ext cx="3954780" cy="111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Favours BM25: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"What is the IRDAI mandated claim settlement timeline…?" – an exact acronym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Favours vectors: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"If my mom already had a health condition…" – avoids the policy's own wording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lifts a document ranked highly by either retriever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session_8/8_14_hybrid_search.py, 8_15_agentic_hybrid_search.py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GraphRAG: Connecting Facts Across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 and relationships into a knowledge graph instead of treating chunks as isolated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94866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I switch insurer through portability, do I keep credit for the waiting period already completed?"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5138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5138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02586"/>
            <a:ext cx="3850455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once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pulls (subject, relation, object) triples from the policy chunks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2209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0220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990850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graph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triples become a networkx graph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5033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50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419094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entities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what the question mentions to graph nodes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7858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8785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847338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outward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every connected fact in one traversal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112327" y="1594866"/>
            <a:ext cx="35744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triple as a graph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99564" y="262813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7009292" y="2655570"/>
            <a:ext cx="1677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processed_by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39444" y="2234946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94308" y="223494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Cashless Claim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39444" y="2984754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94308" y="2984754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session_8/8_16_graph_rag.py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several facts to reach an answer no single chunk contains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8092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9065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61010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"I'm on a Family Floater Gold plan and intimated the insurer 20 hours after an emergency admission. Will a cashless claim be accepted, who processes it, and how long will settlement take?"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11580" y="232410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24612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3776" y="2945892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93776" y="3183636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for the current query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805940" y="2598420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268980" y="2324100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24612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551176" y="2945892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551176" y="3183636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still missing?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863340" y="2598420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326380" y="232410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246126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608576" y="2945892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next_hop_query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608576" y="3183636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search for the missing fact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920740" y="2598420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7383780" y="232410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3" descr="FaRep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246126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665976" y="2945892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665976" y="3183636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everything collected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 flipH="1">
            <a:off x="1485900" y="3854196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1485900" y="3634740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4 hops</a:t>
            </a:r>
            <a:endParaRPr lang="en-US" sz="95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4147566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compares this with a single search (k=3). Unlike GraphRAG, it chains facts with repeated vector searches and no stored graph.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session_8/8_17_multi_hop_reasoning.py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Assessment – scores retrieval and generation, no manual labelling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make things up?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must be backed by the context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answer the question that was asked?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most of what we retrieved actually useful?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everything the answer needed?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AGAS evaluation of a RAG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138" y="164592"/>
            <a:ext cx="7863723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Metrics, Worked Through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cashless-claim question, scored four ways (illustrative numbers – run the demos for real scores)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0.67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37816"/>
            <a:ext cx="1604772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makes 3 claims; the context backs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"Intimate within </a:t>
            </a:r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hours" – the context says 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2 / 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0.95 vs 0.30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337816"/>
            <a:ext cx="16047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guessed back from the answer and compared with the original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On-topic answer → 0.95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about waiting periods → 0.30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0.60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337816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chunks retrieved: 3 useful, 2 not (grace period, waiting period)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5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0.75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needed; the TPA's role in settlement was never retrieved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agentic RAG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through both pipelines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8_11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and CRAG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answer or the documents; regenerate or use the web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search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 reranker; keyword + semantic with rank fusion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958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1958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683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and multi-hop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152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insurance-policy knowledge graph; chained searches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816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8816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8541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evaluation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1010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metrics on an insurance Q&amp;A system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choosing a fix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decides when, what and how often to retrieve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– similar is not the same as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answer questions that span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RAGAS before and after every change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9: Deep Agents – Reflection, Planning and Long-Term Memory</a:t>
            </a:r>
            <a:endParaRPr lang="en-US" sz="12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 ·  SUN 21-NOV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check their own work, plan and re-plan, remember, and get better from their mistakes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MagnifyingGlass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self-reflection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until a quality bar is met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execute and re-plan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that change when new facts arrive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Mem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long-term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episodic, semantic and procedural – plus consolidation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it all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management, self-improvement, one unified architecture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8217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10912" y="223404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44684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 loops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010912" y="248592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396559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 with a quality threshold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010912" y="273779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648435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010912" y="298967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2900311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10912" y="324154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152186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 types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10912" y="349342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404062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5010912" y="374529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655937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10912" y="399717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3907813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010912" y="424905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159689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010912" y="450092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212080" y="4411564"/>
            <a:ext cx="3291840" cy="25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architecture: reflection + planning + memory</a:t>
            </a:r>
            <a:endParaRPr lang="en-US" sz="105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just produce an answer – it evaluates its own process and adapts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5961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9974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10056" y="186061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0056" y="186061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83258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9357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357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3611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646426" y="186061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46426" y="186061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5643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agent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9974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10056" y="2851086"/>
            <a:ext cx="162458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10056" y="2851086"/>
            <a:ext cx="1624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task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207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72384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72384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1492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25240" y="2851086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25240" y="2851086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844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08754" y="285108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08754" y="285108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25932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69636" y="285108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69636" y="285108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8954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99860" y="2851086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99860" y="2851086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strategy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805166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15478" y="285108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5478" y="285108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reasoning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solve this?"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66344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0060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Meta-cognition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80060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my way of solving this working?"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Self-Reflection: Generate → Critique → Revise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customer-facing outage update"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customer message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9631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it against a checklist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revised_answer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9631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using the critique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087624"/>
            <a:ext cx="3954780" cy="87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for non-technical users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 without blaming individuals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impact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about next steps and prevention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32020" y="3087624"/>
            <a:ext cx="395478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896612" y="3197352"/>
            <a:ext cx="36255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4896612" y="3416808"/>
            <a:ext cx="36255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returns all three as JSON. The next demo loops until a score is high enough.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session_9/9_1_openai_agent_pattern_reflection.py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meal plan: iterate until a quality threshold is met – with an upper limit on rounds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771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487424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87424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score &lt; 9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93141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41726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726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95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33266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33266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score ≥ 9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772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87568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87568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86584"/>
            <a:ext cx="2657856" cy="737616"/>
          </a:xfrm>
          <a:prstGeom prst="roundRect">
            <a:avLst>
              <a:gd name="adj" fmla="val 743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0" name="Image 0" descr="Fa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583180"/>
            <a:ext cx="155448" cy="15544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96696" y="2487168"/>
            <a:ext cx="1999488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arithmetic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computes the targets and sums the plan's totals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243072" y="2386584"/>
            <a:ext cx="2657856" cy="737616"/>
          </a:xfrm>
          <a:prstGeom prst="roundRect">
            <a:avLst>
              <a:gd name="adj" fmla="val 743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61944" y="250545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4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2583180"/>
            <a:ext cx="155448" cy="15544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782568" y="2487168"/>
            <a:ext cx="1999488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critique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grades using those totals, not its own opinion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28944" y="2386584"/>
            <a:ext cx="2657856" cy="737616"/>
          </a:xfrm>
          <a:prstGeom prst="roundRect">
            <a:avLst>
              <a:gd name="adj" fmla="val 743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816" y="250545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8" name="Image 2" descr="FaS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2583180"/>
            <a:ext cx="155448" cy="1554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568440" y="2487168"/>
            <a:ext cx="1999488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rule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9+ or 4 iterations, whichever comes first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457200" y="3563112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a Streamlit app: </a:t>
            </a:r>
            <a:pPr algn="l"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9_2_meal_plan_reflection.py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session_9/9_2_meal_plan_reflection.py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Plan-and-Execute, Revisited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decides what to do (strategy); execution does it (action)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25-module curriculum PDF into a 4-week study plan for a working professional.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4757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757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44496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extract_curriculum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PDF text into the task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0398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9039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72740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plan_step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a full ordered plan up front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3222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3322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300984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execute_step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one step at a time, e.g. "draft week 1"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76047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604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729228"/>
            <a:ext cx="3850455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replan_step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Shorten, extend or reorder what remains, or finish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12327" y="164515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8339" y="1741170"/>
            <a:ext cx="192024" cy="19202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642679" y="1636776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numbered plan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112327" y="227990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1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339" y="2375916"/>
            <a:ext cx="192024" cy="19202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642679" y="2183892"/>
            <a:ext cx="304412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LLM call – no tools are needed here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112327" y="2914650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4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39" y="3010662"/>
            <a:ext cx="192024" cy="19202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642679" y="2906268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Re-examines the plan after every step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session_9/9_3_study_plan_plan_execute.py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plan when new information arrives – during execution the agent may discover that…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resource is unavailable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PlugCircleXm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fails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contradict an assumption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5564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33372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information changes things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48716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564892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is already done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48716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nk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56489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dependency is missing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48716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HourglassHal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56489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 is too slow or costly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48716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FileMedi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56489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pathology report changes the plan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session_9/9_4_pathology_report_replanning.py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context, remember preferences, recall past work – and stop asking the same questions</a:t>
            </a:r>
            <a:endParaRPr lang="en-US" sz="135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954530"/>
                <a:gridCol w="2263140"/>
                <a:gridCol w="1440180"/>
                <a:gridCol w="257175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(working)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conversation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 /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chat 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user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Preferences,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outside the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ChromaDB, SQL, Redis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and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"Python is your preferred language"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support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procedures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deploy an 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session_9/9_5_agent_memory_short_term_langgraph.py → 9_6, 9_7, 9_8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Demos, in Order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memory capability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9_5_agent_memory_short_term_langgraph.py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ID from the user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9_6_agent_memory_dynamic_session_id_langgraph.py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user ID becomes the session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→ long-term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9_7_…_short_to_long_term_langgraph.py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9_8_…_short_to_external_sqlite_langgraph.py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long-term types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9_9_…_semantic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9_10_…_procedural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9_12_…_episodic_langgraph.py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session_9/9_5 → 9_12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Memory: Three Kinds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= experiences.  Semantic = knowledge.  Procedural = skills.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lockRotate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discussed Project X last Tuesday."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"Project X uses PostgreSQL."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DO IT?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"Deploy Project X using this procedure."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session_9/9_9_agent_memory_semantic_langgraph.py, 9_10_agent_memory_procedural_langgraph.py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in Practice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specific past episodes outside the model and recall them when a similar case arrives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past support tickets, one text blob each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2 most similar episodes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these similar PAST resolved cases"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Rep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past resolutions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4" descr="FaFloppyDis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this Q and A as a new episode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2400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episode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57200" y="3477768"/>
            <a:ext cx="8229600" cy="380111"/>
          </a:xfrm>
          <a:prstGeom prst="roundRect">
            <a:avLst>
              <a:gd name="adj" fmla="val 120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587496"/>
            <a:ext cx="7955280" cy="197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"Customer asked: Why was my payment declined? | Resolution: ..."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session_9/9_11_episodic_memory_store.py, 9_12_agent_memory_episodic_langgraph.py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and compress old episodes before they pile up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consolidation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→ episode 1 … day 100 → episode 100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redundant, expensive to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reason over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consolidation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patterns across episodes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each group with one dense summary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summaries into the vector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9376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389376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episodes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5796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26108" y="3389376"/>
            <a:ext cx="474497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26108" y="3389376"/>
            <a:ext cx="47449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patterns: 2FA issue · card declined · subscription cancellation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98514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608826" y="3389376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826" y="3389376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summaries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session_9/9_13_memory_consolidation.py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right information forward – and keep it within the context window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49504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16-message support chat, trimmed five ways: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4444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44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4449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0 states order #ORD-88213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81025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10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1025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later messages bury 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7601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76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7601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follow-up asks for that order number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41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41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54177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 is expected to lose it</a:t>
            </a:r>
            <a:endParaRPr lang="en-US" sz="11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000" y="1636776"/>
          <a:ext cx="4368800" cy="914400"/>
        </p:xfrm>
        <a:graphic>
          <a:graphicData uri="http://schemas.openxmlformats.org/drawingml/2006/table">
            <a:tbl>
              <a:tblPr/>
              <a:tblGrid>
                <a:gridCol w="1248229"/>
                <a:gridCol w="2028371"/>
                <a:gridCol w="10922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Trimming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only the latest N 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older turns with a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retrieval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back only relevant memories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the oldest content at a token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keep critical facts, drop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session_9/9_14_context_management_strategies.py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corrected facts from mistakes – good answers leave no trace, mistakes leave a lesson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recall_lessons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past lessons relevant to this query?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ep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guided by recalled lessons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judge grades against the real policy; 7+ only for the specific correct fact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loppyDis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maybe_store_lesson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score &lt; 7: store the corrected fact, not the bad answer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3924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semantic memory (facts), not episodic: who asked and when are stripped away.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session_9/9_15_self_improving_agent.py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Deep-Agent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informs planning → planning guides execution → reflection evaluates it → replanning adapts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I do?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rson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act?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MagnifyingGlass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working?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change?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repeats as the agent works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assistant (Whisper + LangChain memory + GPT + TTS) that recalls facts across turns. It shows the memory part; putting all five stages together is your exercise.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session_9/9_16_personal_memory_assistant.py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and Course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 – and across the course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loops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to a quality bar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that changes when a report says so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tickets recalled and consolidated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9_15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stored only when the agent was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journey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agents → LangChain → LangGraph → crews and teams → agentic RAG → deep agents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42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 evaluate how they are doing, not just what to do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needs a rubric and a stopping rule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up front for long tasks; replan when facts change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memory type by what must be remembered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context deliberately – the window is a budget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Keep building – the code is at github.com/atulkahatecdac/agenticai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144</Slides>
  <Notes>144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144</vt:i4>
      </vt:variant>
    </vt:vector>
  </HeadingPairs>
  <TitlesOfParts>
    <vt:vector size="1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– Agentic AI</dc:title>
  <dc:subject>PptxGenJS Presentation</dc:subject>
  <dc:creator>Atul Kahate</dc:creator>
  <cp:lastModifiedBy>Atul Kahate</cp:lastModifiedBy>
  <cp:revision>1</cp:revision>
  <dcterms:created xsi:type="dcterms:W3CDTF">2026-10-30T11:06:49Z</dcterms:created>
  <dcterms:modified xsi:type="dcterms:W3CDTF">2026-10-30T11:06:49Z</dcterms:modified>
</cp:coreProperties>
</file>