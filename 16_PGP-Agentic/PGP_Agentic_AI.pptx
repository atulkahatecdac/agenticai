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</p:sldIdLst>
  <p:notesMasterIdLst>
    <p:notesMasterId r:id="rId14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8a8a575-1278-01f3-8cfc-e0e1951d48ab}">
          <p14:sldIdLst>
            <p14:sldId id="256"/>
            <p14:sldId id="257"/>
          </p14:sldIdLst>
        </p14:section>
        <p14:section name="Session 1 – Agentic AI Foundations" id="{d9948bf6-8e78-4f4f-fe69-f476349262d2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Session 2 – LangChain Core" id="{105b7ec9-ab28-dcb6-7a5e-69c8344db018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  <p14:section name="Session 3 – LangChain Agents and Tools" id="{318c2e67-962d-0690-f5fb-f2ed2456c4d8}">
          <p14:sldIdLst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</p14:sldIdLst>
        </p14:section>
        <p14:section name="Session 4 – LangGraph Workflows" id="{251c8e0f-955b-9015-1e4e-2ff79e6d719f}">
          <p14:sldIdLst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</p14:sldIdLst>
        </p14:section>
        <p14:section name="Session 5 – LangGraph Cycles, HITL, Persistence" id="{5abab10e-7a06-caba-3648-06fde79c5547}">
          <p14:sldIdLst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</p14:sldIdLst>
        </p14:section>
        <p14:section name="Session 6 – CrewAI" id="{425386b5-920b-3dfb-3319-98e0d01d9a3f}">
          <p14:sldIdLst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</p14:sldIdLst>
        </p14:section>
        <p14:section name="Session 7 – AutoGen" id="{26c1b42f-cf9d-fd63-8b76-2d106033d780}">
          <p14:sldIdLst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</p14:sldIdLst>
        </p14:section>
        <p14:section name="Session 8 – Agentic RAG and GraphRAG" id="{f0dda00a-4fd0-3e71-3a7d-d0b6849d3136}">
          <p14:sldIdLst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</p14:sldIdLst>
        </p14:section>
        <p14:section name="Session 9 – Deep Agents" id="{bea69054-1bd3-dbf3-9af8-425da5b23196}">
          <p14:sldIdLst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notesMaster" Target="notesMasters/notesMaster1.xml"/><Relationship Id="rId147" Type="http://schemas.openxmlformats.org/officeDocument/2006/relationships/presProps" Target="presProps.xml"/><Relationship Id="rId148" Type="http://schemas.openxmlformats.org/officeDocument/2006/relationships/viewProps" Target="viewProps.xml"/><Relationship Id="rId149" Type="http://schemas.openxmlformats.org/officeDocument/2006/relationships/theme" Target="theme/theme1.xml"/><Relationship Id="rId1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OPEN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6" Type="http://schemas.openxmlformats.org/officeDocument/2006/relationships/image" Target="../media/image-46-6.png"/><Relationship Id="rId7" Type="http://schemas.openxmlformats.org/officeDocument/2006/relationships/image" Target="../media/image-46-7.png"/><Relationship Id="rId8" Type="http://schemas.openxmlformats.org/officeDocument/2006/relationships/image" Target="../media/image-46-8.png"/><Relationship Id="rId9" Type="http://schemas.openxmlformats.org/officeDocument/2006/relationships/image" Target="../media/image-46-9.png"/><Relationship Id="rId10" Type="http://schemas.openxmlformats.org/officeDocument/2006/relationships/image" Target="../media/image-46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image" Target="../media/image-5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image" Target="../media/image-56-4.png"/><Relationship Id="rId5" Type="http://schemas.openxmlformats.org/officeDocument/2006/relationships/image" Target="../media/image-5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image" Target="../media/image-6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image" Target="../media/image-6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image" Target="../media/image-6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image" Target="../media/image-6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image" Target="../media/image-66-3.png"/><Relationship Id="rId4" Type="http://schemas.openxmlformats.org/officeDocument/2006/relationships/image" Target="../media/image-6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image" Target="../media/image-68-3.png"/><Relationship Id="rId4" Type="http://schemas.openxmlformats.org/officeDocument/2006/relationships/image" Target="../media/image-6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image" Target="../media/image-7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image" Target="../media/image-7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image" Target="../media/image-7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png"/><Relationship Id="rId3" Type="http://schemas.openxmlformats.org/officeDocument/2006/relationships/image" Target="../media/image-7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image" Target="../media/image-79-3.png"/><Relationship Id="rId4" Type="http://schemas.openxmlformats.org/officeDocument/2006/relationships/image" Target="../media/image-79-4.png"/><Relationship Id="rId5" Type="http://schemas.openxmlformats.org/officeDocument/2006/relationships/image" Target="../media/image-79-5.png"/><Relationship Id="rId6" Type="http://schemas.openxmlformats.org/officeDocument/2006/relationships/image" Target="../media/image-7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png"/><Relationship Id="rId3" Type="http://schemas.openxmlformats.org/officeDocument/2006/relationships/image" Target="../media/image-80-3.png"/><Relationship Id="rId4" Type="http://schemas.openxmlformats.org/officeDocument/2006/relationships/image" Target="../media/image-8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image" Target="../media/image-8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png"/><Relationship Id="rId3" Type="http://schemas.openxmlformats.org/officeDocument/2006/relationships/image" Target="../media/image-83-3.png"/><Relationship Id="rId4" Type="http://schemas.openxmlformats.org/officeDocument/2006/relationships/image" Target="../media/image-8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image" Target="../media/image-85-2.png"/><Relationship Id="rId3" Type="http://schemas.openxmlformats.org/officeDocument/2006/relationships/image" Target="../media/image-85-3.png"/><Relationship Id="rId4" Type="http://schemas.openxmlformats.org/officeDocument/2006/relationships/image" Target="../media/image-85-4.png"/><Relationship Id="rId5" Type="http://schemas.openxmlformats.org/officeDocument/2006/relationships/image" Target="../media/image-85-5.png"/><Relationship Id="rId6" Type="http://schemas.openxmlformats.org/officeDocument/2006/relationships/image" Target="../media/image-85-6.png"/><Relationship Id="rId7" Type="http://schemas.openxmlformats.org/officeDocument/2006/relationships/image" Target="../media/image-85-7.png"/><Relationship Id="rId8" Type="http://schemas.openxmlformats.org/officeDocument/2006/relationships/image" Target="../media/image-85-8.png"/><Relationship Id="rId9" Type="http://schemas.openxmlformats.org/officeDocument/2006/relationships/image" Target="../media/image-8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image" Target="../media/image-87-2.png"/><Relationship Id="rId3" Type="http://schemas.openxmlformats.org/officeDocument/2006/relationships/image" Target="../media/image-87-3.png"/><Relationship Id="rId4" Type="http://schemas.openxmlformats.org/officeDocument/2006/relationships/image" Target="../media/image-8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png"/><Relationship Id="rId3" Type="http://schemas.openxmlformats.org/officeDocument/2006/relationships/image" Target="../media/image-88-3.png"/><Relationship Id="rId4" Type="http://schemas.openxmlformats.org/officeDocument/2006/relationships/image" Target="../media/image-8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image" Target="../media/image-89-2.png"/><Relationship Id="rId3" Type="http://schemas.openxmlformats.org/officeDocument/2006/relationships/image" Target="../media/image-8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image" Target="../media/image-93-2.png"/><Relationship Id="rId3" Type="http://schemas.openxmlformats.org/officeDocument/2006/relationships/image" Target="../media/image-93-3.png"/><Relationship Id="rId4" Type="http://schemas.openxmlformats.org/officeDocument/2006/relationships/image" Target="../media/image-9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image" Target="../media/image-97-2.png"/><Relationship Id="rId3" Type="http://schemas.openxmlformats.org/officeDocument/2006/relationships/image" Target="../media/image-9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image" Target="../media/image-101-2.png"/><Relationship Id="rId3" Type="http://schemas.openxmlformats.org/officeDocument/2006/relationships/image" Target="../media/image-101-3.png"/><Relationship Id="rId4" Type="http://schemas.openxmlformats.org/officeDocument/2006/relationships/image" Target="../media/image-10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image" Target="../media/image-102-2.png"/><Relationship Id="rId3" Type="http://schemas.openxmlformats.org/officeDocument/2006/relationships/image" Target="../media/image-10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image" Target="../media/image-105-2.png"/><Relationship Id="rId3" Type="http://schemas.openxmlformats.org/officeDocument/2006/relationships/image" Target="../media/image-105-3.png"/><Relationship Id="rId4" Type="http://schemas.openxmlformats.org/officeDocument/2006/relationships/image" Target="../media/image-105-4.png"/><Relationship Id="rId5" Type="http://schemas.openxmlformats.org/officeDocument/2006/relationships/image" Target="../media/image-10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image" Target="../media/image-107-2.png"/><Relationship Id="rId3" Type="http://schemas.openxmlformats.org/officeDocument/2006/relationships/image" Target="../media/image-107-3.png"/><Relationship Id="rId4" Type="http://schemas.openxmlformats.org/officeDocument/2006/relationships/image" Target="../media/image-10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image" Target="../media/image-108-2.png"/><Relationship Id="rId3" Type="http://schemas.openxmlformats.org/officeDocument/2006/relationships/image" Target="../media/image-108-3.png"/><Relationship Id="rId4" Type="http://schemas.openxmlformats.org/officeDocument/2006/relationships/image" Target="../media/image-10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image" Target="../media/image-109-2.png"/><Relationship Id="rId3" Type="http://schemas.openxmlformats.org/officeDocument/2006/relationships/image" Target="../media/image-109-3.png"/><Relationship Id="rId4" Type="http://schemas.openxmlformats.org/officeDocument/2006/relationships/image" Target="../media/image-10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image" Target="../media/image-112-2.png"/><Relationship Id="rId3" Type="http://schemas.openxmlformats.org/officeDocument/2006/relationships/image" Target="../media/image-112-3.png"/><Relationship Id="rId4" Type="http://schemas.openxmlformats.org/officeDocument/2006/relationships/image" Target="../media/image-1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png"/><Relationship Id="rId2" Type="http://schemas.openxmlformats.org/officeDocument/2006/relationships/image" Target="../media/image-114-2.png"/><Relationship Id="rId3" Type="http://schemas.openxmlformats.org/officeDocument/2006/relationships/image" Target="../media/image-114-3.png"/><Relationship Id="rId4" Type="http://schemas.openxmlformats.org/officeDocument/2006/relationships/image" Target="../media/image-114-4.png"/><Relationship Id="rId5" Type="http://schemas.openxmlformats.org/officeDocument/2006/relationships/image" Target="../media/image-114-5.png"/><Relationship Id="rId6" Type="http://schemas.openxmlformats.org/officeDocument/2006/relationships/image" Target="../media/image-114-6.png"/><Relationship Id="rId7" Type="http://schemas.openxmlformats.org/officeDocument/2006/relationships/image" Target="../media/image-114-7.png"/><Relationship Id="rId8" Type="http://schemas.openxmlformats.org/officeDocument/2006/relationships/image" Target="../media/image-114-8.png"/><Relationship Id="rId9" Type="http://schemas.openxmlformats.org/officeDocument/2006/relationships/image" Target="../media/image-114-9.png"/><Relationship Id="rId10" Type="http://schemas.openxmlformats.org/officeDocument/2006/relationships/image" Target="../media/image-114-10.png"/><Relationship Id="rId11" Type="http://schemas.openxmlformats.org/officeDocument/2006/relationships/image" Target="../media/image-114-11.png"/><Relationship Id="rId12" Type="http://schemas.openxmlformats.org/officeDocument/2006/relationships/image" Target="../media/image-114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png"/><Relationship Id="rId2" Type="http://schemas.openxmlformats.org/officeDocument/2006/relationships/image" Target="../media/image-117-2.png"/><Relationship Id="rId3" Type="http://schemas.openxmlformats.org/officeDocument/2006/relationships/image" Target="../media/image-117-3.png"/><Relationship Id="rId4" Type="http://schemas.openxmlformats.org/officeDocument/2006/relationships/image" Target="../media/image-117-4.png"/><Relationship Id="rId5" Type="http://schemas.openxmlformats.org/officeDocument/2006/relationships/image" Target="../media/image-117-5.png"/><Relationship Id="rId6" Type="http://schemas.openxmlformats.org/officeDocument/2006/relationships/image" Target="../media/image-11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png"/><Relationship Id="rId2" Type="http://schemas.openxmlformats.org/officeDocument/2006/relationships/image" Target="../media/image-119-2.png"/><Relationship Id="rId3" Type="http://schemas.openxmlformats.org/officeDocument/2006/relationships/image" Target="../media/image-1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0-1.png"/><Relationship Id="rId2" Type="http://schemas.openxmlformats.org/officeDocument/2006/relationships/image" Target="../media/image-120-2.png"/><Relationship Id="rId3" Type="http://schemas.openxmlformats.org/officeDocument/2006/relationships/image" Target="../media/image-120-3.png"/><Relationship Id="rId4" Type="http://schemas.openxmlformats.org/officeDocument/2006/relationships/image" Target="../media/image-120-4.png"/><Relationship Id="rId5" Type="http://schemas.openxmlformats.org/officeDocument/2006/relationships/image" Target="../media/image-12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png"/><Relationship Id="rId2" Type="http://schemas.openxmlformats.org/officeDocument/2006/relationships/image" Target="../media/image-125-2.png"/><Relationship Id="rId3" Type="http://schemas.openxmlformats.org/officeDocument/2006/relationships/image" Target="../media/image-125-3.png"/><Relationship Id="rId4" Type="http://schemas.openxmlformats.org/officeDocument/2006/relationships/image" Target="../media/image-12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6-1.png"/><Relationship Id="rId2" Type="http://schemas.openxmlformats.org/officeDocument/2006/relationships/image" Target="../media/image-126-2.png"/><Relationship Id="rId3" Type="http://schemas.openxmlformats.org/officeDocument/2006/relationships/image" Target="../media/image-126-3.png"/><Relationship Id="rId4" Type="http://schemas.openxmlformats.org/officeDocument/2006/relationships/image" Target="../media/image-12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8-1.png"/><Relationship Id="rId2" Type="http://schemas.openxmlformats.org/officeDocument/2006/relationships/image" Target="../media/image-128-2.png"/><Relationship Id="rId3" Type="http://schemas.openxmlformats.org/officeDocument/2006/relationships/image" Target="../media/image-128-3.png"/><Relationship Id="rId4" Type="http://schemas.openxmlformats.org/officeDocument/2006/relationships/image" Target="../media/image-12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0-1.png"/><Relationship Id="rId2" Type="http://schemas.openxmlformats.org/officeDocument/2006/relationships/image" Target="../media/image-130-2.png"/><Relationship Id="rId3" Type="http://schemas.openxmlformats.org/officeDocument/2006/relationships/image" Target="../media/image-130-3.png"/><Relationship Id="rId4" Type="http://schemas.openxmlformats.org/officeDocument/2006/relationships/image" Target="../media/image-13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2-1.png"/><Relationship Id="rId2" Type="http://schemas.openxmlformats.org/officeDocument/2006/relationships/image" Target="../media/image-132-2.png"/><Relationship Id="rId3" Type="http://schemas.openxmlformats.org/officeDocument/2006/relationships/image" Target="../media/image-13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3-1.png"/><Relationship Id="rId2" Type="http://schemas.openxmlformats.org/officeDocument/2006/relationships/image" Target="../media/image-133-2.png"/><Relationship Id="rId3" Type="http://schemas.openxmlformats.org/officeDocument/2006/relationships/image" Target="../media/image-13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4-1.png"/><Relationship Id="rId2" Type="http://schemas.openxmlformats.org/officeDocument/2006/relationships/image" Target="../media/image-134-2.png"/><Relationship Id="rId3" Type="http://schemas.openxmlformats.org/officeDocument/2006/relationships/image" Target="../media/image-13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5-1.png"/><Relationship Id="rId2" Type="http://schemas.openxmlformats.org/officeDocument/2006/relationships/image" Target="../media/image-135-2.png"/><Relationship Id="rId3" Type="http://schemas.openxmlformats.org/officeDocument/2006/relationships/image" Target="../media/image-135-3.png"/><Relationship Id="rId4" Type="http://schemas.openxmlformats.org/officeDocument/2006/relationships/image" Target="../media/image-135-4.png"/><Relationship Id="rId5" Type="http://schemas.openxmlformats.org/officeDocument/2006/relationships/image" Target="../media/image-135-5.png"/><Relationship Id="rId6" Type="http://schemas.openxmlformats.org/officeDocument/2006/relationships/image" Target="../media/image-135-6.png"/><Relationship Id="rId7" Type="http://schemas.openxmlformats.org/officeDocument/2006/relationships/image" Target="../media/image-135-7.png"/><Relationship Id="rId8" Type="http://schemas.openxmlformats.org/officeDocument/2006/relationships/image" Target="../media/image-135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8-1.png"/><Relationship Id="rId2" Type="http://schemas.openxmlformats.org/officeDocument/2006/relationships/image" Target="../media/image-138-2.png"/><Relationship Id="rId3" Type="http://schemas.openxmlformats.org/officeDocument/2006/relationships/image" Target="../media/image-13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9-1.png"/><Relationship Id="rId2" Type="http://schemas.openxmlformats.org/officeDocument/2006/relationships/image" Target="../media/image-139-2.png"/><Relationship Id="rId3" Type="http://schemas.openxmlformats.org/officeDocument/2006/relationships/image" Target="../media/image-139-3.png"/><Relationship Id="rId4" Type="http://schemas.openxmlformats.org/officeDocument/2006/relationships/image" Target="../media/image-139-4.png"/><Relationship Id="rId5" Type="http://schemas.openxmlformats.org/officeDocument/2006/relationships/image" Target="../media/image-13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2-1.png"/><Relationship Id="rId2" Type="http://schemas.openxmlformats.org/officeDocument/2006/relationships/image" Target="../media/image-142-2.png"/><Relationship Id="rId3" Type="http://schemas.openxmlformats.org/officeDocument/2006/relationships/image" Target="../media/image-142-3.png"/><Relationship Id="rId4" Type="http://schemas.openxmlformats.org/officeDocument/2006/relationships/image" Target="../media/image-14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3-1.png"/><Relationship Id="rId2" Type="http://schemas.openxmlformats.org/officeDocument/2006/relationships/image" Target="../media/image-143-2.png"/><Relationship Id="rId3" Type="http://schemas.openxmlformats.org/officeDocument/2006/relationships/image" Target="../media/image-143-3.png"/><Relationship Id="rId4" Type="http://schemas.openxmlformats.org/officeDocument/2006/relationships/image" Target="../media/image-143-4.png"/><Relationship Id="rId5" Type="http://schemas.openxmlformats.org/officeDocument/2006/relationships/image" Target="../media/image-14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669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PGP PROGRAM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hands-on sessions: from your first OpenAI agent to stateful LangGraph workflows, multi-agent crews, agentic RAG and deep agents.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5176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529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Atul Kahate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1272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linkedin.com/in/atulkahate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5204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REPOSITORY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21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github.com/atulkahatecdac/agenticai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5262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1–9  ·  Demo code: 16_PGP-Agentic/code/session_N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58384" y="1106424"/>
            <a:ext cx="0" cy="269748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74920" y="502920"/>
            <a:ext cx="566928" cy="56692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3" name="Image 0" descr="Fa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6652" y="644652"/>
            <a:ext cx="283464" cy="28346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824728" y="5486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824728" y="7863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agents, tools and design patterns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358384" y="2016252"/>
            <a:ext cx="0" cy="269748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074920" y="1412748"/>
            <a:ext cx="566928" cy="56692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8" name="Image 1" descr="FaLi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652" y="1554480"/>
            <a:ext cx="283464" cy="28346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824728" y="145846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5824728" y="16962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Chains, memory, RAG and tool-using agents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358384" y="2926080"/>
            <a:ext cx="0" cy="269748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5074920" y="2322576"/>
            <a:ext cx="566928" cy="56692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3" name="Image 2" descr="FaDiagramProjec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464308"/>
            <a:ext cx="283464" cy="28346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824728" y="23682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5824728" y="26060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graphs, loops, human-in-the-loop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358384" y="3835908"/>
            <a:ext cx="0" cy="269748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5074920" y="3232404"/>
            <a:ext cx="566928" cy="56692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8" name="Image 3" descr="FaPeopleGrou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374136"/>
            <a:ext cx="283464" cy="28346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5824728" y="32781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and AutoGen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824728" y="35158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crews, flows and teams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5074920" y="4142232"/>
            <a:ext cx="566928" cy="56692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32" name="Image 4" descr="FaBrai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283964"/>
            <a:ext cx="283464" cy="28346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5824728" y="41879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and deep agents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5824728" y="44256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retrieval, reflection, memory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sessions, each with live demos from the course repository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43584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07592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307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2435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Foundations and Agent Architectures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124358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SDK, tools, design patterns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1673352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16733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160934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Core: Chains, Memory and RAG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60934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LCEL, memory, vector stores, RAG pipeline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975104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039112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20391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197510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Agents and Tool Use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197510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Prompting, custom tools, SQL agents, tool chaining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2404872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24048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170432" y="234086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 Stateful Workflows and Routing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234086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nodes, edges, streaming, LangGraph Studio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706624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2770632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27706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70432" y="270662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 Cycles, HITL and Persistence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270662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Loops, human approval, checkpointers, guardrails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3136392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31363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170432" y="30723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with CrewAI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257800" y="307238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Crews, flows, managers, memory, observability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3438144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3502152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6928" y="35021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170432" y="343814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 with Microsoft AutoGen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257800" y="343814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AgentChat, teams, GraphFlow, memory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3867912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66928" y="38679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1170432" y="380390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and GraphRAG for Agents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5257800" y="380390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Self-RAG, CRAG, reranking, GraphRAG, RAGAS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4169664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6928" y="4233672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66928" y="4233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1170432" y="416966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Agents: Reflection, Planning and Memory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5257800" y="416966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Reflection, replanning, long-term memory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Foundations and Agent Architectures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agents are, how they are built, and the patterns behind them – using the OpenAI Agents SDK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58115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67716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an AI agent is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it differs from an LLM, a chatbot and a workflow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34772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ScrewdriverWren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44373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247900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agents with the OpenAI Agents SDK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instructions, tools, and the Runner that executes them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302285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Bo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311886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3014472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agents sync and async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know when concurrency pays off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697986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5" name="Image 3" descr="FaShap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79399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598164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the core design patterns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use, ReAct, plan-and-execute, reflection, multi-agent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10912" y="199476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892808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AI agent is and why we need one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10912" y="2271827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212080" y="2169871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vs workflows vs agents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10912" y="254889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12080" y="2446934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components and architecture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010912" y="2825953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212080" y="2723998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and API key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010912" y="310301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12080" y="3001061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 basics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010912" y="338008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212080" y="3278124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an agent tools (@function_tool)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010912" y="3657143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212080" y="3555187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multi-tool agent step by step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010912" y="393420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212080" y="3832250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vs async agents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5010912" y="4211269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5212080" y="4109314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 patterns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5010912" y="448833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5212080" y="4386377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framework landscape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AI Agent?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uses AI models to perceive, decide and act toward a goal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382268"/>
            <a:ext cx="1933956" cy="1770888"/>
          </a:xfrm>
          <a:prstGeom prst="roundRect">
            <a:avLst>
              <a:gd name="adj" fmla="val 309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54686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E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64287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1546860"/>
            <a:ext cx="1110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040636"/>
            <a:ext cx="16047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input from its environment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text, user queries, images, audio, sensor data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55748" y="1382268"/>
            <a:ext cx="1933956" cy="1770888"/>
          </a:xfrm>
          <a:prstGeom prst="roundRect">
            <a:avLst>
              <a:gd name="adj" fmla="val 309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20340" y="1546860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1" name="Image 1" descr="FaBr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1642872"/>
            <a:ext cx="192024" cy="1920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214116" y="1546860"/>
            <a:ext cx="1110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720340" y="2040636"/>
            <a:ext cx="1604772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to do using rules, logic or ML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plan a route, pick the best response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54296" y="1382268"/>
            <a:ext cx="1933956" cy="1770888"/>
          </a:xfrm>
          <a:prstGeom prst="roundRect">
            <a:avLst>
              <a:gd name="adj" fmla="val 309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18888" y="1546860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6" name="Image 2" descr="FaHandPoin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1642872"/>
            <a:ext cx="192024" cy="1920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12664" y="1546860"/>
            <a:ext cx="1110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818888" y="2040636"/>
            <a:ext cx="16047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tasks based on its decisions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answer a question, run a command, call an API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752844" y="1382268"/>
            <a:ext cx="1933956" cy="1770888"/>
          </a:xfrm>
          <a:prstGeom prst="roundRect">
            <a:avLst>
              <a:gd name="adj" fmla="val 309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17436" y="1546860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1" name="Image 3" descr="FaChartL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642872"/>
            <a:ext cx="192024" cy="1920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11212" y="1546860"/>
            <a:ext cx="1110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917436" y="2040636"/>
            <a:ext cx="1604772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improves over time from feedback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refine recommendations, improve accuracy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3592068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21792" y="3701796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621792" y="3921252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generates text. An agent wraps an LLM with goals, tools and a loop, so it can actually get things done.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0" name="Text 24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session_1/1_1_my_first_agent.py (teaser)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at is an LLM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LM alone is limited; an agentic application is the complete solu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chine learning, deep learning, generative AI and agentic AI compar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8595360" cy="4297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ic system vs workflow vs autonomous ag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366" y="164592"/>
            <a:ext cx="7697267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of Agentic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we build in this course combines some of these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07058"/>
            <a:ext cx="1961388" cy="790956"/>
          </a:xfrm>
          <a:prstGeom prst="roundRect">
            <a:avLst>
              <a:gd name="adj" fmla="val 693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" y="1725930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Com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1803654"/>
            <a:ext cx="155448" cy="1554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96696" y="1707642"/>
            <a:ext cx="130302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and role in plain language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46604" y="1607058"/>
            <a:ext cx="1961388" cy="790956"/>
          </a:xfrm>
          <a:prstGeom prst="roundRect">
            <a:avLst>
              <a:gd name="adj" fmla="val 693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65476" y="1725930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Microchi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03654"/>
            <a:ext cx="155448" cy="1554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86100" y="1707642"/>
            <a:ext cx="130302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engine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636008" y="1607058"/>
            <a:ext cx="1961388" cy="790956"/>
          </a:xfrm>
          <a:prstGeom prst="roundRect">
            <a:avLst>
              <a:gd name="adj" fmla="val 693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754880" y="1725930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4" name="Image 2" descr="FaScrewdriverWren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604" y="1803654"/>
            <a:ext cx="155448" cy="1554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75504" y="1707642"/>
            <a:ext cx="130302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code, databases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725412" y="1607058"/>
            <a:ext cx="1961388" cy="790956"/>
          </a:xfrm>
          <a:prstGeom prst="roundRect">
            <a:avLst>
              <a:gd name="adj" fmla="val 693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844284" y="1725930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8" name="Image 3" descr="FaArrowsRota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803654"/>
            <a:ext cx="155448" cy="1554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64908" y="1707642"/>
            <a:ext cx="130302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– act – review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2526030"/>
            <a:ext cx="1961388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76072" y="264490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2" name="Image 4" descr="FaBoo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" y="2722626"/>
            <a:ext cx="155448" cy="1554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96696" y="2626614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in your own documents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2546604" y="2526030"/>
            <a:ext cx="1961388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2665476" y="2644902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6" name="Image 5" descr="FaPlu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2722626"/>
            <a:ext cx="155448" cy="1554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086100" y="2626614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way to plug in tools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4636008" y="2526030"/>
            <a:ext cx="1961388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4754880" y="2644902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30" name="Image 6" descr="FaMemor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2604" y="2722626"/>
            <a:ext cx="155448" cy="155448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175504" y="2626614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and long-term context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6725412" y="2526030"/>
            <a:ext cx="1961388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6844284" y="2644902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34" name="Image 7" descr="FaUser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2008" y="2722626"/>
            <a:ext cx="155448" cy="155448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264908" y="2626614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at the risky steps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457200" y="3422142"/>
            <a:ext cx="1961388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576072" y="3541014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38" name="Image 8" descr="FaShieldHalved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" y="3618738"/>
            <a:ext cx="155448" cy="155448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996696" y="3522726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inputs and outputs safe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2546604" y="3422142"/>
            <a:ext cx="1961388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2665476" y="3541014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42" name="Image 9" descr="FaPeopleGroup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0" y="3618738"/>
            <a:ext cx="155448" cy="155448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3086100" y="3522726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agents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that collaborate</a:t>
            </a:r>
            <a:endParaRPr lang="en-US" sz="1200" dirty="0"/>
          </a:p>
        </p:txBody>
      </p:sp>
      <p:sp>
        <p:nvSpPr>
          <p:cNvPr id="44" name="Shape 32"/>
          <p:cNvSpPr/>
          <p:nvPr/>
        </p:nvSpPr>
        <p:spPr>
          <a:xfrm>
            <a:off x="4636008" y="3422142"/>
            <a:ext cx="1961388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4754880" y="3541014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46" name="Image 10" descr="FaEy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32604" y="3618738"/>
            <a:ext cx="155448" cy="155448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5175504" y="3522726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of every step</a:t>
            </a:r>
            <a:endParaRPr lang="en-US" sz="1200" dirty="0"/>
          </a:p>
        </p:txBody>
      </p:sp>
      <p:sp>
        <p:nvSpPr>
          <p:cNvPr id="48" name="Shape 35"/>
          <p:cNvSpPr/>
          <p:nvPr/>
        </p:nvSpPr>
        <p:spPr>
          <a:xfrm>
            <a:off x="6725412" y="3422142"/>
            <a:ext cx="1961388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9" name="Shape 36"/>
          <p:cNvSpPr/>
          <p:nvPr/>
        </p:nvSpPr>
        <p:spPr>
          <a:xfrm>
            <a:off x="6844284" y="3541014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50" name="Image 11" descr="FaGaugeHigh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22008" y="3618738"/>
            <a:ext cx="155448" cy="155448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7264908" y="3522726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answer quality</a:t>
            </a:r>
            <a:endParaRPr lang="en-US" sz="1200" dirty="0"/>
          </a:p>
        </p:txBody>
      </p:sp>
      <p:sp>
        <p:nvSpPr>
          <p:cNvPr id="52" name="Shape 3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3" name="Shape 3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4" name="Text 4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55" name="Text 4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Setup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per laptop – every later session reuses this environment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2095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20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520952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 3.12, VS Code and git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062734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627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1932432"/>
            <a:ext cx="349300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the course repository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github.com/atulkahatecdac/agenticai → Fork → keep the name agenticai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734818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73481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604516"/>
            <a:ext cx="349300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it and open it in VS Code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https://github.com/YOUR-USERNAME/agenticai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32308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32308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276600"/>
            <a:ext cx="3493008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activate a virtual environment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Code: Ctrl+Shift+P → Python: Select Interpreter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82752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82752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781044"/>
            <a:ext cx="3493008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OpenAI API key to .env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platform.openai.com → API keys → copy into </a:t>
            </a:r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15209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758696"/>
            <a:ext cx="3931920" cy="2088515"/>
          </a:xfrm>
          <a:prstGeom prst="roundRect">
            <a:avLst>
              <a:gd name="adj" fmla="val 2189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1868424"/>
            <a:ext cx="3657600" cy="1905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agenticai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myenv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 (if blocked, first run: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Set-ExecutionPolicy -Scope Process Bypass)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myenv\Scripts\activate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macOS / Linux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myenv/bin/activate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openai openai-agents python-dotenv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  (in the repo root)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OPENAI_API_KEY=sk-...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session_1/1_5_openai_basic.py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Call: Talking to an LLM Directly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lowest level – one request, one response, no agent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77924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773936"/>
            <a:ext cx="192024" cy="1920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87552" y="1581912"/>
            <a:ext cx="288870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from .env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load_dotenv()</a:t>
            </a:r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puts OPENAI_API_KEY into the environment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400300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8" name="Image 1" descr="FaCom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496312"/>
            <a:ext cx="192024" cy="1920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87552" y="2304288"/>
            <a:ext cx="288870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in, text out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message sets the role; the user message asks the question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3122676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1" name="Image 2" descr="FaTriangleExclam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3218688"/>
            <a:ext cx="192024" cy="19202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87552" y="3026664"/>
            <a:ext cx="288870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tools, no memory, no loop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an agent does, we would have to code ourselves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4242021" y="1581912"/>
            <a:ext cx="44447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1_5_openai_basic.py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242021" y="1819656"/>
            <a:ext cx="4444779" cy="2395728"/>
          </a:xfrm>
          <a:prstGeom prst="roundRect">
            <a:avLst>
              <a:gd name="adj" fmla="val 190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379181" y="1929384"/>
            <a:ext cx="4170459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openai import OpenAI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dotenv import load_dotenv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load_dotenv(override=True)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client.chat.completions.create(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model="gpt-4o-mini",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{"role": "system",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"content": "You are a helpful assistant"},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{"role": "user",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"content": "Explain agentic AI in one paragraph"},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print(response.choices[0].message.content)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9" name="Text 14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session_1/1_5_openai_basic.py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SDK, API and Endpoint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runs where when our agent talks to the model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211580" y="1609344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Pyth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1746504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3113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code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68880"/>
            <a:ext cx="198424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logic in Python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05940" y="1883664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268980" y="1609344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Cub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140" y="174650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51176" y="223113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SDK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551176" y="2468880"/>
            <a:ext cx="198424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our machine; builds the requests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863340" y="1883664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326380" y="1609344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Plu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174650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08576" y="223113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608576" y="2468880"/>
            <a:ext cx="198424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URL exposed by the provider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920740" y="1883664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383780" y="1609344"/>
            <a:ext cx="548640" cy="548640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0" name="Image 3" descr="FaMicrochi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40" y="174650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665976" y="223113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665976" y="2468880"/>
            <a:ext cx="198424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model running on OpenAI's servers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12592"/>
          <a:ext cx="8229600" cy="914400"/>
        </p:xfrm>
        <a:graphic>
          <a:graphicData uri="http://schemas.openxmlformats.org/drawingml/2006/table">
            <a:tbl>
              <a:tblPr/>
              <a:tblGrid>
                <a:gridCol w="1714500"/>
                <a:gridCol w="2743200"/>
                <a:gridCol w="3771900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runs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Development Kit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our client – a Python library we import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Programming Interface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 server side – the model provider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URL of one API operation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the chat completions or responses endpoint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17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27" name="Text 20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openai-agents  ·  define an agent → add tools → run it → inspect the result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28394"/>
            <a:ext cx="1933956" cy="1732788"/>
          </a:xfrm>
          <a:prstGeom prst="roundRect">
            <a:avLst>
              <a:gd name="adj" fmla="val 316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792986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888998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1792986"/>
            <a:ext cx="1110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286762"/>
            <a:ext cx="160477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with instructions and tools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support bot answering FAQs with function calls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55748" y="1628394"/>
            <a:ext cx="1933956" cy="1732788"/>
          </a:xfrm>
          <a:prstGeom prst="roundRect">
            <a:avLst>
              <a:gd name="adj" fmla="val 316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20340" y="1792986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1" name="Image 1" descr="FaRight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1888998"/>
            <a:ext cx="192024" cy="1920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214116" y="1792986"/>
            <a:ext cx="1110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720340" y="2286762"/>
            <a:ext cx="160477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delegates to another agent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general support hands billing questions to a billing agent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654296" y="1628394"/>
            <a:ext cx="1933956" cy="1732788"/>
          </a:xfrm>
          <a:prstGeom prst="roundRect">
            <a:avLst>
              <a:gd name="adj" fmla="val 316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18888" y="1792986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6" name="Image 2" descr="FaShieldHalv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1888998"/>
            <a:ext cx="192024" cy="1920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12664" y="1792986"/>
            <a:ext cx="1110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818888" y="2286762"/>
            <a:ext cx="160477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inputs and outputs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block unsafe requests, check the output is valid JSON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752844" y="1628394"/>
            <a:ext cx="1933956" cy="1732788"/>
          </a:xfrm>
          <a:prstGeom prst="roundRect">
            <a:avLst>
              <a:gd name="adj" fmla="val 316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17436" y="1792986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1" name="Image 3" descr="FaClockRotateLef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888998"/>
            <a:ext cx="192024" cy="1920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11212" y="1792986"/>
            <a:ext cx="1110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917436" y="2286762"/>
            <a:ext cx="16047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conversation history across runs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tutor remembers topics already covered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3800094"/>
            <a:ext cx="822960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built in: tracing, MCP tools and human approval. The SDK runs the agent loop for us instead of us hand-coding it.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8" name="Text 22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session_1/1_2_openai_agent_basic.py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Agent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objects: Agent describes it, Runner runs it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36776"/>
            <a:ext cx="45175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1_2_openai_agent_basic.py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517525" cy="2275840"/>
          </a:xfrm>
          <a:prstGeom prst="roundRect">
            <a:avLst>
              <a:gd name="adj" fmla="val 2009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984248"/>
            <a:ext cx="4243205" cy="209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dotenv import load_dotenv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agents import Agent, Runner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load_dotenv(override=True)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Agent(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name="Assistant",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instructions="You are a helpful customer support analyst.",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model="gpt-4o-mini",          # optional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Runner.run_sync(agent,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"Analyze this customer feedback and suggest improvements: "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"'The product was a bit stale'")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print(result.final_output)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340485" y="1838706"/>
            <a:ext cx="347472" cy="34747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8" name="Image 0" descr="Fa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7353" y="1925574"/>
            <a:ext cx="173736" cy="17373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834261" y="1636776"/>
            <a:ext cx="2852539" cy="75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Agent(...)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Creates, but does not run, the agent: a name, a system prompt (instructions) and a model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340485" y="2648712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1" name="Image 1" descr="FaPla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353" y="2735580"/>
            <a:ext cx="173736" cy="1737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34261" y="2534412"/>
            <a:ext cx="285253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Runner.run_sync(...)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instructions + message to the LLM and waits for the answer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340485" y="3371088"/>
            <a:ext cx="347472" cy="347472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4" name="Image 2" descr="FaRep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353" y="3457956"/>
            <a:ext cx="173736" cy="1737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834261" y="3256788"/>
            <a:ext cx="285253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result.final_output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final answer, after any tool calls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9" name="Text 14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session_1/1_2_openai_agent_basic.py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tool system at a gl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533" y="164592"/>
            <a:ext cx="735493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session_1/1_6_openai_agent_pattern_tool.py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Tool Call Works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decides and describes the call; our code executes it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5840" y="1393698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530858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01549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253234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the temperature in Tokyo?"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00200" y="1668018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51760" y="1393698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Br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53085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39696" y="201549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139696" y="2253234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directly, or call a tool?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46120" y="1668018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297680" y="1393698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FileC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53085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85616" y="201549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785616" y="2253234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call that matches the tool's schema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92040" y="1668018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943600" y="1393698"/>
            <a:ext cx="548640" cy="548640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0" name="Image 3" descr="FaGea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53085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1536" y="201549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executes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431536" y="2253234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our Python function with those arguments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537960" y="1668018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589520" y="1393698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5" name="Image 4" descr="FaRepl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530858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77456" y="201549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077456" y="2253234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combines the tool result into a reply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57200" y="2996946"/>
            <a:ext cx="2633472" cy="1406652"/>
          </a:xfrm>
          <a:prstGeom prst="roundRect">
            <a:avLst>
              <a:gd name="adj" fmla="val 39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21792" y="316153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621792" y="3380994"/>
            <a:ext cx="230428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(agent)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621792" y="3704082"/>
            <a:ext cx="2304288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when to call a tool, using its instructions, the context and the tool schemas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3255264" y="2996946"/>
            <a:ext cx="2633472" cy="1406652"/>
          </a:xfrm>
          <a:prstGeom prst="roundRect">
            <a:avLst>
              <a:gd name="adj" fmla="val 39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3419856" y="316153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WORK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3419856" y="3380994"/>
            <a:ext cx="230428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function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3419856" y="3704082"/>
            <a:ext cx="23042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 (docstring) and parameters, plus the code to run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6053328" y="2996946"/>
            <a:ext cx="2633472" cy="1406652"/>
          </a:xfrm>
          <a:prstGeom prst="roundRect">
            <a:avLst>
              <a:gd name="adj" fmla="val 39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6217920" y="316153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THEM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6217920" y="3380994"/>
            <a:ext cx="230428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1400" dirty="0"/>
          </a:p>
        </p:txBody>
      </p:sp>
      <p:sp>
        <p:nvSpPr>
          <p:cNvPr id="39" name="Text 32"/>
          <p:cNvSpPr txBox="1"/>
          <p:nvPr/>
        </p:nvSpPr>
        <p:spPr>
          <a:xfrm>
            <a:off x="6217920" y="3704082"/>
            <a:ext cx="2304288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the call to our function, handles async and errors, returns the result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43" name="Text 36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session_1/1_6_openai_agent_pattern_tool.py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Tool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Python function plus a decorator – the docstring tells the agent when to use it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391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– the function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76864"/>
            <a:ext cx="3931920" cy="1376680"/>
          </a:xfrm>
          <a:prstGeom prst="roundRect">
            <a:avLst>
              <a:gd name="adj" fmla="val 3321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86592"/>
            <a:ext cx="36576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agents import function_tool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@function_tool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get_temperature(city: str) -&gt; str: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"""Returns mock temperature for a city."""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temps = {"london": "65°F", "tokyo": "78°F",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"mumbai": "85°F"}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temps.get(city.lower(), "70°F")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45783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– give it to the agent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583527"/>
            <a:ext cx="3931920" cy="874649"/>
          </a:xfrm>
          <a:prstGeom prst="roundRect">
            <a:avLst>
              <a:gd name="adj" fmla="val 522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3693255"/>
            <a:ext cx="3657600" cy="69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Agent(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name="QuickAssistant",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tools=[get_temperature, get_time, calculate],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instructions="Use tools when needed. Be concise.",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1453420"/>
            <a:ext cx="347472" cy="34747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1" name="Image 0" descr="FaTa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1748" y="1540288"/>
            <a:ext cx="173736" cy="17373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248656" y="1339120"/>
            <a:ext cx="34381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@function_tool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function into a tool and generates its JSON schema from the type hints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2175796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4" name="Image 1" descr="FaComm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748" y="2262664"/>
            <a:ext cx="173736" cy="17373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48656" y="2061496"/>
            <a:ext cx="34381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docstring matters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reads it to decide if and when to call the tool – make it clear and specific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754880" y="2898172"/>
            <a:ext cx="347472" cy="347472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7" name="Image 2" descr="FaList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748" y="2985040"/>
            <a:ext cx="173736" cy="17373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48656" y="2783872"/>
            <a:ext cx="34381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are the contract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city: str</a:t>
            </a:r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becomes a required string parameter the LLM must fill in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session_1/1_6_openai_agent_pattern_tool.py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ing an AI agent in seven ste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session_1/1_1_my_first_agent.py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Multi-Tool Agent, End to End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tools, one agent, three questions answered concurrently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7234"/>
            <a:ext cx="44447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1_1_my_first_agent.py (condensed)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74978"/>
            <a:ext cx="4444779" cy="3085084"/>
          </a:xfrm>
          <a:prstGeom prst="roundRect">
            <a:avLst>
              <a:gd name="adj" fmla="val 1482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84706"/>
            <a:ext cx="4170459" cy="290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@function_tool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get_temperature(city: str) -&gt; str: ...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@function_tool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get_time(timezone: str) -&gt; str: ...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@function_tool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calculate(expression: str) -&gt; str: ...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Agent(name="QuickAssistant", model="gpt-4o-mini",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tools=[get_temperature, get_time, calculate],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instructions="Use tools when needed. Be concise.")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run_agent():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queries = ["What's the temperature in Tokyo?",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"Calculate 25 * 4 + 10",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"What time is it in New York timezone?"]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tasks = [Runner.run(agent, q) for q in queries]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 = await asyncio.gather(*tasks)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q, r in zip(queries, results):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print(f"Q: {q}\nA: {r.final_output}")</a:t>
            </a:r>
            <a:endParaRPr lang="en-US" sz="9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67739" y="1237234"/>
          <a:ext cx="3419061" cy="914400"/>
        </p:xfrm>
        <a:graphic>
          <a:graphicData uri="http://schemas.openxmlformats.org/drawingml/2006/table">
            <a:tbl>
              <a:tblPr/>
              <a:tblGrid>
                <a:gridCol w="1315023"/>
                <a:gridCol w="2104037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@function_tool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Makes each function callable by the 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tools=[...]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menu of tools the agent may choose from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queries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Plain-language questions – the agent picks the tool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Runner.run(...)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run; the list holds one task per 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asyncio.gather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all tasks at once, waits for 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final_output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agent's answer after its tool calls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session_1/1_1_my_first_agent.py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or Async?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agent, two ways to run it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07185"/>
            <a:ext cx="4023360" cy="2582926"/>
          </a:xfrm>
          <a:prstGeom prst="roundRect">
            <a:avLst>
              <a:gd name="adj" fmla="val 212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7185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07185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– Runner.run_sync(...)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19249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Blocking: one call at a time, each waits for the previous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write – no async / await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scripts, one-off calls, debugging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when there are many requests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3197225"/>
            <a:ext cx="3749040" cy="507492"/>
          </a:xfrm>
          <a:prstGeom prst="roundRect">
            <a:avLst>
              <a:gd name="adj" fmla="val 9009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306953"/>
            <a:ext cx="3474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Runner.run_sync(agent, msg)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print(result.final_output)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607185"/>
            <a:ext cx="4023360" cy="2582926"/>
          </a:xfrm>
          <a:prstGeom prst="roundRect">
            <a:avLst>
              <a:gd name="adj" fmla="val 212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607185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607185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– await Runner.run(...)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119249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Non-blocking: many LLM or tool calls in parallel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asyncio and await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production apps, web servers, many sessions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throughput; errors via gather, timeouts, cancellation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3364865"/>
            <a:ext cx="3749040" cy="642366"/>
          </a:xfrm>
          <a:prstGeom prst="roundRect">
            <a:avLst>
              <a:gd name="adj" fmla="val 711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37760" y="3474593"/>
            <a:ext cx="3474720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main():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await Runner.run(agent, msg)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asyncio.run(main())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session_1/1_7_openai_agent_sync.py, 1_8_openai_agent_async.py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ync vs async: total time 15 s vs 6 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8595360" cy="4297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session_1/1_7_openai_agent_sync.py, 1_8_openai_agent_async.py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ur agentic AI patterns at a gl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session_1/1_9_openai_agent_pattern_plan.py, 1_4_…_react.py, 1_10_…_reflection.py, 1_3_…_rewoo.py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Tool Use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decides when and how to call external tools instead of doing everything itself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5840" y="163677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MagnifyingGl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7739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96312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task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0020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51760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ScrewdriverWren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77393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3969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139696" y="2496312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suitable tool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4612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297680" y="1636776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PaperPla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7739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8561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785616" y="2496312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structured input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9204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943600" y="1636776"/>
            <a:ext cx="548640" cy="548640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0" name="Image 3" descr="FaInbox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77393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153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431536" y="2496312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tool's output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53796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589520" y="163677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5" name="Image 4" descr="FaPuzzlePie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773936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7745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077456" y="2496312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it into the answer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57200" y="3087624"/>
            <a:ext cx="1961388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576072" y="3206496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30" name="Image 5" descr="FaCub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" y="3284220"/>
            <a:ext cx="155448" cy="15544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96696" y="3188208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is a specialist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2546604" y="3087624"/>
            <a:ext cx="1961388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2665476" y="3206496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34" name="Image 6" descr="FaUpRightAndDownLeftFromCent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3284220"/>
            <a:ext cx="155448" cy="155448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3086100" y="3188208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tools, not code paths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4636008" y="3087624"/>
            <a:ext cx="1961388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4754880" y="3206496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38" name="Image 7" descr="FaList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604" y="3284220"/>
            <a:ext cx="155448" cy="155448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5175504" y="3188208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trace of who did what</a:t>
            </a:r>
            <a:endParaRPr lang="en-US" sz="1200" dirty="0"/>
          </a:p>
        </p:txBody>
      </p:sp>
      <p:sp>
        <p:nvSpPr>
          <p:cNvPr id="40" name="Shape 30"/>
          <p:cNvSpPr/>
          <p:nvPr/>
        </p:nvSpPr>
        <p:spPr>
          <a:xfrm>
            <a:off x="6725412" y="3087624"/>
            <a:ext cx="1961388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6844284" y="3206496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42" name="Image 8" descr="FaGaugeHigh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22008" y="3284220"/>
            <a:ext cx="155448" cy="155448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7264908" y="3188208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 work to optimised tools</a:t>
            </a:r>
            <a:endParaRPr lang="en-US" sz="1200" dirty="0"/>
          </a:p>
        </p:txBody>
      </p:sp>
      <p:sp>
        <p:nvSpPr>
          <p:cNvPr id="44" name="Shape 33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6" name="Text 35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47" name="Text 36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session_1/1_6_openai_agent_pattern_tool.py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ReAct (Reason + Act)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Think, act, look at the result, think again – until the goal is reached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211580" y="1542288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Bra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1679448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164080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01824"/>
            <a:ext cx="19842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need next?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05940" y="1816608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268980" y="1542288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ScrewdriverWren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140" y="167944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51176" y="2164080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551176" y="2401824"/>
            <a:ext cx="19842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right tool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863340" y="1816608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326380" y="1542288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Ey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167944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08576" y="2164080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608576" y="2401824"/>
            <a:ext cx="19842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tool's result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920740" y="1816608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383780" y="1542288"/>
            <a:ext cx="548640" cy="548640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0" name="Image 3" descr="FaCircle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40" y="167944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665976" y="2164080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665976" y="2401824"/>
            <a:ext cx="19842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 the goal is met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 flipH="1">
            <a:off x="1485900" y="2919984"/>
            <a:ext cx="6172200" cy="914"/>
          </a:xfrm>
          <a:prstGeom prst="line">
            <a:avLst/>
          </a:prstGeom>
          <a:noFill/>
          <a:ln w="15875">
            <a:solidFill>
              <a:srgbClr val="EA4B71"/>
            </a:solidFill>
            <a:prstDash val="dash"/>
            <a:tailEnd type="triangle"/>
          </a:ln>
        </p:spPr>
      </p:sp>
      <p:sp>
        <p:nvSpPr>
          <p:cNvPr id="24" name="Text 18"/>
          <p:cNvSpPr txBox="1"/>
          <p:nvPr/>
        </p:nvSpPr>
        <p:spPr>
          <a:xfrm>
            <a:off x="1485900" y="2700528"/>
            <a:ext cx="6172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 goal is achieved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57200" y="3432048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21792" y="3541776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621792" y="3761232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 is chosen from the latest observation, so the agent adapts as it learns more – ideal when the path to the answer is not known up front.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1" name="Text 2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session_1/1_4_openai_agent_pattern_react.py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Plan-and-Execute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whole job first, then carry out the steps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515112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36776"/>
            <a:ext cx="51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99744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210056" y="1636776"/>
            <a:ext cx="723138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10056" y="1636776"/>
            <a:ext cx="723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60626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70938" y="1636776"/>
            <a:ext cx="1208532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70938" y="1636776"/>
            <a:ext cx="1208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06902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617214" y="1636776"/>
            <a:ext cx="792480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17214" y="1636776"/>
            <a:ext cx="79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37126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647438" y="1636776"/>
            <a:ext cx="653796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47438" y="1636776"/>
            <a:ext cx="65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28666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538978" y="1636776"/>
            <a:ext cx="653796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38978" y="1636776"/>
            <a:ext cx="65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20206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30518" y="1636776"/>
            <a:ext cx="653796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30518" y="1636776"/>
            <a:ext cx="65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11746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322058" y="1636776"/>
            <a:ext cx="1069848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22058" y="1636776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2386584"/>
            <a:ext cx="2633472" cy="1380744"/>
          </a:xfrm>
          <a:prstGeom prst="roundRect">
            <a:avLst>
              <a:gd name="adj" fmla="val 397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" y="2551176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9" name="Image 0" descr="FaList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2647188"/>
            <a:ext cx="192024" cy="192024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115568" y="255117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21792" y="3044952"/>
            <a:ext cx="230428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complete plan to reach the goal before doing anything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55264" y="2386584"/>
            <a:ext cx="2633472" cy="1380744"/>
          </a:xfrm>
          <a:prstGeom prst="roundRect">
            <a:avLst>
              <a:gd name="adj" fmla="val 397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19856" y="2551176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34" name="Image 1" descr="FaPersonRun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868" y="2647188"/>
            <a:ext cx="192024" cy="192024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3913632" y="255117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3419856" y="3044952"/>
            <a:ext cx="230428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out each step in order; each step can be a small ReAct loop of its own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6053328" y="2386584"/>
            <a:ext cx="2633472" cy="1380744"/>
          </a:xfrm>
          <a:prstGeom prst="roundRect">
            <a:avLst>
              <a:gd name="adj" fmla="val 397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217920" y="2551176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39" name="Image 2" descr="FaScaleBalanc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32" y="2647188"/>
            <a:ext cx="192024" cy="192024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6711696" y="255117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ReAct</a:t>
            </a:r>
            <a:endParaRPr lang="en-US" sz="1400" dirty="0"/>
          </a:p>
        </p:txBody>
      </p:sp>
      <p:sp>
        <p:nvSpPr>
          <p:cNvPr id="41" name="Text 36"/>
          <p:cNvSpPr txBox="1"/>
          <p:nvPr/>
        </p:nvSpPr>
        <p:spPr>
          <a:xfrm>
            <a:off x="6217920" y="3044952"/>
            <a:ext cx="230428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decides after every observation; plan-and-execute commits to a strategy first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45" name="Text 40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session_1/1_9_openai_agent_pattern_plan.py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Multi-Agent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agents collaborate on one problem, coordinated by an orchestrator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5840" y="145008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58724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07187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30962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at the orchestrator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00200" y="172440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51760" y="145008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Sitem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58724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39696" y="207187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139696" y="230962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sub-tasks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46120" y="172440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297680" y="1450086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PeopleGrou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58724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85616" y="207187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785616" y="230962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sub-task to a specialist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92040" y="172440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943600" y="1450086"/>
            <a:ext cx="548640" cy="548640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0" name="Image 3" descr="FaGea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58724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1536" y="207187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431536" y="230962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 or in sequence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537960" y="172440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589520" y="145008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5" name="Image 4" descr="FaLayerGrou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587246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77456" y="207187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077456" y="230962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and validate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57200" y="3003804"/>
            <a:ext cx="1961388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576072" y="3122676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30" name="Image 5" descr="FaUserTi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" y="3200400"/>
            <a:ext cx="155448" cy="15544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96696" y="3104388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Specialisation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does one thing well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2546604" y="3003804"/>
            <a:ext cx="1961388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2665476" y="3122676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34" name="Image 6" descr="FaUpRightAndDownLeftFromCent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3200400"/>
            <a:ext cx="155448" cy="155448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3086100" y="3104388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swap agents freely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4636008" y="3003804"/>
            <a:ext cx="1961388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4754880" y="3122676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38" name="Image 7" descr="FaBol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604" y="3200400"/>
            <a:ext cx="155448" cy="155448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5175504" y="3104388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work concurrently</a:t>
            </a:r>
            <a:endParaRPr lang="en-US" sz="1200" dirty="0"/>
          </a:p>
        </p:txBody>
      </p:sp>
      <p:sp>
        <p:nvSpPr>
          <p:cNvPr id="40" name="Shape 30"/>
          <p:cNvSpPr/>
          <p:nvPr/>
        </p:nvSpPr>
        <p:spPr>
          <a:xfrm>
            <a:off x="6725412" y="3003804"/>
            <a:ext cx="1961388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6844284" y="3122676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42" name="Image 8" descr="FaShieldHalved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22008" y="3200400"/>
            <a:ext cx="155448" cy="155448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7264908" y="3104388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failure doesn't sink the rest</a:t>
            </a:r>
            <a:endParaRPr lang="en-US" sz="1200" dirty="0"/>
          </a:p>
        </p:txBody>
      </p:sp>
      <p:sp>
        <p:nvSpPr>
          <p:cNvPr id="44" name="Text 33"/>
          <p:cNvSpPr txBox="1"/>
          <p:nvPr/>
        </p:nvSpPr>
        <p:spPr>
          <a:xfrm>
            <a:off x="457200" y="4161282"/>
            <a:ext cx="8229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pPr algn="l"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1_11</a:t>
            </a:r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three agents run in sequence for each candidate: extractor → evaluator → decider.</a:t>
            </a:r>
            <a:endParaRPr lang="en-US" sz="1100" dirty="0"/>
          </a:p>
        </p:txBody>
      </p:sp>
      <p:sp>
        <p:nvSpPr>
          <p:cNvPr id="45" name="Shape 3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6" name="Shape 3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7" name="Text 3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48" name="Text 3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session_1/1_11_openai_agent_pattern_multi_agent.py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FAQ Bot to RAG: The Code Ladder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script adds one capability to the previous one</a:t>
            </a:r>
            <a:endParaRPr lang="en-US" sz="13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82268"/>
          <a:ext cx="8229600" cy="914400"/>
        </p:xfrm>
        <a:graphic>
          <a:graphicData uri="http://schemas.openxmlformats.org/drawingml/2006/table">
            <a:tbl>
              <a:tblPr/>
              <a:tblGrid>
                <a:gridCol w="391886"/>
                <a:gridCol w="2687216"/>
                <a:gridCol w="2463282"/>
                <a:gridCol w="2687216"/>
              </a:tblGrid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changes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/ 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FAQ bot with a hardcoded knowledge base, keyword match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calling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1_12_openai_agent_tool_hardcoded_knowledge.py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meaning instead of keywords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search (embeddings)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1_13_openai_agent_hardcoded_semantic.py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Chroma store with OpenAI embeddings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RAG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1_14_openai_agent_openai_vectorstore.py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FAQs in SQLite, vectorised locally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RAG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1_15_…_create_faq_db.py → 1_16_…_faq_db_vectorized.py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UI in the browser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the UI (Flask)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1_17_openai_agent_flask.py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 from an insurance PDF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over a document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1_18_openai_agent_insurance_flask.py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balance questions before the agent answers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guardrail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1_19_openai_agent_guardrails.py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vs agentic RAG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RAG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1_20_… vs 1_21_…_agentic_rag.py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used as tools by a manager 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as tools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1_22_openai_agent_agent_as_tool.py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Remember earlier turns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 memory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1_23_openai_agent_short_term_memory.py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session_1/1_12_* … 1_23_*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AI Framework Landscape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API calls to full multi-agent frameworks – the order we cover them in</a:t>
            </a:r>
            <a:endParaRPr lang="en-US" sz="13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18488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645920"/>
                <a:gridCol w="1954530"/>
                <a:gridCol w="4217670"/>
              </a:tblGrid>
              <a:tr h="243840"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/ 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fits here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SDK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API / SDK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level – call LLMs and embeddings; everything else builds on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Agents SDK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agents, tools, handoffs, guardrails and sessions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/ LangGraph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Chains and agent graphs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 workflows as graphs: predictable flows, loops, multi-agent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crews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agents collaborating on tasks; built for autonomy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 multi-agent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that talk to each other: debate, negotiate,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agent ↔ tool connection that makes all of the above interoperable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No-code / low-code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builders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Drag-and-drop agents with many connectors (n8n, OpenAI Agent Builder)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 today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1_2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agent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Runner.run_sync, with instructions and a model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9842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9842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1_6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956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20370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@function_tool functions the agent decides to call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700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1_1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642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Multi-tool async agent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88950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tools, three queries, run concurrently with asyncio.gather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3558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3558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1_4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3284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57530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plan-and-execute, reflection, ReWOO, multi-agent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0416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0416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1_12+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0142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bot → RAG ladder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6110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search, vector stores, guardrails, memory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818888" y="1645920"/>
            <a:ext cx="3666744" cy="176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= LLM + instructions + tools + a loop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only describes a tool call – our code runs it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 and type hints are how the agent understands a tool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async when calls are independent; sync when each step needs the last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pattern by how predictable the path to the answer is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LangChain Core – Chains, Memory and RAG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Core: Chains, Memory and RAG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LLM apps from small parts, give them memory, and ground them in your own documents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58115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Li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67716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chains with LCEL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| llm | parser, and the Runnables behind the pipe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34772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Mem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44373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247900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conversation memory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buffer, summary and vector-store memory; persistence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311429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321030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3014472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search embeddings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and FAISS, similarity metrics, metadata filters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880866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5" name="Image 3" descr="FaBoo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97687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781044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RAG pipeline end to end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split, embed, retrieve, generate – and a PDF Q&amp;A bot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10912" y="200253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overview and architecture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10912" y="229514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212080" y="2185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and Runnables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10912" y="258775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12080" y="2478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 and output parsers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010912" y="288036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212080" y="2770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 (session and persistent)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010912" y="3172968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12080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and vector databases (Chroma, FAISS)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010912" y="346557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212080" y="3355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loaders, text splitters and chunking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010912" y="375818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212080" y="36484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RAG pipeline with retrievers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010912" y="405079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212080" y="39410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Q&amp;A bot over PDFs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at a Glance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framework for building applications on top of LLMs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751076"/>
            <a:ext cx="347472" cy="34747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Com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" y="1837944"/>
            <a:ext cx="173736" cy="1737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1636776"/>
            <a:ext cx="34381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prompts, output parsers, retrievers, tools – all interchangeable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473452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8" name="Image 1" descr="FaRight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" y="2560320"/>
            <a:ext cx="173736" cy="1737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50976" y="2359152"/>
            <a:ext cx="34381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OpenAI, Gemini or a local Ollama model without rewriting the app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3195828"/>
            <a:ext cx="347472" cy="347472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1" name="Image 2" descr="FaLin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" y="3282696"/>
            <a:ext cx="173736" cy="1737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50976" y="3081528"/>
            <a:ext cx="34381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blocks with </a:t>
            </a:r>
            <a:pPr indent="0" marL="0">
              <a:buNone/>
            </a:pPr>
            <a:r>
              <a:rPr lang="en-US" sz="11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run any chain with </a:t>
            </a:r>
            <a:pPr indent="0" marL="0">
              <a:buNone/>
            </a:pPr>
            <a:r>
              <a:rPr lang="en-US" sz="11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.invoke()</a:t>
            </a:r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.batch()</a:t>
            </a:r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pPr indent="0" marL="0">
              <a:buNone/>
            </a:pPr>
            <a:r>
              <a:rPr lang="en-US" sz="11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.stream()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4754880" y="16367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LangChain evolved</a:t>
            </a:r>
            <a:endParaRPr lang="en-US" sz="1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276856"/>
          <a:ext cx="3931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1188720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LLMChain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SequentialChain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LCEL (Runnables)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workflows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8" name="Text 12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session_2/2_1_langchain_lcel.py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CEL operators and examp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session_2/2_1_langchain_lcel.py, 2_2_langchain_lcel_ollama.py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ree types of prompt templates in LangCha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session_2/2_3_prompt_templates.py (chat, MessagesPlaceholder and partial templates)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ngChain output par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session_2/2_4_output_parsers.py (Str, JSON and Pydantic parsers)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 Types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remember a customer-support chat – each trades detail for size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2633472" cy="1952244"/>
          </a:xfrm>
          <a:prstGeom prst="roundRect">
            <a:avLst>
              <a:gd name="adj" fmla="val 281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80136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EVERYTHING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2020824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7" name="Image 0" descr="FaListU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2116836"/>
            <a:ext cx="192024" cy="1920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15568" y="202082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memory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514600"/>
            <a:ext cx="2304288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every past turn, word for word, to the LLM every time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grows without limit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55264" y="1636776"/>
            <a:ext cx="2633472" cy="1952244"/>
          </a:xfrm>
          <a:prstGeom prst="roundRect">
            <a:avLst>
              <a:gd name="adj" fmla="val 281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19856" y="180136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 SUMMARY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19856" y="2020824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3" name="Image 1" descr="FaCompre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868" y="2116836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13632" y="202082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memory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419856" y="2514600"/>
            <a:ext cx="2304288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rewrites the chat into a running summary: "Customer's blender arrived damaged; a replacement ships in 3 days."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loses detail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53328" y="1636776"/>
            <a:ext cx="2633472" cy="1952244"/>
          </a:xfrm>
          <a:prstGeom prst="roundRect">
            <a:avLst>
              <a:gd name="adj" fmla="val 281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17920" y="180136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MEANING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217920" y="202082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9" name="Image 2" descr="FaMagnifyingGla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32" y="2116836"/>
            <a:ext cx="192024" cy="19202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711696" y="202082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Vector-store memory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2514600"/>
            <a:ext cx="2304288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turns about a laptop; "My battery drains fast" → retrieves the battery turn (turn 3) – the most 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the most recent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long histories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5" name="Text 20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session_2/2_5_memory_types.py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 lives only while the app runs; persistent memory survives restarts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5840" y="1440180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Ge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5773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06197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instruction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299716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assistant is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00200" y="1714500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51760" y="1440180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ClockRotate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5773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39696" y="206197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conversation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139696" y="2299716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from the database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46120" y="1714500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297680" y="1440180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Comm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5773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85616" y="206197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question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785616" y="2299716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turn's input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92040" y="1714500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943600" y="1440180"/>
            <a:ext cx="548640" cy="548640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0" name="Image 3" descr="FaMicrochi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5773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1536" y="206197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431536" y="2299716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with full context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537960" y="1714500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589520" y="1440180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5" name="Image 4" descr="FaDataba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57734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77456" y="206197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turn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077456" y="2299716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back for next time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57200" y="3043428"/>
            <a:ext cx="4023360" cy="1313688"/>
          </a:xfrm>
          <a:prstGeom prst="roundRect">
            <a:avLst>
              <a:gd name="adj" fmla="val 417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57200" y="304342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594360" y="30434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594360" y="3555492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in RAM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when the program stops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a single chat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4663440" y="3043428"/>
            <a:ext cx="4023360" cy="1313688"/>
          </a:xfrm>
          <a:prstGeom prst="roundRect">
            <a:avLst>
              <a:gd name="adj" fmla="val 417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663440" y="304342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800600" y="30434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4800600" y="3555492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in a database (e.g. SQLite)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restarts – multi-turn across days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for real assistants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9" name="Text 32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session_2/2_6_persistent_chatbot.py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y do we need RAG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session_2/2_7_chroma_db_basic.py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mbeddings: turning text into vecto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session_2/2_7_chroma_db_basic.py, 2_8_rag_cosine_euclidean.py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Similarity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Nearest-neighbour retrieval ranks stored vectors by how close they are to the query vector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33472" cy="1700784"/>
          </a:xfrm>
          <a:prstGeom prst="roundRect">
            <a:avLst>
              <a:gd name="adj" fmla="val 322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581912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CompassDraf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677924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158191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075688"/>
            <a:ext cx="2304288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between two vectors – ignores length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is better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 = same direction)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55264" y="1417320"/>
            <a:ext cx="2633472" cy="1700784"/>
          </a:xfrm>
          <a:prstGeom prst="roundRect">
            <a:avLst>
              <a:gd name="adj" fmla="val 322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19856" y="158191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1" name="Image 1" descr="FaRulerHorizont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868" y="1677924"/>
            <a:ext cx="192024" cy="1920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13632" y="1581912"/>
            <a:ext cx="181051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(Euclidean) distance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19856" y="2118360"/>
            <a:ext cx="23042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Straight-line distance between two points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is better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 = identical)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53328" y="1417320"/>
            <a:ext cx="2633472" cy="1700784"/>
          </a:xfrm>
          <a:prstGeom prst="roundRect">
            <a:avLst>
              <a:gd name="adj" fmla="val 322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17920" y="158191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6" name="Image 2" descr="FaArrowsLeft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32" y="1677924"/>
            <a:ext cx="192024" cy="1920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11696" y="158191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075688"/>
            <a:ext cx="2304288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and magnitude together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is better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equals cosine for normalised vectors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demo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557016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21792" y="3666744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IN ONE LINE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" y="3886200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question, score it against every stored vector, keep the top-k closest – those chunks go to the LLM.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5" name="Text 20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session_2/2_8_rag_cosine_euclidean.py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ow ChromaDB stores Q&amp;A: questions as vectors, answers as 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session_2/2_9_chroma_db_adding_metadata.py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ChromaDB: Meaning plus Metadata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local, persistent vector database – documents, embeddings and metadata together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50492"/>
            <a:ext cx="365760" cy="36576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FileLi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41932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9264" y="1636776"/>
            <a:ext cx="34198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 you store – here, FAQ questions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273808"/>
            <a:ext cx="365760" cy="36576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8" name="Image 1" descr="FaCub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65248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69264" y="2176272"/>
            <a:ext cx="341985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for you by Chroma's built-in model, or one you choose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980944"/>
            <a:ext cx="365760" cy="36576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1" name="Image 2" descr="FaTa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72384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69264" y="2883408"/>
            <a:ext cx="341985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Key–value tags on each item: category, priority, the answer text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4754880" y="16367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meaning, filter by metadata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754880" y="1874520"/>
            <a:ext cx="3931920" cy="949579"/>
          </a:xfrm>
          <a:prstGeom prst="roundRect">
            <a:avLst>
              <a:gd name="adj" fmla="val 4815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892040" y="1984248"/>
            <a:ext cx="3657600" cy="766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collection.query(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query_texts=["can i use cash?"],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n_results=1,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where={"category": "returns"},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754880" y="3263011"/>
            <a:ext cx="393192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919472" y="3372739"/>
            <a:ext cx="3602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WORK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4919472" y="3592195"/>
            <a:ext cx="3602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narrows the candidates by metadata first; similarity then ranks what is left.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session_2/2_7_chroma_db_basic.py, 2_9_chroma_db_adding_metadata.py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Compared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– store vectors, find the nearest ones – different trade-offs</a:t>
            </a:r>
            <a:endParaRPr lang="en-US" sz="135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36776"/>
          <a:ext cx="8229600" cy="914400"/>
        </p:xfrm>
        <a:graphic>
          <a:graphicData uri="http://schemas.openxmlformats.org/drawingml/2006/table">
            <a:tbl>
              <a:tblPr/>
              <a:tblGrid>
                <a:gridCol w="1090670"/>
                <a:gridCol w="1388125"/>
                <a:gridCol w="1883884"/>
                <a:gridCol w="1983036"/>
                <a:gridCol w="1883884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/ embedded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Small–medium apps, notebooks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Easy, local persistence, Python-first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ideal at very large 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Library, not a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in-process 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fast, offline, optimised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metadata store or 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Pinecone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Production, large 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Scalable, highly available, no infra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Paid, cloud-only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Qdrant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 +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with filters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filtering, simple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Heavier to self-host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session_2/2_7_chroma_db_basic.py, 2_10_faiss_search.py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roma vs FAISS: documents with details vs vectors in a fast inde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8595360" cy="4297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session_2/2_7_chroma_db_basic.py, 2_10_faiss_search.py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FAISS: Search Without Comparing Everything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AI Similarity Search – Meta's library for fast similarity search over dense vectors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367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one million documents (the demo has ten), and the user asks </a:t>
            </a:r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artificial intelligence?"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276856"/>
            <a:ext cx="4023360" cy="1737868"/>
          </a:xfrm>
          <a:prstGeom prst="roundRect">
            <a:avLst>
              <a:gd name="adj" fmla="val 315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7685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2768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FAISS – linear scan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788920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query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document 1, then 2, then 3 …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all the way to document 1,000,000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and gets slower as data grows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2276856"/>
            <a:ext cx="4023360" cy="1737868"/>
          </a:xfrm>
          <a:prstGeom prst="roundRect">
            <a:avLst>
              <a:gd name="adj" fmla="val 315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27685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2768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FAISS – an index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788920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query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FAISS index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top-k results (top_k=3 in the demo)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IndexFlatL2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demo still compares all; </a:t>
            </a:r>
            <a:pPr indent="0" marL="0">
              <a:buNone/>
            </a:pPr>
            <a:r>
              <a:rPr lang="en-US" sz="11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IndexHNSW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skips most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session_2/2_10_faiss_search.py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and Chunking Documents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files into Document objects, then into chunks small enough to embed and retrieve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752600"/>
            <a:ext cx="329184" cy="329184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FileIm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834896"/>
            <a:ext cx="164592" cy="164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2688" y="1636776"/>
            <a:ext cx="280111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format – PDF, CSV, web, Notion; a PDF loads as one Document per page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459736"/>
            <a:ext cx="329184" cy="329184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8" name="Image 1" descr="FaWindowMaximiz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542032"/>
            <a:ext cx="164592" cy="16459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32688" y="2343912"/>
            <a:ext cx="280111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chunk: context window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documents do not fit, and tokens cost money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3166872"/>
            <a:ext cx="329184" cy="329184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1" name="Image 2" descr="FaBullsey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3249168"/>
            <a:ext cx="164592" cy="16459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32688" y="3051048"/>
            <a:ext cx="280111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chunk: better retrieval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focused chunks match questions better</a:t>
            </a:r>
            <a:endParaRPr lang="en-US" sz="13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99560" y="1636776"/>
          <a:ext cx="4587240" cy="914400"/>
        </p:xfrm>
        <a:graphic>
          <a:graphicData uri="http://schemas.openxmlformats.org/drawingml/2006/table">
            <a:tbl>
              <a:tblPr/>
              <a:tblGrid>
                <a:gridCol w="1084257"/>
                <a:gridCol w="2168513"/>
                <a:gridCol w="1334470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splits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N characters, with overlap so ideas are not cut in half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prototypes (not in the demo)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Paragraph → sentence → word until each chunk fits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RAG (most common)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 topic changes, judged with embeddings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High-quality 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7" name="Text 1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session_2/2_11_document_loaders.py, 2_12_text_splitters.py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RAG Pipeline, End to End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once, then answer many questions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2362"/>
            <a:ext cx="8229600" cy="193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pPr algn="l" indent="0" marL="0">
              <a:buNone/>
            </a:pPr>
            <a:r>
              <a:rPr lang="en-US" sz="115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done once, or when documents change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05840" y="1755394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FilePd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892554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93776" y="237718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93776" y="2614930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Word, web, CSV, DB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600200" y="2029714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651760" y="1755394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1" name="Image 1" descr="FaFileImpo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89255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139696" y="237718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2139696" y="2614930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Document objects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46120" y="2029714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297680" y="1755394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6" name="Image 2" descr="FaScisso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89255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785616" y="237718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3785616" y="2614930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small chunks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892040" y="2029714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5943600" y="1755394"/>
            <a:ext cx="548640" cy="548640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1" name="Image 3" descr="FaCub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89255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31536" y="237718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431536" y="2614930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vectors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537960" y="2029714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7589520" y="1755394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6" name="Image 4" descr="FaDataba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892554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077456" y="237718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7077456" y="2614930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Chroma, FAISS, Pinecone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457200" y="3029966"/>
            <a:ext cx="8229600" cy="193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</a:t>
            </a:r>
            <a:pPr algn="l" indent="0" marL="0">
              <a:buNone/>
            </a:pPr>
            <a:r>
              <a:rPr lang="en-US" sz="115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for every user question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1005840" y="3412998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31" name="Image 5" descr="FaUs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55015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93776" y="403479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493776" y="4272534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user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1600200" y="3687318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35" name="Shape 27"/>
          <p:cNvSpPr/>
          <p:nvPr/>
        </p:nvSpPr>
        <p:spPr>
          <a:xfrm>
            <a:off x="2651760" y="3412998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36" name="Image 6" descr="FaCube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8920" y="3550158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2139696" y="403479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it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2139696" y="4272534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embedding model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246120" y="3687318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40" name="Shape 31"/>
          <p:cNvSpPr/>
          <p:nvPr/>
        </p:nvSpPr>
        <p:spPr>
          <a:xfrm>
            <a:off x="4297680" y="3412998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41" name="Image 7" descr="FaMagnifyingGlas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840" y="3550158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3785616" y="403479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200" dirty="0"/>
          </a:p>
        </p:txBody>
      </p:sp>
      <p:sp>
        <p:nvSpPr>
          <p:cNvPr id="43" name="Text 33"/>
          <p:cNvSpPr txBox="1"/>
          <p:nvPr/>
        </p:nvSpPr>
        <p:spPr>
          <a:xfrm>
            <a:off x="3785616" y="4272534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similar chunks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4892040" y="3687318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45" name="Shape 35"/>
          <p:cNvSpPr/>
          <p:nvPr/>
        </p:nvSpPr>
        <p:spPr>
          <a:xfrm>
            <a:off x="5943600" y="3412998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46" name="Image 8" descr="FaFileLine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60" y="3550158"/>
            <a:ext cx="274320" cy="274320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5431536" y="403479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00" dirty="0"/>
          </a:p>
        </p:txBody>
      </p:sp>
      <p:sp>
        <p:nvSpPr>
          <p:cNvPr id="48" name="Text 37"/>
          <p:cNvSpPr txBox="1"/>
          <p:nvPr/>
        </p:nvSpPr>
        <p:spPr>
          <a:xfrm>
            <a:off x="5431536" y="4272534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question</a:t>
            </a:r>
            <a:endParaRPr lang="en-US" sz="1000" dirty="0"/>
          </a:p>
        </p:txBody>
      </p:sp>
      <p:sp>
        <p:nvSpPr>
          <p:cNvPr id="49" name="Shape 38"/>
          <p:cNvSpPr/>
          <p:nvPr/>
        </p:nvSpPr>
        <p:spPr>
          <a:xfrm>
            <a:off x="6537960" y="3687318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50" name="Shape 39"/>
          <p:cNvSpPr/>
          <p:nvPr/>
        </p:nvSpPr>
        <p:spPr>
          <a:xfrm>
            <a:off x="7589520" y="3412998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51" name="Image 9" descr="FaMicrochip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26680" y="3550158"/>
            <a:ext cx="274320" cy="274320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7077456" y="403479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53" name="Text 41"/>
          <p:cNvSpPr txBox="1"/>
          <p:nvPr/>
        </p:nvSpPr>
        <p:spPr>
          <a:xfrm>
            <a:off x="7077456" y="4272534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1000" dirty="0"/>
          </a:p>
        </p:txBody>
      </p:sp>
      <p:sp>
        <p:nvSpPr>
          <p:cNvPr id="54" name="Shape 4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5" name="Shape 4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6" name="Text 4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57" name="Text 4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session_2/2_13_rag_pipeline.py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between the vector database and the LLM – only the relevant chunks reach the prompt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316355"/>
            <a:ext cx="2633472" cy="1994916"/>
          </a:xfrm>
          <a:prstGeom prst="roundRect">
            <a:avLst>
              <a:gd name="adj" fmla="val 275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0947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1700403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7" name="Image 0" descr="FaMagnifyingGl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796415"/>
            <a:ext cx="192024" cy="1920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15568" y="1700403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VectorStoreRetriever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194179"/>
            <a:ext cx="2304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the question and returns the most similar chunks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only as good as the question's wording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55264" y="1316355"/>
            <a:ext cx="2633472" cy="1994916"/>
          </a:xfrm>
          <a:prstGeom prst="roundRect">
            <a:avLst>
              <a:gd name="adj" fmla="val 275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19856" y="1480947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REPHRASE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19856" y="1700403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3" name="Image 1" descr="FaShuff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868" y="1796415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13632" y="1700403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MultiQueryRetriever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419856" y="2194179"/>
            <a:ext cx="2304288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writes several versions of the question, retrieves for each, merges the results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chunks a single wording misses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53328" y="1316355"/>
            <a:ext cx="2633472" cy="1994916"/>
          </a:xfrm>
          <a:prstGeom prst="roundRect">
            <a:avLst>
              <a:gd name="adj" fmla="val 275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17920" y="1480947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217920" y="1700403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9" name="Image 2" descr="FaCompre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32" y="1796415"/>
            <a:ext cx="192024" cy="19202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711696" y="1700403"/>
            <a:ext cx="181051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ContextualCompression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2236851"/>
            <a:ext cx="2304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candidates, then an LLM keeps only the parts that answer the question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noise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prompt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57200" y="3657981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21792" y="3767709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THESE THREE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621792" y="3987165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Self-query, parent-document and ensemble retrievers (not demoed in this course) build on the same idea – they change how a question becomes the final chunks.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session_2/2_14_retrievers.py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Q&amp;A Bot over PDFs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LangServe app that answers questions about an insurance PDF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83258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8325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636776"/>
            <a:ext cx="3493008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Chroma version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2_15_langchain_qand_a_bot_chroma.py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8770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8770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141220"/>
            <a:ext cx="3493008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playground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http://localhost:8000/ask/playground/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69214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921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645664"/>
            <a:ext cx="3493008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the policy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come only from the retrieved chunks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28041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8041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150108"/>
            <a:ext cx="349300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FAISS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2_16_langchain_qanda_bot_faiss.py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same app, different store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54880" y="1636776"/>
            <a:ext cx="1874520" cy="1430528"/>
          </a:xfrm>
          <a:prstGeom prst="roundRect">
            <a:avLst>
              <a:gd name="adj" fmla="val 383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636776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163677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148840"/>
            <a:ext cx="16002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 directory of files for us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automatically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12280" y="1636776"/>
            <a:ext cx="1874520" cy="1430528"/>
          </a:xfrm>
          <a:prstGeom prst="roundRect">
            <a:avLst>
              <a:gd name="adj" fmla="val 383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1636776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0" y="163677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148840"/>
            <a:ext cx="16002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.index file + .pkl of documents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save_local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load_local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session_2/2_15_langchain_qand_a_bot_chroma.py, 2_16_langchain_qanda_bot_faiss.py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 today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2_1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chains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| llm | parser, with OpenAI and with local Ollama models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9842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9842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2_5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956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20370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Buffer, summary and vector-store memory; a persistent chatbot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700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2_7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642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88950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search with metadata filters; FAISS indexes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3558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3558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2_13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3284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 pipeline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57530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→ split → embed → store → retrieve → generate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0416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0416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2_15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0142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Q&amp;A bot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6110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LangServe app over an insurance document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818888" y="1645920"/>
            <a:ext cx="3666744" cy="176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modern LangChain, everything is a Runnable joined with |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memory by what you can afford to send: all, a summary, or what is relevant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turn meaning into geometry; retrieval is nearest-neighbour search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strategy often matters more than the choice of vector DB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retriever decides what the LLM gets to see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LangChain Agents and Tool Use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Agents and Tool Use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techniques that drive agents, custom tools, and agents connected to real systems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58115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PenToSqu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67716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prompts that steer agents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personas, few-shot examples, chain-of-thought, ReAct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25628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ScrewdriverWren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35229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247900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bind custom tools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@tool, bind_tools, and Pydantic schemas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83997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293598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2831592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agents to real systems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databases, chained tools and web research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010912" y="200253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21208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fundamentals (recap)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010912" y="229514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212080" y="2185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techniques that drive agents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010912" y="258775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212080" y="2478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custom tools and binding them to an LLM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010912" y="288036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212080" y="2770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with Pydantic schemas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010912" y="3172968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212080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agents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010912" y="346557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5212080" y="3355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reasoning and tool chaining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5010912" y="375818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5212080" y="36484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Tool-augmented research agent</a:t>
            </a:r>
            <a:endParaRPr lang="en-US" sz="11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Fundamentals: A Quick Recap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chatbot, an agent makes decisions and performs tasks until the goal is reached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5840" y="1542288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E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79448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164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01824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environment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00200" y="1816608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51760" y="1542288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Br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67944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39696" y="2164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139696" y="2401824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the problem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46120" y="1816608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297680" y="1542288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SignsPo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67944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85616" y="2164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785616" y="2401824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next action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92040" y="1816608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943600" y="1542288"/>
            <a:ext cx="548640" cy="548640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0" name="Image 3" descr="FaScrewdriverWren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67944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1536" y="2164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431536" y="2401824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it with a tool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537960" y="1816608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589520" y="1542288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5" name="Image 4" descr="FaMagnifyingGlassChar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679448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77456" y="2164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077456" y="2401824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result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 flipH="1">
            <a:off x="1280160" y="2919984"/>
            <a:ext cx="6583680" cy="914"/>
          </a:xfrm>
          <a:prstGeom prst="line">
            <a:avLst/>
          </a:prstGeom>
          <a:noFill/>
          <a:ln w="15875">
            <a:solidFill>
              <a:srgbClr val="EA4B71"/>
            </a:solidFill>
            <a:prstDash val="dash"/>
            <a:tailEnd type="triangle"/>
          </a:ln>
        </p:spPr>
      </p:sp>
      <p:sp>
        <p:nvSpPr>
          <p:cNvPr id="29" name="Text 22"/>
          <p:cNvSpPr txBox="1"/>
          <p:nvPr/>
        </p:nvSpPr>
        <p:spPr>
          <a:xfrm>
            <a:off x="1280160" y="2700528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until the goal is achieved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57200" y="3432048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621792" y="3541776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621792" y="3761232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loop, built with LangChain: prompts steer the Reason step, tools power the Act step, and a short loop in our own code ties them together.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36" name="Text 29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for Domain-Expert Personas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role, expertise, rules and style before any user interaction</a:t>
            </a:r>
            <a:endParaRPr lang="en-US" sz="135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55979"/>
          <a:ext cx="3495040" cy="914400"/>
        </p:xfrm>
        <a:graphic>
          <a:graphicData uri="http://schemas.openxmlformats.org/drawingml/2006/table">
            <a:tbl>
              <a:tblPr/>
              <a:tblGrid>
                <a:gridCol w="1165013"/>
                <a:gridCol w="2330027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assistant's expertise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primary objective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or information sources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generate answers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avoid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format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 of the response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Formal, friendly, technical 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318000" y="1355979"/>
            <a:ext cx="436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318000" y="1593723"/>
            <a:ext cx="4368800" cy="1376680"/>
          </a:xfrm>
          <a:prstGeom prst="roundRect">
            <a:avLst>
              <a:gd name="adj" fmla="val 3321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455160" y="1703451"/>
            <a:ext cx="409448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an expert &lt;ROLE&gt;.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goal is to &lt;OBJECTIVE&gt;.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your expertise in &lt;DOMAIN&gt;.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answering: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Explain concepts clearly.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Ask clarifying questions if information is missing.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Do not make up facts. If uncertain, say so.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 in a professional and concise manner.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4318000" y="3396361"/>
            <a:ext cx="436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from the demo (REACT_INSTRUCTIONS)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18000" y="3634105"/>
            <a:ext cx="4368800" cy="807212"/>
          </a:xfrm>
          <a:prstGeom prst="roundRect">
            <a:avLst>
              <a:gd name="adj" fmla="val 5664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55160" y="3743833"/>
            <a:ext cx="4094480" cy="624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customer-support assistant that decides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refund eligibility using ReAct-style reasoning.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do NOT know order details in advance -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must look them up.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session_3/3_1_prompting_techniques.py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Zero-Shot, One-Shot and Few-Shot Prompting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refund decision for order A1002, with examples or with none at all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92326"/>
            <a:ext cx="2633472" cy="2612644"/>
          </a:xfrm>
          <a:prstGeom prst="roundRect">
            <a:avLst>
              <a:gd name="adj" fmla="val 21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75691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AND CASE ONLY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1976374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9763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6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97637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470150"/>
            <a:ext cx="2304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QA, summaries, translation, simple classification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inconsistent on complex tasks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" y="3238246"/>
            <a:ext cx="2304288" cy="619887"/>
          </a:xfrm>
          <a:prstGeom prst="roundRect">
            <a:avLst>
              <a:gd name="adj" fmla="val 737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3347974"/>
            <a:ext cx="2029968" cy="437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Headphones, 42 days, opened,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undamaged. Eligible for a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refund? Yes/No and amount.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55264" y="1592326"/>
            <a:ext cx="2633472" cy="2612644"/>
          </a:xfrm>
          <a:prstGeom prst="roundRect">
            <a:avLst>
              <a:gd name="adj" fmla="val 21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19856" y="175691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EXAMPLE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19856" y="1976374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19856" y="19763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60" dirty="0"/>
          </a:p>
        </p:txBody>
      </p:sp>
      <p:sp>
        <p:nvSpPr>
          <p:cNvPr id="16" name="Text 14"/>
          <p:cNvSpPr txBox="1"/>
          <p:nvPr/>
        </p:nvSpPr>
        <p:spPr>
          <a:xfrm>
            <a:off x="3913632" y="197637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19856" y="2470150"/>
            <a:ext cx="2304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teaching a format or style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example rarely covers every case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19856" y="3238246"/>
            <a:ext cx="2304288" cy="747268"/>
          </a:xfrm>
          <a:prstGeom prst="roundRect">
            <a:avLst>
              <a:gd name="adj" fmla="val 611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57016" y="3347974"/>
            <a:ext cx="2029968" cy="56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 Lamp, 10 days, unopened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Yes, refund of $19.99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Headphones, 42 days…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?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53328" y="1592326"/>
            <a:ext cx="2633472" cy="2612644"/>
          </a:xfrm>
          <a:prstGeom prst="roundRect">
            <a:avLst>
              <a:gd name="adj" fmla="val 21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0" y="175691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EXAMPLES HERE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197637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19763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6711696" y="197637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2470150"/>
            <a:ext cx="2304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complex classification, extraction, structured output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longer prompts cost tokens and time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3238246"/>
            <a:ext cx="2304288" cy="747268"/>
          </a:xfrm>
          <a:prstGeom prst="roundRect">
            <a:avLst>
              <a:gd name="adj" fmla="val 611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55080" y="3347974"/>
            <a:ext cx="2029968" cy="56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 Lamp, unopened → Yes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Coffee Mug, damaged → No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Yoga Mat, 35 days → No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Headphones, 42 days… → ?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session_3/3_1_prompting_techniques.py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and Tree-of-Thought Prompting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reason step by step, or to compare several lines of reasoning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075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Case:</a:t>
            </a:r>
            <a:pPr algn="l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"I'd like to return order A1002. Can I get a refund?" Bluetooth Headphones, delivered 42 days ago, opened but undamaged. The policy allows returns within 30 days.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938528"/>
            <a:ext cx="4023360" cy="1481328"/>
          </a:xfrm>
          <a:prstGeom prst="roundRect">
            <a:avLst>
              <a:gd name="adj" fmla="val 370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3852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9385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Zero-shot: answer directly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450592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"No, this order is not eligible."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 – but we cannot see or check the reasoning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938528"/>
            <a:ext cx="4023360" cy="1481328"/>
          </a:xfrm>
          <a:prstGeom prst="roundRect">
            <a:avLst>
              <a:gd name="adj" fmla="val 370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93852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9385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CoT: "Think through the policy step by step"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450592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the window: 42 days is past the 30-day limit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condition: opened but undamaged is acceptable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Decision: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eligible, because of the window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66744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776472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TREE-OF-THOUGHT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3995928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calls each explore one line of reasoning (temperature 0.9); a final call evaluates them against the policy and gives one decision.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session_3/3_1_prompting_techniques.py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Prompting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+ Act: alternate thinking with tool calls, and use each result to decide the next step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discussed this in Section 1, earlier; but now want to see the inside working of the loop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36776"/>
            <a:ext cx="33463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</a:t>
            </a:r>
            <a:pPr algn="l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I'd like to return order A1003. Can I get a refund?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459736"/>
            <a:ext cx="79248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59736"/>
            <a:ext cx="79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277112" y="261518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487424" y="2459736"/>
            <a:ext cx="723138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87424" y="2459736"/>
            <a:ext cx="723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37994" y="261518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48306" y="2459736"/>
            <a:ext cx="653796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48306" y="2459736"/>
            <a:ext cx="65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1000506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880360"/>
            <a:ext cx="1000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485138" y="3035808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695450" y="2880360"/>
            <a:ext cx="723138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95450" y="2880360"/>
            <a:ext cx="723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46020" y="3035808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656332" y="2880360"/>
            <a:ext cx="653796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56332" y="2880360"/>
            <a:ext cx="65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69275" y="166573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69275" y="16657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960" dirty="0"/>
          </a:p>
        </p:txBody>
      </p:sp>
      <p:sp>
        <p:nvSpPr>
          <p:cNvPr id="23" name="Text 21"/>
          <p:cNvSpPr txBox="1"/>
          <p:nvPr/>
        </p:nvSpPr>
        <p:spPr>
          <a:xfrm>
            <a:off x="4608187" y="1636776"/>
            <a:ext cx="4078613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Thought: I don't know this order yet, so I must look it up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69275" y="2069592"/>
            <a:ext cx="292608" cy="29260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69275" y="2069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60" dirty="0"/>
          </a:p>
        </p:txBody>
      </p:sp>
      <p:sp>
        <p:nvSpPr>
          <p:cNvPr id="26" name="Text 24"/>
          <p:cNvSpPr txBox="1"/>
          <p:nvPr/>
        </p:nvSpPr>
        <p:spPr>
          <a:xfrm>
            <a:off x="4608187" y="2069592"/>
            <a:ext cx="407861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lookup_order[A1003]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169275" y="2473452"/>
            <a:ext cx="292608" cy="29260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69275" y="24734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960" dirty="0"/>
          </a:p>
        </p:txBody>
      </p:sp>
      <p:sp>
        <p:nvSpPr>
          <p:cNvPr id="29" name="Text 27"/>
          <p:cNvSpPr txBox="1"/>
          <p:nvPr/>
        </p:nvSpPr>
        <p:spPr>
          <a:xfrm>
            <a:off x="4608187" y="2444496"/>
            <a:ext cx="4078613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Laptop Stand, 6 days since delivery, opened, damaged, $34.5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69275" y="2906268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69275" y="29062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960" dirty="0"/>
          </a:p>
        </p:txBody>
      </p:sp>
      <p:sp>
        <p:nvSpPr>
          <p:cNvPr id="32" name="Text 30"/>
          <p:cNvSpPr txBox="1"/>
          <p:nvPr/>
        </p:nvSpPr>
        <p:spPr>
          <a:xfrm>
            <a:off x="4608187" y="2877312"/>
            <a:ext cx="4078613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Thought: within 30 days, but the policy excludes opened and damaged items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169275" y="3310128"/>
            <a:ext cx="292608" cy="29260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169275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" dirty="0"/>
          </a:p>
        </p:txBody>
      </p:sp>
      <p:sp>
        <p:nvSpPr>
          <p:cNvPr id="35" name="Text 33"/>
          <p:cNvSpPr txBox="1"/>
          <p:nvPr/>
        </p:nvSpPr>
        <p:spPr>
          <a:xfrm>
            <a:off x="4608187" y="3310128"/>
            <a:ext cx="407861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Answer: No, this order is not eligible for a refund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session_3/3_1_prompting_techniques.py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Calling: The LLM Asks, the App Acts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its own, an LLM cannot query an API, send an email, read a database or run a function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5840" y="1609344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746504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3113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6888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"Most downloaded Jane Austen book on Project Gutenberg?"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00200" y="1883664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51760" y="1609344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Br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74650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39696" y="223113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139696" y="246888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need the book catalogue"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46120" y="1883664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297680" y="1609344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FileC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74650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85616" y="223113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785616" y="246888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search_gutenberg_books("Jane Austen")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92040" y="1883664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943600" y="1609344"/>
            <a:ext cx="548640" cy="548640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0" name="Image 3" descr="FaGea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74650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1536" y="223113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executes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431536" y="246888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code runs the function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537960" y="1883664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589520" y="1609344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5" name="Image 4" descr="FaRepl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746504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77456" y="223113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077456" y="246888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the result and replies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57200" y="3364992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21792" y="3474720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621792" y="3694176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executes anything. It only generates a structured request; the application decides whether and how to run it.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4" name="Text 2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session_3/3_2_tool_calling.py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in LangChain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with @tool, attach with bind_tools, and constrain inputs with Pydantic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35881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tool and bind it to the LLM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73625"/>
            <a:ext cx="3931920" cy="1519047"/>
          </a:xfrm>
          <a:prstGeom prst="roundRect">
            <a:avLst>
              <a:gd name="adj" fmla="val 301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83353"/>
            <a:ext cx="3657600" cy="1336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langchain_core.tools import tool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search_gutenberg_books(query: str) -&gt; str: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"""Search Project Gutenberg books."""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llm_with_tools = llm.bind_tools(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[search_gutenberg_books])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335881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in, Pydantic out (3_3)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573625"/>
            <a:ext cx="3931920" cy="2148459"/>
          </a:xfrm>
          <a:prstGeom prst="roundRect">
            <a:avLst>
              <a:gd name="adj" fmla="val 212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683353"/>
            <a:ext cx="3657600" cy="1965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SearchGutenbergInput(BaseModel):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query: str = Field(description="Title, author or subject")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@tool("search_gutenberg_books",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args_schema=SearchGutenbergInput)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search_gutenberg_books(query: str) -&gt; str: ...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BookAnswer(BaseModel):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str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author: str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download_count: int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structured_llm = llm.with_structured_output(BookAnswer)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4107847"/>
            <a:ext cx="393192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makes sure what goes to and from the LLM matches a schema – wrong types fail fast.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session_3/3_2_tool_calling.py, 3_3_tool_calling_pydantic.py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to Databases: SQLDatabaseToolkit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SQL query → answer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4188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product generated the highest total revenue?" – the agent inspects the schema, writes the SQL, runs it and explains the result. </a:t>
            </a:r>
            <a:pPr algn="l" indent="0" marL="0">
              <a:buNone/>
            </a:pPr>
            <a:r>
              <a:rPr lang="en-US" sz="12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3_6</a:t>
            </a:r>
            <a:pPr algn="l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asks the same kind of question with one hand-written </a:t>
            </a:r>
            <a:pPr algn="l" indent="0" marL="0">
              <a:buNone/>
            </a:pPr>
            <a:r>
              <a:rPr lang="en-US" sz="12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run_sql</a:t>
            </a:r>
            <a:pPr algn="l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tool on the OpenAI Agents SDK.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189988"/>
            <a:ext cx="4050792" cy="608076"/>
          </a:xfrm>
          <a:prstGeom prst="roundRect">
            <a:avLst>
              <a:gd name="adj" fmla="val 902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2308860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7" name="Image 0" descr="FaTable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2386584"/>
            <a:ext cx="155448" cy="1554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96696" y="2290572"/>
            <a:ext cx="33924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sql_db_list_tables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tables exist?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36008" y="2189988"/>
            <a:ext cx="4050792" cy="608076"/>
          </a:xfrm>
          <a:prstGeom prst="roundRect">
            <a:avLst>
              <a:gd name="adj" fmla="val 902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2308860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1" name="Image 1" descr="FaSitem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2386584"/>
            <a:ext cx="155448" cy="1554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75504" y="2290572"/>
            <a:ext cx="33924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sql_db_schema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of the chosen tables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4050792" cy="608076"/>
          </a:xfrm>
          <a:prstGeom prst="roundRect">
            <a:avLst>
              <a:gd name="adj" fmla="val 902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76072" y="3044952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Pla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" y="3122676"/>
            <a:ext cx="155448" cy="1554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96696" y="3026664"/>
            <a:ext cx="33924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sql_db_query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SQL query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636008" y="2926080"/>
            <a:ext cx="4050792" cy="608076"/>
          </a:xfrm>
          <a:prstGeom prst="roundRect">
            <a:avLst>
              <a:gd name="adj" fmla="val 902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754880" y="3044952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9" name="Image 3" descr="FaCircle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604" y="3122676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175504" y="3026664"/>
            <a:ext cx="33924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sql_db_query_checker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 query before running it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57200" y="3815334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21792" y="3925062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TIP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621792" y="4144518"/>
            <a:ext cx="7900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agent a read-only database user – an LLM that can write SQL can also write DELETE.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7" name="Text 2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session_3/3_4_create_sales_db.py → 3_5_sql_database_toolkit_agent.py, 3_6_sales_db_agent.py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Loop, in Our Own Code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bind_tools idea from 3_2, repeated until the LLM stops asking for tools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50785"/>
            <a:ext cx="45175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run_agent() from 3_5 (prints and try/except left out)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88529"/>
            <a:ext cx="4517525" cy="2657983"/>
          </a:xfrm>
          <a:prstGeom prst="roundRect">
            <a:avLst>
              <a:gd name="adj" fmla="val 172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98257"/>
            <a:ext cx="4243205" cy="2475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run_agent(question, max_steps=8):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 = [SystemMessage(SYSTEM_PROMPT),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HumanMessage(question)]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range(max_steps):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ai_message = llm_with_tools.invoke(messages)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messages.append(ai_message)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ai_message.tool_calls: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ai_message.content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tool_call in ai_message.tool_calls: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tool = tools_by_name[tool_call["name"]]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 = tool.invoke(tool_call["args"])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messages.append(ToolMessage(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content=str(result),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tool_call_id=tool_call["id"]))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40485" y="1485837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40485" y="148583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9" name="Text 7"/>
          <p:cNvSpPr txBox="1"/>
          <p:nvPr/>
        </p:nvSpPr>
        <p:spPr>
          <a:xfrm>
            <a:off x="5779397" y="1450785"/>
            <a:ext cx="2907403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LLM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sees the question and all results so far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40485" y="1967421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40485" y="196742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12" name="Text 10"/>
          <p:cNvSpPr txBox="1"/>
          <p:nvPr/>
        </p:nvSpPr>
        <p:spPr>
          <a:xfrm>
            <a:off x="5779397" y="1932369"/>
            <a:ext cx="2907403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calls?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this is the final answer, so stop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40485" y="2449005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40485" y="244900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5779397" y="2413953"/>
            <a:ext cx="2907403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tools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code runs them, not the LLM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40485" y="3010599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0485" y="301059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5779397" y="2895537"/>
            <a:ext cx="2907403" cy="522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results back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ToolMessage goes into the history; loop again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340485" y="3652203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40485" y="365220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21" name="Text 19"/>
          <p:cNvSpPr txBox="1"/>
          <p:nvPr/>
        </p:nvSpPr>
        <p:spPr>
          <a:xfrm>
            <a:off x="5779397" y="3537141"/>
            <a:ext cx="2907403" cy="522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the steps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max_steps stops a confused agent from looping forever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session_3/3_5_sql_database_toolkit_agent.py, 3_7_chaining_tool_outputs.py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Reasoning: Chaining Tools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should I wear outside today in Tokyo?" – no single tool can answer that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5840" y="163677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C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7739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city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96312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0020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51760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LocationD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77393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3969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geocode_city()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139696" y="2496312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latitude / longitude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4612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297680" y="1636776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CloudSu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7739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8561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get_current_weather()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785616" y="2496312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coordinates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9204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943600" y="1636776"/>
            <a:ext cx="548640" cy="548640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0" name="Image 3" descr="FaShi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77393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153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recommend_clothing()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431536" y="2496312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weather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53796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589520" y="163677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5" name="Image 4" descr="FaMapPi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773936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7745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find_nearby_places()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077456" y="2496312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coordinates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57200" y="3087624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21792" y="3197352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621792" y="3416808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3_7 runs this twice: first the agent decides each next tool, then the same chain is hardcoded with no LLM. The Flask app (3_8) puts a UI on the hardcoded version.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4" name="Text 2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session_3/3_7_chaining_tool_outputs.py, 3_8_chaining_tool_outputs_flask.py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Tool-Augmented Research Agent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web, dig deeper where needed, and save a report of what it found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211580" y="163677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CalendarDay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17739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585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get_current_date()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96312"/>
            <a:ext cx="198424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topic depends on recency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05940" y="1911096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268980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MagnifyingGl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140" y="177393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51176" y="22585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web_search()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551176" y="2496312"/>
            <a:ext cx="198424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(3_9) or SerpAPI (3_10)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863340" y="1911096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326380" y="1636776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C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17739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08576" y="22585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fetch_page_content()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608576" y="2496312"/>
            <a:ext cx="198424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 reads promising pages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920740" y="1911096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383780" y="1636776"/>
            <a:ext cx="548640" cy="548640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0" name="Image 3" descr="FaFileLin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40" y="177393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665976" y="22585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save_report()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665976" y="2496312"/>
            <a:ext cx="198424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file with sources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7200" y="3240024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21792" y="3349752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FRAMEWORK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621792" y="3569208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demos use the OpenAI Agents SDK from Session 1, not LangChain. The agent decides the tool order, and the script then checks that the report file really exists.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9" name="Text 2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session_3/3_9_research_agent_tools.py, 3_10_research_agent_tools_serp.py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 today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3_1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techniques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Few-shot, chain-of-thought, tree-of-thought and ReAct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9842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9842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3_2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956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tools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20370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@tool, bind_tools and Pydantic input schemas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100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100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3_5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4825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agent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72948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questions, with our own agent loop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1958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1958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3_7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683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chaining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1528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tool's output becomes the next tool's input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72160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7216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3_9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6941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94106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scrape and summarise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818888" y="1645920"/>
            <a:ext cx="3666744" cy="176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are the agent's operating manual – structure them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requests tool calls; your code runs them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docstring and schema are what make a tool usable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tools when one output is the next one's input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what tools can do (read-only DB, allow-lists)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4: LangGraph – Stateful Workflows and Routing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 Stateful Workflows and Routing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 LLM application as a graph: shared state, nodes that update it, and edges that decide what runs next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58115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CodeComp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67716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to reach for LangGraph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it differs from plain LangChain chains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34772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DiagramProje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44373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247900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graphs from state, nodes and edges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TypedDict state, StateGraph, conditional edges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302285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Rou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311886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3014472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and debug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output and LangGraph Studio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010912" y="200253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21208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LangGraph (LangChain vs LangGraph)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010912" y="229514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212080" y="2185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components: state, nodes, edges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010912" y="258775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212080" y="2478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first graph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010912" y="288036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212080" y="2770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010912" y="3172968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212080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010912" y="346557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5212080" y="3355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pipelines and LangGraph Studio</a:t>
            </a:r>
            <a:endParaRPr lang="en-US" sz="11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Work with LLMs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structure at each level: plain Python, a LangChain chain, and a LangGraph graph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2633472" cy="2167128"/>
          </a:xfrm>
          <a:prstGeom prst="roundRect">
            <a:avLst>
              <a:gd name="adj" fmla="val 253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80136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ABSTRACTION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2020824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7" name="Image 0" descr="Fa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2116836"/>
            <a:ext cx="192024" cy="1920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15568" y="202082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Python (OOP)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514600"/>
            <a:ext cx="2304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API calls; we write the flow, state and error handling ourselves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one-off calls, prototypes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55264" y="1636776"/>
            <a:ext cx="2633472" cy="2167128"/>
          </a:xfrm>
          <a:prstGeom prst="roundRect">
            <a:avLst>
              <a:gd name="adj" fmla="val 253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19856" y="180136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ABSTRACTION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19856" y="2020824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3" name="Image 1" descr="FaLi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868" y="2116836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13632" y="202082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(LCEL)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419856" y="2514600"/>
            <a:ext cx="2304288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declarative pipeline: prompt → LLM → parser → tool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linear; built-in retries and fallbacks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standard pipelines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53328" y="1636776"/>
            <a:ext cx="2633472" cy="2167128"/>
          </a:xfrm>
          <a:prstGeom prst="roundRect">
            <a:avLst>
              <a:gd name="adj" fmla="val 253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17920" y="180136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ABSTRACTION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217920" y="202082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9" name="Image 2" descr="FaDiagramProjec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32" y="2116836"/>
            <a:ext cx="192024" cy="19202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711696" y="202082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2514600"/>
            <a:ext cx="230428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and edges over an explicit, persistent state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Branches, loops, parallel paths, conditional routing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stateful, multi-step, multi-agent work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25" name="Text 20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vs LangGraph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builds on LangChain; it doesn't replace it</a:t>
            </a:r>
            <a:endParaRPr lang="en-US" sz="13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36776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LLMs with tools, retrievers and parsers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Complex, stateful, multi-agent applications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single-step or short chains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Multi-step, long-running, with loops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Minimal; memory handled outside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shared state across every step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predefined steps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branching and runtime decisions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Chatbots, document Q&amp;A, calculators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Automation, multi-agent orchestration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curve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Steeper: state, nodes, edges, coordination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 Four Key Components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greeting graph: ask for a name, then greet the user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719834"/>
            <a:ext cx="365760" cy="36576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11274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9264" y="1614678"/>
            <a:ext cx="38567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that flows through the graph and is updated at each step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442210"/>
            <a:ext cx="365760" cy="36576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8" name="Image 1" descr="FaCircleD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33650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69264" y="2337054"/>
            <a:ext cx="38567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step: takes the current state, returns an updated state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3164586"/>
            <a:ext cx="365760" cy="36576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1" name="Image 2" descr="Fa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56026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69264" y="3059430"/>
            <a:ext cx="38567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two nodes and decides how control flows between them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799332"/>
            <a:ext cx="365760" cy="365760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4" name="Image 3" descr="FaDiagramProjec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90772"/>
            <a:ext cx="182880" cy="1828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69264" y="3781806"/>
            <a:ext cx="3856736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structure that organises nodes and edges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939280" y="2007870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7" name="Shape 11"/>
          <p:cNvSpPr/>
          <p:nvPr/>
        </p:nvSpPr>
        <p:spPr>
          <a:xfrm>
            <a:off x="5933440" y="1614678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5988304" y="161467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939280" y="2647950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5933440" y="2254758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988304" y="225475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step_1 (ask_name)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939280" y="3288030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5933440" y="2894838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988304" y="289483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step_2 (greet_user)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933440" y="3534918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988304" y="353491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0" name="Text 24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session_4/4_1_langgraph_basic.py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with TypedDict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don't pass many variables to each other – they read and update one shared state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33538"/>
            <a:ext cx="33463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now knows which fields exist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71282"/>
            <a:ext cx="3346315" cy="664845"/>
          </a:xfrm>
          <a:prstGeom prst="roundRect">
            <a:avLst>
              <a:gd name="adj" fmla="val 687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981010"/>
            <a:ext cx="3071995" cy="48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InputState(TypedDict):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str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greeting: str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975039"/>
            <a:ext cx="3346315" cy="118872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3084767"/>
            <a:ext cx="30171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UPDATES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3304223"/>
            <a:ext cx="301713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can return only the fields it changed: classify_mood in 4_2 returns just {"mood": ...}, and LangGraph merges it in.</a:t>
            </a:r>
            <a:endParaRPr lang="en-US" sz="12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9275" y="1633538"/>
          <a:ext cx="4517525" cy="914400"/>
        </p:xfrm>
        <a:graphic>
          <a:graphicData uri="http://schemas.openxmlformats.org/drawingml/2006/table">
            <a:tbl>
              <a:tblPr/>
              <a:tblGrid>
                <a:gridCol w="1198527"/>
                <a:gridCol w="1567305"/>
                <a:gridCol w="1751693"/>
              </a:tblGrid>
              <a:tr h="243840"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 BaseModel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hints for dicts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and parsing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runtime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enforced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Enforced, with type conversion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supported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nested dicts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supported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– no checks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– validates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when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just need 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need validation (e.g. API input)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session_4/4_1_langgraph_basic.py, 4_2_greeter_graph.py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Graph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name, then greet the user – two nodes over a shared state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7234"/>
            <a:ext cx="44447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4_1_langgraph_basic.py (condensed)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74978"/>
            <a:ext cx="4444779" cy="3085084"/>
          </a:xfrm>
          <a:prstGeom prst="roundRect">
            <a:avLst>
              <a:gd name="adj" fmla="val 1482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84706"/>
            <a:ext cx="4170459" cy="290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InputState(TypedDict):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str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greeting: str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ask_name(state):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user_name = input("Bot: What's your name? ")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{"name": user_name, "greeting": ""}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greet_user(state):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state.get("name") or "there"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greeting = f"Hello {name}, nice to meet you!"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{"name": name, "greeting": greeting}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= StateGraph(InputState)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graph.add_node("step_1", ask_name)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graph.add_node("step_2", greet_user)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graph.add_edge(START, "step_1")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graph.add_edge("step_1", "step_2")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graph.add_edge("step_2", END)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graph.compile()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app.invoke({"name": "", "greeting": ""})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267739" y="1237234"/>
            <a:ext cx="56794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67739" y="1237234"/>
            <a:ext cx="56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63115" y="139268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73427" y="1237234"/>
            <a:ext cx="63398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73427" y="1237234"/>
            <a:ext cx="63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step_1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34843" y="139268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945155" y="1237234"/>
            <a:ext cx="63398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5155" y="1237234"/>
            <a:ext cx="63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step_2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06571" y="139268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816883" y="1237234"/>
            <a:ext cx="43586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16883" y="1237234"/>
            <a:ext cx="435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67739" y="2096770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9" name="Image 0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5463" y="2174494"/>
            <a:ext cx="155448" cy="15544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724939" y="1987042"/>
            <a:ext cx="296186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clipboard every node reads and writes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267739" y="2656840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2" name="Image 1" descr="FaCircleD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463" y="2734564"/>
            <a:ext cx="155448" cy="15544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724939" y="2627122"/>
            <a:ext cx="2961861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functions: state in, updated fields out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267739" y="3136900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5" name="Image 2" descr="Fa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5463" y="3214624"/>
            <a:ext cx="155448" cy="155448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724939" y="3107182"/>
            <a:ext cx="2961861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→ step_1 → step_2 → END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5267739" y="3696970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8" name="Image 3" descr="FaPla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5463" y="3774694"/>
            <a:ext cx="155448" cy="15544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5724939" y="3587242"/>
            <a:ext cx="296186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compile() and invoke()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runnable graph, then run it from an initial state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3" name="Text 2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session_4/4_1_langgraph_basic.py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Edges: Choosing the Next Node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edge always goes to the same node; a conditional edge picks one from the current state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9009"/>
            <a:ext cx="436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4_2_greeter_graph.py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06753"/>
            <a:ext cx="4368800" cy="1661414"/>
          </a:xfrm>
          <a:prstGeom prst="roundRect">
            <a:avLst>
              <a:gd name="adj" fmla="val 2752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816481"/>
            <a:ext cx="4094480" cy="1478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route_by_mood(state):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state["mood"]    # "happy" or "sad"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graph.add_conditional_edges(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"classify_mood",        # after this node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route_by_mood,          # call this function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{"happy": "cheerful_reply",     # label -&gt; next node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"sad": "sympathetic_reply"},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807079"/>
            <a:ext cx="4368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4_4</a:t>
            </a:r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uses only plain edges. </a:t>
            </a:r>
            <a:pPr algn="l"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4_5</a:t>
            </a:r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adds one conditional edge: positive news goes to </a:t>
            </a:r>
            <a:pPr algn="l"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invest_summary</a:t>
            </a:r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negative to </a:t>
            </a:r>
            <a:pPr algn="l"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alternatives_summary</a:t>
            </a:r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39280" y="1862201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33440" y="1469009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8304" y="1469009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flipH="1">
            <a:off x="5996940" y="2502281"/>
            <a:ext cx="942340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939280" y="2502281"/>
            <a:ext cx="942340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33440" y="2109089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8304" y="2109089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classify_mood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96940" y="3142361"/>
            <a:ext cx="942340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6939280" y="3142361"/>
            <a:ext cx="942340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91760" y="2749169"/>
            <a:ext cx="161036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46624" y="2749169"/>
            <a:ext cx="150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cheerful_reply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76440" y="2749169"/>
            <a:ext cx="161036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1304" y="2749169"/>
            <a:ext cx="150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sympathetic_reply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33440" y="3389249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88304" y="3389249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session_4/4_2_greeter_graph.py, 4_4_stock_price_graph.py, 4_5_stock_news_sentiment_graph.py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and LangGraph Studio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progress while the graph runs, and see the graph itself while you build it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36776"/>
            <a:ext cx="395478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7776"/>
            <a:ext cx="3954780" cy="125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the graph runs every node, then returns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stream_mode="updates"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each node's output as soon as it completes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stream_mode="messages"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LLM's answer token by token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see progress instead of waiting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732020" y="1636776"/>
            <a:ext cx="395478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Studio</a:t>
            </a:r>
            <a:pPr algn="l"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 visual IDE for graphs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32020" y="2017776"/>
            <a:ext cx="3954780" cy="1091946"/>
          </a:xfrm>
          <a:prstGeom prst="roundRect">
            <a:avLst>
              <a:gd name="adj" fmla="val 418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69180" y="2127504"/>
            <a:ext cx="3680460" cy="909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pip install "langgraph-cli[inmem]"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 dev --tunnel     # opens Studio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"domain not allowed"? Advanced settings →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Allowed domains: *.trycloudflare.com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pick stock_news, input: hdfcbank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Ctrl+C to stop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session_4/4_3_streaming_stock_recommendation.py, langgraph.json, 4_5_stock_news_sentiment_graph.py</a:t>
            </a:r>
            <a:endParaRPr lang="en-US" sz="8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ngGraph memory options: no memory, MemorySaver, SqliteSav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session_5/5_4_langgraph_memory.py (covered in Session 5)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LangGraph Examples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demos that combine everything so far – several continue into Session 5</a:t>
            </a:r>
            <a:endParaRPr lang="en-US" sz="135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36776"/>
          <a:ext cx="8229600" cy="914400"/>
        </p:xfrm>
        <a:graphic>
          <a:graphicData uri="http://schemas.openxmlformats.org/drawingml/2006/table">
            <a:tbl>
              <a:tblPr/>
              <a:tblGrid>
                <a:gridCol w="2235200"/>
                <a:gridCol w="3352800"/>
                <a:gridCol w="2641600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 summariser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API + conditional logic on news sentiment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4_6 (4_7 Ollama, 4_8 Gemini)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sector outlook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Multi-node research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4_9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security reviewer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planner agent decides the review steps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4_10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chatbot (real data)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FAQs in ChromaDB, ntfy.sh and Gmail, Flask 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session_5/5_7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from a Hugging Face dataset, apply to the bank bot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session_5/5_8 → 5_9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 memory +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from memory first, else the vector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session_5/5_10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session_4/4_6_…_news_summarizer.py (+4_7/4_8), 4_9_…_sector_outlook.py, 4_10_…_planner_agent.py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Sending Email from Code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notification demos send mail through Gmail with an app password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83258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8325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636776"/>
            <a:ext cx="7790688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Google Account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sign-in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8770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8770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141220"/>
            <a:ext cx="7790688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2-step verification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passwords are only available with it enabled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69214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921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645664"/>
            <a:ext cx="7790688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app password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"App passwords" option, or go to myaccount.google.com/apppasswords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19659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19659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150108"/>
            <a:ext cx="7790688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in .env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16-character password without spaces into </a:t>
            </a:r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GMAIL_APP_PASSWORD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session_5/5_7_langgraph_bank_ntfy_email_flask.py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 today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4_1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graph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two nodes, edges, compile and invoke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242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242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4_2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7967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greeter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04368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nodes and a conditional edge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500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4_3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3225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56946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by node, and token by token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757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8757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4_5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8483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Studio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09524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and debug the stock news graph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40156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40156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4_6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3741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summariser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62102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API-driven graph with sentiment-based branches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818888" y="1645920"/>
            <a:ext cx="3666744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LangGraph when you need state, branches or loops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the contract between nodes – design it first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return partial updates; LangGraph merges them into the state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 let the state choose the next node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for responsiveness; use Studio to see and debug the graph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5: LangGraph – Cycles, Human-in-the-Loop and Persistence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 Cycles, Human-in-the-Loop and Persistence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that loop until the work is good enough, pause for a human, and survive a crash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58115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ArrowsRot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67716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loops with a safe exit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 back to an earlier node, with a limit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25628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User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35229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247900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for human approval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interrupt() and resume with Command(resume=…)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93141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FloppyDis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302742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2831592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and recover state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checkpointers, thread IDs, SQLite crash recovery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606546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5" name="Image 3" descr="FaShieldHalve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70255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598164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and protect the graph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schema design, subgraphs, guardrails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10912" y="200253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and loops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10912" y="229514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212080" y="2185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(HITL)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10912" y="258775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12080" y="2478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Checkpointers and persistence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010912" y="288036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212080" y="2770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schema design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010912" y="3172968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12080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Subgraphs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010912" y="346557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212080" y="3355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banking chatbot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010912" y="375818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212080" y="36484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in LangGraph</a:t>
            </a:r>
            <a:endParaRPr lang="en-US" sz="11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in LangGraph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can run more than once – here, an answer is refined until the evaluator is satisfied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83920" y="163677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080" y="17739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58568"/>
            <a:ext cx="132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96312"/>
            <a:ext cx="1328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LLM to answer or improve; iterations + 1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478280" y="1911096"/>
            <a:ext cx="76200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286000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ScaleBalanc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77393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895856" y="2258568"/>
            <a:ext cx="132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895856" y="2496312"/>
            <a:ext cx="1328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LLM: continue or stop?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880360" y="1911096"/>
            <a:ext cx="76200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688080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5" name="Image 2" descr="FaCodeBran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240" y="17739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297936" y="2258568"/>
            <a:ext cx="132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should_continue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297936" y="2496312"/>
            <a:ext cx="1328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if iterations ≥ 3, else use the decision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 flipH="1">
            <a:off x="1158240" y="3319272"/>
            <a:ext cx="2804160" cy="914"/>
          </a:xfrm>
          <a:prstGeom prst="line">
            <a:avLst/>
          </a:prstGeom>
          <a:noFill/>
          <a:ln w="15875">
            <a:solidFill>
              <a:srgbClr val="EA4B71"/>
            </a:solidFill>
            <a:prstDash val="dash"/>
            <a:tailEnd type="triangle"/>
          </a:ln>
        </p:spPr>
      </p:sp>
      <p:sp>
        <p:nvSpPr>
          <p:cNvPr id="19" name="Text 14"/>
          <p:cNvSpPr txBox="1"/>
          <p:nvPr/>
        </p:nvSpPr>
        <p:spPr>
          <a:xfrm>
            <a:off x="1158240" y="3099816"/>
            <a:ext cx="280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→ back to answer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5029200" y="16367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is just a conditional edge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029200" y="1874520"/>
            <a:ext cx="3657600" cy="2088515"/>
          </a:xfrm>
          <a:prstGeom prst="roundRect">
            <a:avLst>
              <a:gd name="adj" fmla="val 2189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166360" y="1984248"/>
            <a:ext cx="3383280" cy="1905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AgentState(TypedDict):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question: str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answer: str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history: List[str]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iterations: int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decision: str   # "continue" | "stop"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builder.add_conditional_edges(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"evaluate",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should_continue,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{"continue": "answer",   # LOOP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"stop": END},           # EXIT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session_5/5_1_langgraph_looping_agents.py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Loops in a Workflow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order-processing state machine: approve, retry the payment, or give up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31620"/>
            <a:ext cx="37446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after payment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69364"/>
            <a:ext cx="3744686" cy="1451610"/>
          </a:xfrm>
          <a:prstGeom prst="roundRect">
            <a:avLst>
              <a:gd name="adj" fmla="val 315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879092"/>
            <a:ext cx="3470366" cy="1268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graph.add_conditional_edges(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"process_payment",        # source node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route_after_payment,      # routing function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"approved": "ship_order",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"retry":    "process_payment",   # loop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"give_up":  "fail_order",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67646" y="1554480"/>
            <a:ext cx="347472" cy="347472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8" name="Image 0" descr="FaCircle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4514" y="1641348"/>
            <a:ext cx="173736" cy="17373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61422" y="1531620"/>
            <a:ext cx="362537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to ship_order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67646" y="2093976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1" name="Image 1" descr="FaRotateRigh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514" y="2180844"/>
            <a:ext cx="173736" cy="1737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61422" y="2071116"/>
            <a:ext cx="362537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 to process_payment – this is the cycle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67646" y="2633472"/>
            <a:ext cx="347472" cy="347472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4" name="Image 2" descr="FaCircleXmar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514" y="2720340"/>
            <a:ext cx="173736" cy="1737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061422" y="2610612"/>
            <a:ext cx="362537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give_up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at fail_order after too many attempts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67646" y="3442716"/>
            <a:ext cx="4119154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732238" y="3552444"/>
            <a:ext cx="37899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4732238" y="3771900"/>
            <a:ext cx="37899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loop an exit: an attempt counter, a quality threshold, or both.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session_5/5_2_order_processing_state_machine.py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the graph at a risky step so a person can approve, edit or reject before it continues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83920" y="1517904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Recei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080" y="1655064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139696"/>
            <a:ext cx="132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evaluate_expense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377440"/>
            <a:ext cx="132892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assesses the claim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478280" y="1792224"/>
            <a:ext cx="76200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286000" y="1517904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Ha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65506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895856" y="2139696"/>
            <a:ext cx="132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human_approval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895856" y="2377440"/>
            <a:ext cx="132892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interrupt(…) pauses here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880360" y="1792224"/>
            <a:ext cx="76200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688080" y="1517904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Pla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240" y="165506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297936" y="2139696"/>
            <a:ext cx="132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297936" y="2377440"/>
            <a:ext cx="132892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invoke(Command(resume=decision))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3121152"/>
            <a:ext cx="42062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interrupt()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returns control to the caller with a payload to show the human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is saved by the checkpointer – a checkpointer is </a:t>
            </a:r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alternative: </a:t>
            </a:r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interrupt_before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interrupt_after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named node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5029200" y="1517904"/>
            <a:ext cx="365760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needed:</a:t>
            </a:r>
            <a:pPr algn="l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loan approvals, large transfers, medical recommendations, legal documents, contract signing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029200" y="2500884"/>
            <a:ext cx="3657600" cy="118872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193792" y="2610612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HITL SCREEN SHOWS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5193792" y="2830068"/>
            <a:ext cx="33284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AI's recommendation · supporting evidence and retrieved documents · a confidence score · a short reasoning summary · clear action buttons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session_5/5_3_human_approval_gate.py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graph's state so execution can continue later instead of starting over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336040"/>
            <a:ext cx="2657856" cy="608076"/>
          </a:xfrm>
          <a:prstGeom prst="roundRect">
            <a:avLst>
              <a:gd name="adj" fmla="val 902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" y="145491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1532636"/>
            <a:ext cx="155448" cy="1554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96696" y="1436624"/>
            <a:ext cx="199948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state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current field values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3072" y="1336040"/>
            <a:ext cx="2657856" cy="608076"/>
          </a:xfrm>
          <a:prstGeom prst="roundRect">
            <a:avLst>
              <a:gd name="adj" fmla="val 902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61944" y="1454912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LocationCrosshai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668" y="1532636"/>
            <a:ext cx="155448" cy="1554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82568" y="1436624"/>
            <a:ext cx="199948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node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execution stopped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28944" y="1336040"/>
            <a:ext cx="2657856" cy="608076"/>
          </a:xfrm>
          <a:prstGeom prst="roundRect">
            <a:avLst>
              <a:gd name="adj" fmla="val 902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47816" y="1454912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4" name="Image 2" descr="FaComm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540" y="1532636"/>
            <a:ext cx="155448" cy="1554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68440" y="1436624"/>
            <a:ext cx="199948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so far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2072132"/>
            <a:ext cx="2657856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76072" y="2191004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8" name="Image 3" descr="FaHashta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" y="2268728"/>
            <a:ext cx="155448" cy="1554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96696" y="2172716"/>
            <a:ext cx="1999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ID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run this state belongs to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243072" y="2072132"/>
            <a:ext cx="2657856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361944" y="2191004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2" name="Image 4" descr="FaPau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9668" y="2268728"/>
            <a:ext cx="155448" cy="1554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3782568" y="2172716"/>
            <a:ext cx="1999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interrupts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human must answer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028944" y="2072132"/>
            <a:ext cx="2657856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147816" y="2191004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6" name="Image 5" descr="FaList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5540" y="2268728"/>
            <a:ext cx="155448" cy="1554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568440" y="2172716"/>
            <a:ext cx="1999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Counters, flags, results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457200" y="3115564"/>
            <a:ext cx="4023360" cy="876808"/>
          </a:xfrm>
          <a:prstGeom prst="roundRect">
            <a:avLst>
              <a:gd name="adj" fmla="val 625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457200" y="3115564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594360" y="311556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persistence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594360" y="3627628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→ state → RAM → program ends → </a:t>
            </a:r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4663440" y="3115564"/>
            <a:ext cx="4023360" cy="876808"/>
          </a:xfrm>
          <a:prstGeom prst="roundRect">
            <a:avLst>
              <a:gd name="adj" fmla="val 625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4663440" y="3115564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4800600" y="311556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persistence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4800600" y="3627628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→ state → SQLite → program ends → </a:t>
            </a:r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100" dirty="0"/>
          </a:p>
        </p:txBody>
      </p:sp>
      <p:sp>
        <p:nvSpPr>
          <p:cNvPr id="36" name="Text 28"/>
          <p:cNvSpPr txBox="1"/>
          <p:nvPr/>
        </p:nvSpPr>
        <p:spPr>
          <a:xfrm>
            <a:off x="457200" y="4267708"/>
            <a:ext cx="8229600" cy="193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 ≠ memory.</a:t>
            </a:r>
            <a:pPr algn="l"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checkpointer answers "where was the agent?"; memory answers "what does the agent know?"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40" name="Text 32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session_5/5_4_langgraph_memory.py, 5_5_sqlite_checkpointing_crash_recovery.py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Recovery with a SQLite Checkpointer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transfer that crashes half-way, then resumes exactly where it stopped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211580" y="1407414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Pl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1544574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02920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266950"/>
            <a:ext cx="19842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thread_id = "transfer-1"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05940" y="1681734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268980" y="1407414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Min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140" y="154457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51176" y="202920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debit_account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551176" y="2266950"/>
            <a:ext cx="19842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 debited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863340" y="1681734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326380" y="1407414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FloppyDis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154457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08576" y="202920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608576" y="2266950"/>
            <a:ext cx="19842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SQLite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920740" y="1681734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383780" y="1407414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0" name="Image 3" descr="FaBur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40" y="154457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665976" y="202920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credit_account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665976" y="2266950"/>
            <a:ext cx="19842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crash on attempt 1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2858262"/>
            <a:ext cx="3678865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 – resume from disk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3231642"/>
            <a:ext cx="3678865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app.invoke(None, config)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None means "don't start fresh; resume this thread"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finds transfer-1 with debit_account already completed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only credit_account – the second attempt succeeds, and the debit is not repeated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4456105" y="2858262"/>
            <a:ext cx="4230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checkpoint holds for transfer-1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456105" y="3096006"/>
            <a:ext cx="4230695" cy="949579"/>
          </a:xfrm>
          <a:prstGeom prst="roundRect">
            <a:avLst>
              <a:gd name="adj" fmla="val 4815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4593265" y="3205734"/>
            <a:ext cx="3956375" cy="766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"amount": 250.00,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"completed_steps": ["debit_account"]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next node to run: credit_account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1" name="Text 2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session_5/5_5_sqlite_checkpointing_crash_recovery.py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State Schema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everything the agent needs while it works – each node reads it and adds to it</a:t>
            </a:r>
            <a:endParaRPr lang="en-US" sz="1350" dirty="0"/>
          </a:p>
        </p:txBody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41704"/>
          <a:ext cx="3574473" cy="914400"/>
        </p:xfrm>
        <a:graphic>
          <a:graphicData uri="http://schemas.openxmlformats.org/drawingml/2006/table">
            <a:tbl>
              <a:tblPr/>
              <a:tblGrid>
                <a:gridCol w="1390073"/>
                <a:gridCol w="2184400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 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user_query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current request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retrieved_docs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found by retrieval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tool_results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 returned by 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 reasoning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final_answer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response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user_profile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Preferences and profile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 workflow 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397433" y="1441704"/>
            <a:ext cx="4289367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"Am I eligible for a ₹50 lakh home loan?"</a:t>
            </a:r>
            <a:pPr algn="l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the state fills up as the graph runs: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397433" y="228447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397433" y="22844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8" name="Text 5"/>
          <p:cNvSpPr txBox="1"/>
          <p:nvPr/>
        </p:nvSpPr>
        <p:spPr>
          <a:xfrm>
            <a:off x="4836345" y="2249424"/>
            <a:ext cx="3850455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messages, user_query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97433" y="272034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97433" y="27203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11" name="Text 8"/>
          <p:cNvSpPr txBox="1"/>
          <p:nvPr/>
        </p:nvSpPr>
        <p:spPr>
          <a:xfrm>
            <a:off x="4836345" y="2685288"/>
            <a:ext cx="3850455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retrieval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retrieved_docs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97433" y="3156204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97433" y="31562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4" name="Text 11"/>
          <p:cNvSpPr txBox="1"/>
          <p:nvPr/>
        </p:nvSpPr>
        <p:spPr>
          <a:xfrm>
            <a:off x="4836345" y="3121152"/>
            <a:ext cx="3850455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tool execution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tool_results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97433" y="3592068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97433" y="35920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7" name="Text 14"/>
          <p:cNvSpPr txBox="1"/>
          <p:nvPr/>
        </p:nvSpPr>
        <p:spPr>
          <a:xfrm>
            <a:off x="4836345" y="3557016"/>
            <a:ext cx="3850455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reasoning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reasoning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397433" y="402793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397433" y="40279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20" name="Text 17"/>
          <p:cNvSpPr txBox="1"/>
          <p:nvPr/>
        </p:nvSpPr>
        <p:spPr>
          <a:xfrm>
            <a:off x="4836345" y="3992880"/>
            <a:ext cx="3850455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final_answer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inside a graph – split one huge workflow into smaller, reusable pieces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509168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36776"/>
            <a:ext cx="50916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parallel: medical_history + lab_analysis (subgraphs) + analyze_xray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576316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786628" y="1636776"/>
            <a:ext cx="861822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86628" y="1636776"/>
            <a:ext cx="8618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75882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86194" y="1636776"/>
            <a:ext cx="1069848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86194" y="1636776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386584"/>
            <a:ext cx="822960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5_6, each subgraph has its own state and nodes – e.g. lab_analysis runs load_lab_results → flag_abnormal_results → summarize_labs – and is called from one node of the main graph.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79064"/>
            <a:ext cx="2657856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" y="3297936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5" name="Image 0" descr="FaPuzzlePie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3375660"/>
            <a:ext cx="155448" cy="15544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96696" y="3279648"/>
            <a:ext cx="1999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responsibility each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subgraph does one well-defined job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43072" y="3179064"/>
            <a:ext cx="2657856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61944" y="3297936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9" name="Image 1" descr="FaRecy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668" y="3375660"/>
            <a:ext cx="155448" cy="15544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3782568" y="3279648"/>
            <a:ext cx="1999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the same subgraph into other graphs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028944" y="3179064"/>
            <a:ext cx="2657856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147816" y="3297936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3" name="Image 2" descr="FaMagnifyingGla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540" y="3375660"/>
            <a:ext cx="155448" cy="15544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568440" y="3279648"/>
            <a:ext cx="1999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test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a piece without running everything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session_5/5_6_medical_diagnosis_subgraphs.py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Stateful Banking Chatbot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assistant grows feature by feature across these scripts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211580" y="1609344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Be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1746504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3113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5_7  RAG + notifications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68880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FAQs in ChromaDB; ntfy for account opening, Gmail for loans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05940" y="1883664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268980" y="1609344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Fil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140" y="174650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51176" y="223113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5_8  Build a guardrail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551176" y="2468880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 examples from a Hugging Face dataset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863340" y="1883664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326380" y="1609344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ShieldHalv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174650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08576" y="223113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5_9  Guarded bot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608576" y="2468880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questions are blocked; an LLM explains why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920740" y="1883664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383780" y="1609344"/>
            <a:ext cx="548640" cy="548640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0" name="Image 3" descr="FaMemor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40" y="174650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665976" y="223113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5_10  STM + RAG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665976" y="2468880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short-term memory first, then the vector DB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7200" y="3364992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21792" y="3474720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IT, IN THIS ORDER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621792" y="3694176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5_7 builds the FAQ store that 5_9 reads: ask about opening an account (ntfy) or a loan (Gmail). Then run 5_8 and 5_9 and try an off-topic or unsafe question.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9" name="Text 2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session_5/5_7_…_email_flask.py, 5_8_…_guardrails.py, 5_9_…_bank_flask.py, 5_10_…_RAG_chatbot.py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uardrails in AI ag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session_5/5_8_langgraph_create_guardrails.py, 5_9_langgraph_guardrails_bank_flask.py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Guardrails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that keep a model within limits: safe, on-topic, accurate and within policy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05128"/>
            <a:ext cx="2657856" cy="600456"/>
          </a:xfrm>
          <a:prstGeom prst="roundRect">
            <a:avLst>
              <a:gd name="adj" fmla="val 913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" y="1524000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B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1601724"/>
            <a:ext cx="155448" cy="1554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96696" y="1505712"/>
            <a:ext cx="199948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blocking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restricted words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3072" y="1405128"/>
            <a:ext cx="2657856" cy="600456"/>
          </a:xfrm>
          <a:prstGeom prst="roundRect">
            <a:avLst>
              <a:gd name="adj" fmla="val 913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61944" y="1524000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Fil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668" y="1601724"/>
            <a:ext cx="155448" cy="1554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82568" y="1505712"/>
            <a:ext cx="199948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length, no URLs or code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28944" y="1405128"/>
            <a:ext cx="2657856" cy="600456"/>
          </a:xfrm>
          <a:prstGeom prst="roundRect">
            <a:avLst>
              <a:gd name="adj" fmla="val 913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47816" y="1524000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4" name="Image 2" descr="FaList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540" y="1601724"/>
            <a:ext cx="155448" cy="1554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68440" y="1505712"/>
            <a:ext cx="1999488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Allow-listed topics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product questions, say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2133600"/>
            <a:ext cx="2657856" cy="752856"/>
          </a:xfrm>
          <a:prstGeom prst="roundRect">
            <a:avLst>
              <a:gd name="adj" fmla="val 728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76072" y="2252472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8" name="Image 3" descr="FaBrai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" y="2330196"/>
            <a:ext cx="155448" cy="1554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96696" y="2234184"/>
            <a:ext cx="1999488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safety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similarity to harmful intent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243072" y="2133600"/>
            <a:ext cx="2657856" cy="752856"/>
          </a:xfrm>
          <a:prstGeom prst="roundRect">
            <a:avLst>
              <a:gd name="adj" fmla="val 728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361944" y="225247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2" name="Image 4" descr="FaCommen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9668" y="2330196"/>
            <a:ext cx="155448" cy="1554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3782568" y="2234184"/>
            <a:ext cx="1999488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guardrails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the context only"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028944" y="2133600"/>
            <a:ext cx="2657856" cy="752856"/>
          </a:xfrm>
          <a:prstGeom prst="roundRect">
            <a:avLst>
              <a:gd name="adj" fmla="val 728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147816" y="2252472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6" name="Image 5" descr="FaEras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5540" y="2330196"/>
            <a:ext cx="155448" cy="1554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568440" y="2234184"/>
            <a:ext cx="1999488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filtering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sensitive data, profanity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457200" y="3014472"/>
            <a:ext cx="2657856" cy="752856"/>
          </a:xfrm>
          <a:prstGeom prst="roundRect">
            <a:avLst>
              <a:gd name="adj" fmla="val 728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576072" y="3133344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30" name="Image 6" descr="FaScrewdriverWrench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" y="3211068"/>
            <a:ext cx="155448" cy="155448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996696" y="3115056"/>
            <a:ext cx="1999488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Tool-use limits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 search for medical queries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3243072" y="3014472"/>
            <a:ext cx="2657856" cy="752856"/>
          </a:xfrm>
          <a:prstGeom prst="roundRect">
            <a:avLst>
              <a:gd name="adj" fmla="val 728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3361944" y="3133344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34" name="Image 7" descr="FaGaugeHig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9668" y="3211068"/>
            <a:ext cx="155448" cy="155448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3782568" y="3115056"/>
            <a:ext cx="1999488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and abuse control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Throttling, authentication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6028944" y="3014472"/>
            <a:ext cx="2657856" cy="752856"/>
          </a:xfrm>
          <a:prstGeom prst="roundRect">
            <a:avLst>
              <a:gd name="adj" fmla="val 728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6147816" y="3133344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38" name="Image 8" descr="FaBookOpe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5540" y="3211068"/>
            <a:ext cx="155448" cy="155448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6568440" y="3115056"/>
            <a:ext cx="1999488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Retrieval-only answers with citations</a:t>
            </a:r>
            <a:endParaRPr lang="en-US" sz="1200" dirty="0"/>
          </a:p>
        </p:txBody>
      </p:sp>
      <p:sp>
        <p:nvSpPr>
          <p:cNvPr id="40" name="Text 29"/>
          <p:cNvSpPr txBox="1"/>
          <p:nvPr/>
        </p:nvSpPr>
        <p:spPr>
          <a:xfrm>
            <a:off x="457200" y="4206240"/>
            <a:ext cx="8229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demos build a semantic guardrail from a Hugging Face dataset (5_8), then put it in front of the bank chatbot (5_9).</a:t>
            </a:r>
            <a:endParaRPr lang="en-US" sz="1100" dirty="0"/>
          </a:p>
        </p:txBody>
      </p:sp>
      <p:sp>
        <p:nvSpPr>
          <p:cNvPr id="41" name="Shape 3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3" name="Text 3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44" name="Text 3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session_5/5_8_langgraph_create_guardrails.py, 5_9_langgraph_guardrails_bank_flask.py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 today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5_1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self-refining loop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→ evaluate → continue or stop, capped at 3 rounds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9842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9842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5_3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956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20370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interrupt() and Command(resume=…) for expense claims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700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5_5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642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recovery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88950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SQLite checkpointer resumes a half-done transfer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3558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3558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5_6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3284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57530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medical-diagnosis flow built from smaller graphs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0416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0416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5_9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0142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bank bot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6110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guardrails in front of RAG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818888" y="1645920"/>
            <a:ext cx="3666744" cy="159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is a conditional edge pointing backwards – always add an exit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needs a checkpointer to pause and resume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thread_id is how you pick which saved run to continue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state fields before writing nodes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belong on input, output and tool use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6: Multi-Agent Orchestration with CrewAI</a:t>
            </a:r>
            <a:endParaRPr lang="en-US" sz="1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with CrewAI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role-playing agents (crews) and the event-driven flows that control them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58115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PeopleGro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67716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crews from agents and tasks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goals, backstories, tools and processes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25628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DiagramProje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35229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247900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execution with Flows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@start, @listen, @router and shared state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83997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UserTi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293598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2831592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with managers and humans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crews, levels of autonomy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515106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5" name="Image 3" descr="FaShieldHalve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61111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415284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crews reliable and observable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structured output, guardrails, LangSmith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10912" y="199476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892808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concepts: agents, tasks, crews, process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10912" y="2271827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212080" y="2169871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crews for real tasks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10912" y="254889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12080" y="2446934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vs Flow, and conditional routing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010912" y="2825953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212080" y="2723998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crews and manager agents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010912" y="310301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12080" y="3001061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and controlled autonomy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010912" y="338008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212080" y="3278124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and knowledge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010912" y="3657143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212080" y="3555187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and agent-to-agent communication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010912" y="393420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212080" y="3832250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error handling and reliability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5010912" y="4211269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5212080" y="4109314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for crews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5010912" y="448833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5212080" y="4386377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crew application</a:t>
            </a:r>
            <a:endParaRPr lang="en-US" sz="11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CrewAI?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framework where AI agents with different roles collaborate on complex tasks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1933956" cy="2382012"/>
          </a:xfrm>
          <a:prstGeom prst="roundRect">
            <a:avLst>
              <a:gd name="adj" fmla="val 283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801368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2020824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7" name="Image 0" descr="Fa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2116836"/>
            <a:ext cx="192024" cy="1920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15568" y="2020824"/>
            <a:ext cx="1110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514600"/>
            <a:ext cx="16047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they do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they aim for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Backstory: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context that sharpens them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they can call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55748" y="1636776"/>
            <a:ext cx="1933956" cy="2382012"/>
          </a:xfrm>
          <a:prstGeom prst="roundRect">
            <a:avLst>
              <a:gd name="adj" fmla="val 283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20340" y="1801368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20340" y="2020824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3" name="Image 1" descr="FaList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116836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214116" y="2020824"/>
            <a:ext cx="1110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720340" y="2514600"/>
            <a:ext cx="1604772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to do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format and content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who does it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"Fetch the current financial snapshot for {ticker}"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654296" y="1636776"/>
            <a:ext cx="1933956" cy="2382012"/>
          </a:xfrm>
          <a:prstGeom prst="roundRect">
            <a:avLst>
              <a:gd name="adj" fmla="val 283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818888" y="1801368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818888" y="202082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9" name="Image 2" descr="FaUserTi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2116836"/>
            <a:ext cx="192024" cy="19202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312664" y="2020824"/>
            <a:ext cx="1110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4818888" y="2514600"/>
            <a:ext cx="16047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 tasks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the agents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process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the results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752844" y="1636776"/>
            <a:ext cx="1933956" cy="2382012"/>
          </a:xfrm>
          <a:prstGeom prst="roundRect">
            <a:avLst>
              <a:gd name="adj" fmla="val 283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917436" y="1801368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917436" y="2020824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5" name="Image 3" descr="FaScrewdriverWren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2116836"/>
            <a:ext cx="192024" cy="19202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11212" y="2020824"/>
            <a:ext cx="1110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6917436" y="2514600"/>
            <a:ext cx="16047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readers, web search, APIs, databases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tools for your domain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1" name="Text 2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session_6/6_1_crewai_basics.py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Basic Crew to an Advanced One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crew runs tasks in order; advanced applications also need orchestration, state and control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554480" y="1578864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MagnifyingGl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7160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00656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 Analyst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38400"/>
            <a:ext cx="26700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a stock snapshot with a tool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148840" y="1853184"/>
            <a:ext cx="21031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297680" y="1578864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P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71602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36976" y="2200656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Writer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3236976" y="2438400"/>
            <a:ext cx="26700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it into a plain-English brief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892040" y="1853184"/>
            <a:ext cx="21031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7040880" y="1578864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5" name="Image 2" descr="FaUserTi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71602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980176" y="2200656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980176" y="2438400"/>
            <a:ext cx="26700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two tasks in order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57200" y="3029712"/>
            <a:ext cx="58445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57200" y="3029712"/>
            <a:ext cx="5844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1069086" y="3185160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1279398" y="3029712"/>
            <a:ext cx="515112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1279398" y="3029712"/>
            <a:ext cx="51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1821942" y="3185160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2032254" y="3029712"/>
            <a:ext cx="515112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2032254" y="3029712"/>
            <a:ext cx="51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57200" y="3450336"/>
            <a:ext cx="58445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57200" y="3450336"/>
            <a:ext cx="5844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1069086" y="360578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1279398" y="3450336"/>
            <a:ext cx="1139190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1279398" y="3450336"/>
            <a:ext cx="11391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2446020" y="360578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2656332" y="3450336"/>
            <a:ext cx="58445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2656332" y="3450336"/>
            <a:ext cx="5844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3268218" y="360578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3478530" y="3450336"/>
            <a:ext cx="723138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3478530" y="3450336"/>
            <a:ext cx="723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5458408" y="3029712"/>
            <a:ext cx="3228392" cy="118872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5623000" y="3139440"/>
            <a:ext cx="2899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CREWS MUST ANSWER</a:t>
            </a:r>
            <a:endParaRPr lang="en-US" sz="900" dirty="0"/>
          </a:p>
        </p:txBody>
      </p:sp>
      <p:sp>
        <p:nvSpPr>
          <p:cNvPr id="39" name="Text 34"/>
          <p:cNvSpPr txBox="1"/>
          <p:nvPr/>
        </p:nvSpPr>
        <p:spPr>
          <a:xfrm>
            <a:off x="5623000" y="3358896"/>
            <a:ext cx="2899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happen next? · Which agent should act? · What carries forward? · What if the result is poor? · Where should a human step in?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43" name="Text 38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session_6/6_1_crewai_basics.py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ow context and memory work in Crew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session_6/6_2_crewai_document_generator.py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Examples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crews to run and adapt</a:t>
            </a:r>
            <a:endParaRPr lang="en-US" sz="1350" dirty="0"/>
          </a:p>
        </p:txBody>
      </p:sp>
      <p:graphicFrame>
        <p:nvGraphicFramePr>
          <p:cNvPr id="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36776"/>
          <a:ext cx="8229600" cy="914400"/>
        </p:xfrm>
        <a:graphic>
          <a:graphicData uri="http://schemas.openxmlformats.org/drawingml/2006/table">
            <a:tbl>
              <a:tblPr/>
              <a:tblGrid>
                <a:gridCol w="2150918"/>
                <a:gridCol w="4021282"/>
                <a:gridCol w="2057400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generator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Researches a technology and writes documentation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6_2_crewai_document_generator.py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analyser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Parses, analyses and summarises system logs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6_3_crewai_log_analyzer.py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bill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cost drivers in a GCP billing export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6_4_crewai_cloud_bill.py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data (marketaux.com key) with a Flask 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6_5_crewai_stock_analysis_flask.py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reviewer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review, without and with agent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6_11 vs 6_10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crew traced in LangSmith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6_14_crewai_observability.py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service bot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search, then low → reply, medium → email, high → ntfy alert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6_15 (embeddings) → 6_16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session_6/6_2 … 6_5, 6_10/6_11, 6_14, 6_15 → 6_16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vs Flow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= who does the work.  Flow = how the application runs.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32128"/>
            <a:ext cx="4023360" cy="1562608"/>
          </a:xfrm>
          <a:prstGeom prst="roundRect">
            <a:avLst>
              <a:gd name="adj" fmla="val 351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3212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321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44192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of agents working together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collaboration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perform the tasks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multi-agent work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532128"/>
            <a:ext cx="4023360" cy="1562608"/>
          </a:xfrm>
          <a:prstGeom prst="roundRect">
            <a:avLst>
              <a:gd name="adj" fmla="val 351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53212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5321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044192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the overall application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orchestration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happens next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complex, branching workflows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533648"/>
            <a:ext cx="58445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533648"/>
            <a:ext cx="5844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69086" y="3689096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279398" y="3533648"/>
            <a:ext cx="1208532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79398" y="3533648"/>
            <a:ext cx="1208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snapshot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15362" y="3689096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725674" y="3533648"/>
            <a:ext cx="1555242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25674" y="3533648"/>
            <a:ext cx="15552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on confidence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08348" y="3689096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18660" y="3533648"/>
            <a:ext cx="2248662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18660" y="3533648"/>
            <a:ext cx="22486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→ Crew analysis → Report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954272"/>
            <a:ext cx="2456688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954272"/>
            <a:ext cx="2456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→ Explain why not → Report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session_6/6_6_crew_vs_flow.py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Building Blocks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decorators plus a shared state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21473"/>
            <a:ext cx="1961388" cy="928116"/>
          </a:xfrm>
          <a:prstGeom prst="roundRect">
            <a:avLst>
              <a:gd name="adj" fmla="val 591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" y="1740345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Pl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1818069"/>
            <a:ext cx="155448" cy="1554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96696" y="1722057"/>
            <a:ext cx="130302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@start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flow begins (there can be several)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46604" y="1621473"/>
            <a:ext cx="1961388" cy="928116"/>
          </a:xfrm>
          <a:prstGeom prst="roundRect">
            <a:avLst>
              <a:gd name="adj" fmla="val 591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65476" y="1740345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EarList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18069"/>
            <a:ext cx="155448" cy="1554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86100" y="1722057"/>
            <a:ext cx="130302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@listen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when another step's output arrives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636008" y="1621473"/>
            <a:ext cx="1961388" cy="928116"/>
          </a:xfrm>
          <a:prstGeom prst="roundRect">
            <a:avLst>
              <a:gd name="adj" fmla="val 591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754880" y="1740345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4" name="Image 2" descr="FaCodeBran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604" y="1818069"/>
            <a:ext cx="155448" cy="1554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75504" y="1722057"/>
            <a:ext cx="130302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@router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which path to take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725412" y="1621473"/>
            <a:ext cx="1961388" cy="928116"/>
          </a:xfrm>
          <a:prstGeom prst="roundRect">
            <a:avLst>
              <a:gd name="adj" fmla="val 591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844284" y="1740345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8" name="Image 3" descr="FaDataba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818069"/>
            <a:ext cx="155448" cy="1554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64908" y="1722057"/>
            <a:ext cx="130302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→ update → pass forward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2988501"/>
            <a:ext cx="37664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on confidence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" y="3226245"/>
            <a:ext cx="3766457" cy="949579"/>
          </a:xfrm>
          <a:prstGeom prst="roundRect">
            <a:avLst>
              <a:gd name="adj" fmla="val 4815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94360" y="3335973"/>
            <a:ext cx="3492137" cy="766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@router(fetch_snapshot)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route_on_confidence(self):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self.state.confidence &gt;= 0.8: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"good"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"retry"</a:t>
            </a:r>
            <a:endParaRPr 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4543697" y="2988501"/>
            <a:ext cx="41431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Listeners subscribe to the route labels: </a:t>
            </a:r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@listen("good")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@listen("retry")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can converge again with </a:t>
            </a:r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or_(…)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hard-coded sequence – the flow decides at run time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7" name="Text 2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session_6/6_6_crew_vs_flow.py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Flow: Stock Research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 live snapshot, judge its quality, then analyse it with a crew – or explain why not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08418"/>
            <a:ext cx="436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6_6_crew_vs_flow.py (condensed)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46162"/>
            <a:ext cx="4368800" cy="2942717"/>
          </a:xfrm>
          <a:prstGeom prst="roundRect">
            <a:avLst>
              <a:gd name="adj" fmla="val 1554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55890"/>
            <a:ext cx="4094480" cy="2759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ResearchState(BaseModel):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ticker: str = "AAPL"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snapshot: str = ""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confidence: float = 0.0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report: str = ""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StockResearchFlow(Flow[ResearchState]):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@start()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fetch_snapshot(self): ...      # yfinance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@router(fetch_snapshot)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route_on_confidence(self): ... # good | retry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@listen("retry")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handle_low_confidence(self): ...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@listen("good")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analyze_with_crew(self): ...   # Crew.kickoff()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@listen(or_(handle_low_confidence,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analyze_with_crew))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finalize_report(self): ...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191760" y="135109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91760" y="135109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9" name="Text 7"/>
          <p:cNvSpPr txBox="1"/>
          <p:nvPr/>
        </p:nvSpPr>
        <p:spPr>
          <a:xfrm>
            <a:off x="5630672" y="1308418"/>
            <a:ext cx="3056128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Pydantic model shared by every step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191760" y="190049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91760" y="19004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12" name="Text 10"/>
          <p:cNvSpPr txBox="1"/>
          <p:nvPr/>
        </p:nvSpPr>
        <p:spPr>
          <a:xfrm>
            <a:off x="5630672" y="1777810"/>
            <a:ext cx="3056128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@start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the stock snapshot; confidence = share of fields present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191760" y="2449894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91760" y="24498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5630672" y="2407222"/>
            <a:ext cx="3056128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@router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 → "good", otherwise "retry"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191760" y="291928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91760" y="291928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5630672" y="2876614"/>
            <a:ext cx="3056128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@listen("good")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equity-analyst crew writes the take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191760" y="3388678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91760" y="338867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21" name="Text 19"/>
          <p:cNvSpPr txBox="1"/>
          <p:nvPr/>
        </p:nvSpPr>
        <p:spPr>
          <a:xfrm>
            <a:off x="5630672" y="3346006"/>
            <a:ext cx="3056128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or_(…)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converge in finalize_report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session_6/6_6_crew_vs_flow.py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Crews and Manager Agents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fixed researcher → analyst → writer chain, a manager decides who does what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 flipH="1">
            <a:off x="1056277" y="1837944"/>
            <a:ext cx="147247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528751" y="1837944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528751" y="1837944"/>
            <a:ext cx="147247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797231" y="1444752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52095" y="144475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Manager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56277" y="2478024"/>
            <a:ext cx="147247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28751" y="2478024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H="1">
            <a:off x="2528751" y="2478024"/>
            <a:ext cx="147247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2084832"/>
            <a:ext cx="1198154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" y="2084832"/>
            <a:ext cx="1088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29674" y="2084832"/>
            <a:ext cx="1198154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84538" y="2084832"/>
            <a:ext cx="1088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&amp; Sentiment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02149" y="2084832"/>
            <a:ext cx="1198154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57013" y="2084832"/>
            <a:ext cx="1088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97231" y="2724912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52095" y="272491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920343" y="1444752"/>
            <a:ext cx="3766457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overall objective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 work to specialists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their results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needs more work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the final output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529584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3639312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ONLY WHEN NEEDED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3858768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workflow is straightforward and not agentic, a sequential crew is simpler and cheaper than a manager agent.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session_6/6_7_hierarchical_crew.py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and Controlled Autonomy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how much the crew may do on its own</a:t>
            </a:r>
            <a:endParaRPr lang="en-US" sz="1350" dirty="0"/>
          </a:p>
        </p:txBody>
      </p:sp>
      <p:graphicFrame>
        <p:nvGraphicFramePr>
          <p:cNvPr id="9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36776"/>
          <a:ext cx="4517525" cy="914400"/>
        </p:xfrm>
        <a:graphic>
          <a:graphicData uri="http://schemas.openxmlformats.org/drawingml/2006/table">
            <a:tbl>
              <a:tblPr/>
              <a:tblGrid>
                <a:gridCol w="1505842"/>
                <a:gridCol w="1417263"/>
                <a:gridCol w="1594421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behaviour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Human-in-the-loop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human approves each 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a trade recommendation (this demo)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Human-on-the-loop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human supervises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review dashboard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Human-out-of-the-loop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autonomous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snapshot summary in 6_1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013643" y="2029968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6" name="Shape 3"/>
          <p:cNvSpPr/>
          <p:nvPr/>
        </p:nvSpPr>
        <p:spPr>
          <a:xfrm>
            <a:off x="6282123" y="1636776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36987" y="1636776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013643" y="2670048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6282123" y="2276856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36987" y="2276856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 flipH="1">
            <a:off x="6144963" y="3310128"/>
            <a:ext cx="868680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7013643" y="3310128"/>
            <a:ext cx="868680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282123" y="2916936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36987" y="2916936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13443" y="3557016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68307" y="3557016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→ Execute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150803" y="3557016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05667" y="3557016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→ Revise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session_6/6_8_human_in_the_loop.py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Knowledge and Structured Output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agents know, what they remember – and how they hand results to each other reliably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743456"/>
            <a:ext cx="347472" cy="34747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" y="1830324"/>
            <a:ext cx="173736" cy="1737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1636776"/>
            <a:ext cx="3101479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information do I need to know?" – documents given up front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450592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8" name="Image 1" descr="FaMem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" y="2537460"/>
            <a:ext cx="173736" cy="1737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50976" y="2343912"/>
            <a:ext cx="3101479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I remember from earlier work?" – retrieved when needed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3157728"/>
            <a:ext cx="347472" cy="347472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1" name="Image 2" descr="Fa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" y="3244596"/>
            <a:ext cx="173736" cy="1737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50976" y="3051048"/>
            <a:ext cx="3101479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state ≠ memory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this run's temporary context; memory outlives it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372495" y="1636776"/>
            <a:ext cx="58445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372495" y="1636776"/>
            <a:ext cx="5844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984381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5194693" y="1636776"/>
            <a:ext cx="1416558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194693" y="1636776"/>
            <a:ext cx="14165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638683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6848995" y="1636776"/>
            <a:ext cx="1347216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848995" y="1636776"/>
            <a:ext cx="134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schema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372495" y="2057400"/>
            <a:ext cx="93116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372495" y="2057400"/>
            <a:ext cx="9311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agent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4372495" y="2532888"/>
            <a:ext cx="43143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6_12_structured_outputs.py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372495" y="2770632"/>
            <a:ext cx="4314305" cy="1091946"/>
          </a:xfrm>
          <a:prstGeom prst="roundRect">
            <a:avLst>
              <a:gd name="adj" fmla="val 418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509655" y="2880360"/>
            <a:ext cx="4039985" cy="909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ResearchFinding(BaseModel):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company: str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revenue_growth: float   # 0.12 = 12%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risk_level: str         # low | medium | high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confidence: float       # 0-1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evidence: list[str]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session_6/6_9_memory_and_knowledge.py, 6_10 vs 6_11, 6_12_structured_outputs.py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Error Handling and Reliability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fail – plan for it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36776"/>
            <a:ext cx="39547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agents fail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0156"/>
            <a:ext cx="395478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incomplete information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wrong tool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invalid output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stuck in a loop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 on a service that is down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732020" y="1636776"/>
            <a:ext cx="39547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guardrail checks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732020" y="2010156"/>
            <a:ext cx="395478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demo: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states buy, hold or sell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demo: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gives reasoning, not one word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demo: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any claimed price is near the real one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common: required fields, evidence, confidence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common: read-only SQL, allowed value ranges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759708"/>
            <a:ext cx="653796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3759708"/>
            <a:ext cx="65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138428" y="3915156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348740" y="3759708"/>
            <a:ext cx="723138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48740" y="3759708"/>
            <a:ext cx="723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99310" y="3915156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309622" y="3759708"/>
            <a:ext cx="723138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309622" y="3759708"/>
            <a:ext cx="723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60192" y="3915156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70504" y="3759708"/>
            <a:ext cx="127787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70504" y="3759708"/>
            <a:ext cx="12778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/ policy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session_6/6_13_guardrails_and_reliability.py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with LangSmith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agent step, prompt, tool call and token count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36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636776"/>
            <a:ext cx="33057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at smith.langchain.com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094738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9473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048256"/>
            <a:ext cx="3305774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tracing project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→ New → market-research-crew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55270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5527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552700"/>
            <a:ext cx="33057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settings to .env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96418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964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2964180"/>
            <a:ext cx="33057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crew and open the trace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67646" y="1636776"/>
            <a:ext cx="41191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67646" y="1874520"/>
            <a:ext cx="4119154" cy="949579"/>
          </a:xfrm>
          <a:prstGeom prst="roundRect">
            <a:avLst>
              <a:gd name="adj" fmla="val 4815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4806" y="1984248"/>
            <a:ext cx="3844834" cy="766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LANGSMITH_TRACING="true"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LANGSMITH_ENDPOINT="https://api.smith.langchain.com"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LANGSMITH_API_KEY="your api key"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LANGSMITH_PROJECT="market-research-crew"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session_6/6_14_crewai_observability.py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 today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6_1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crew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tasks and a crew that combines their work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242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242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6_6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7967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04368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@start, @router and @listen around a stock-analysis crew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100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100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6_7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4825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crew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72948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agent delegating to specialists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3580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0358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6_12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0083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hand-offs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25526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outputs and guardrails between agents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5615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5615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6_16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5341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bot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78104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plus priority-based escalation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818888" y="1645920"/>
            <a:ext cx="3666744" cy="176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crew is about who works; a flow is about what happens next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roles, goals and expected outputs make agents dependable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manager agent only when the work really needs judgement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structured data between agents, not free text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everything – multi-agent bugs are hard to see otherwise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7: Multi-Agent Systems with Microsoft AutoGen</a:t>
            </a:r>
            <a:endParaRPr lang="en-US" sz="12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 with Microsoft AutoGen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cooperate by talking to each other – in teams, group chats and graphs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48971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58572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AssistantAgents with tools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clients, messages, streaming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07340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Bo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16941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065020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agents sync and async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get structured, multimodal output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74853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Comm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284454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2648712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agents into teams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round-robin, selector and Magentic-One group chats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515106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5" name="Image 3" descr="FaDiagramProjec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61111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415284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the conversation as a graph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GraphFlow with parallel branches and joins; memory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10912" y="200253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overview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10912" y="229514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212080" y="2185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AssistantAgent and tools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10912" y="258775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12080" y="2478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vs asynchronous agents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010912" y="288036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212080" y="2770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010912" y="3172968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12080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messages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010912" y="346557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212080" y="3355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/ group chats: round-robin, selector, magentic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010912" y="375818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212080" y="36484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GraphFlow (including parallel join)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010912" y="405079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212080" y="39410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at a Glance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open-source framework for agents that cooperate – fully asynchronous since v0.4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33472" cy="1792224"/>
          </a:xfrm>
          <a:prstGeom prst="roundRect">
            <a:avLst>
              <a:gd name="adj" fmla="val 306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536192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UI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1755648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7" name="Image 0" descr="FaWindowMaximiz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851660"/>
            <a:ext cx="192024" cy="1920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15568" y="175564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Studio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249424"/>
            <a:ext cx="2304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to prototype agents by drag and drop and watch them interact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demoing ideas or validating a workflow before coding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55264" y="1371600"/>
            <a:ext cx="2633472" cy="1792224"/>
          </a:xfrm>
          <a:prstGeom prst="roundRect">
            <a:avLst>
              <a:gd name="adj" fmla="val 306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19856" y="1536192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USE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19856" y="1755648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3" name="Image 1" descr="FaCom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868" y="1851660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13632" y="175564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AgentChat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419856" y="2249424"/>
            <a:ext cx="2304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Python API for single- and multi-agent conversational apps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dialogue and turn-taking matter most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53328" y="1371600"/>
            <a:ext cx="2633472" cy="1792224"/>
          </a:xfrm>
          <a:prstGeom prst="roundRect">
            <a:avLst>
              <a:gd name="adj" fmla="val 306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17920" y="1536192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LEVEL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217920" y="1755648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9" name="Image 2" descr="FaMicrochi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32" y="1851660"/>
            <a:ext cx="192024" cy="19202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711696" y="175564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2249424"/>
            <a:ext cx="2304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runtime: agents, messages, handlers at scale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many agents coordinate beyond simple chats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57200" y="3602736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21792" y="3712464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SESSION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621792" y="3931920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demo uses AgentChat (packages autogen-agentchat and autogen-ext) with an OpenAI model client – except 7_5, which uses Anthropic Claude.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session_7/7_1_autogen_basic.py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AutoGen Demos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concept per script, building up from a single agent to teams and graphs</a:t>
            </a:r>
            <a:endParaRPr lang="en-US" sz="1350" dirty="0"/>
          </a:p>
        </p:txBody>
      </p:sp>
      <p:graphicFrame>
        <p:nvGraphicFramePr>
          <p:cNvPr id="10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36776"/>
          <a:ext cx="3954780" cy="914400"/>
        </p:xfrm>
        <a:graphic>
          <a:graphicData uri="http://schemas.openxmlformats.org/drawingml/2006/table">
            <a:tbl>
              <a:tblPr/>
              <a:tblGrid>
                <a:gridCol w="3064955"/>
                <a:gridCol w="889826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adds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AssistantAgent syntax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7_1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a live forex API as a tool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7_2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a TextMessage instead of a plain 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7_3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agents, run one after the other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7_4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agents in parallel – Claude + Yahoo Finance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7_5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output (OpenAI models)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7_6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MultiModalMessage – text plus an image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7_7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32020" y="1636776"/>
          <a:ext cx="3954780" cy="914400"/>
        </p:xfrm>
        <a:graphic>
          <a:graphicData uri="http://schemas.openxmlformats.org/drawingml/2006/table">
            <a:tbl>
              <a:tblPr/>
              <a:tblGrid>
                <a:gridCol w="3064955"/>
                <a:gridCol w="889826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adds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Round-robin group chat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7_8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Selector group chat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7_9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Magentic-One group chat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7_10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Fact-check: "India never faced a recession in 30 years"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7_11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7_12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GraphFlow with a parallel join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7_13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7_14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session_7/7_1_* … 7_14_*</a:t>
            </a:r>
            <a:endParaRPr lang="en-US" sz="9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AssistantAgent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LLM-backed agent that can call Python functions as tools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367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7_2_autogen_forex_api.py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657600" cy="1893697"/>
          </a:xfrm>
          <a:prstGeom prst="roundRect">
            <a:avLst>
              <a:gd name="adj" fmla="val 2414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984248"/>
            <a:ext cx="3383280" cy="1710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AssistantAgent(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name="forex_agent",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model_client=OpenAIChatCompletionClient(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model="gpt-4o-mini"),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tools=[get_forex_rate],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main():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Console(agent.run_stream(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task="What is the current forex rate of USD to INR?"))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asyncio.run(main())</a:t>
            </a:r>
            <a:endParaRPr lang="en-US" sz="850" dirty="0"/>
          </a:p>
        </p:txBody>
      </p:sp>
      <p:graphicFrame>
        <p:nvGraphicFramePr>
          <p:cNvPr id="10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636776"/>
          <a:ext cx="4206240" cy="914400"/>
        </p:xfrm>
        <a:graphic>
          <a:graphicData uri="http://schemas.openxmlformats.org/drawingml/2006/table">
            <a:tbl>
              <a:tblPr/>
              <a:tblGrid>
                <a:gridCol w="1602377"/>
                <a:gridCol w="2603863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Identifies the agent among many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model_client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LLM backend that powers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functions – converted to FunctionTools with a schema automatically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system_message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Role, tone and 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reflect_on_tool_use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a self-check after tool calls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model_client_stream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Streams tokens as they arrive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session_7/7_2_autogen_forex_api.py, 7_3_autogen_forex_api_text_message.py</a:t>
            </a:r>
            <a:endParaRPr lang="en-US" sz="9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TextMessage Travels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user to the model and back, wrapped in message objects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5840" y="163677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7739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9631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TextMessage(content=…, source="User")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0020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51760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Inbo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77393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3969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139696" y="249631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agent.run_stream(task=text_message.content)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4612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297680" y="1636776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RightLef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7739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8561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785616" y="249631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to_model_message() – automatic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9204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943600" y="1636776"/>
            <a:ext cx="548640" cy="548640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0" name="Image 3" descr="FaMicrochi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77393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153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431536" y="249631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client generates a reply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53796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589520" y="163677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5" name="Image 4" descr="FaRepl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773936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7745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077456" y="249631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TextMessage(content="1 USD = 83.12 INR", source="forex_agent")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21792" y="3502152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BOTHER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621792" y="3721608"/>
            <a:ext cx="7900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objects carry who sent what – essential once several agents are talking in the same conversation.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4" name="Text 2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session_7/7_3_autogen_forex_api_text_message.py</a:t>
            </a:r>
            <a:endParaRPr lang="en-US" sz="9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vs Asynchronous Agents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1 idea again, now with AutoGen agents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4023360" cy="2298954"/>
          </a:xfrm>
          <a:prstGeom prst="roundRect">
            <a:avLst>
              <a:gd name="adj" fmla="val 238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3677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367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48840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finishes before the next starts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later steps need earlier outputs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reason about; slower on I/O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840736"/>
            <a:ext cx="3749040" cy="507492"/>
          </a:xfrm>
          <a:prstGeom prst="roundRect">
            <a:avLst>
              <a:gd name="adj" fmla="val 9009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50464"/>
            <a:ext cx="3474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 = await desc_agent.on_messages([...])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  = await context_agent.on_messages([...])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636776"/>
            <a:ext cx="4023360" cy="2298954"/>
          </a:xfrm>
          <a:prstGeom prst="roundRect">
            <a:avLst>
              <a:gd name="adj" fmla="val 238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63677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6367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148840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agents run together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tasks don't depend on each other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Faster; shared state is harder to manage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2840736"/>
            <a:ext cx="3749040" cy="912114"/>
          </a:xfrm>
          <a:prstGeom prst="roundRect">
            <a:avLst>
              <a:gd name="adj" fmla="val 5013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37760" y="2950464"/>
            <a:ext cx="347472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stock_task = asyncio.create_task(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stock_return_agent.on_messages(...))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index_task = asyncio.create_task(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index_return_agent.on_messages(...))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asyncio.gather(stock_task, index_task)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session_7/7_4_autogen_synchronous_agents.py, 7_5_autogen_asynchronous_agents.py</a:t>
            </a:r>
            <a:endParaRPr lang="en-US" sz="9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model return JSON that matches a schema, ready for the next step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211580" y="163677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FileLi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17739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585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job postings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96312"/>
            <a:ext cx="198424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description text (Kaggle LinkedIn jobs)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05940" y="1911096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268980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Rob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140" y="177393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51176" y="22585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agent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551176" y="2496312"/>
            <a:ext cx="198424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each description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863340" y="1911096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326380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5" name="Image 2" descr="FaTableLi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17739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08576" y="22585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608576" y="2496312"/>
            <a:ext cx="198424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company_name, role, location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920740" y="1911096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383780" y="1636776"/>
            <a:ext cx="548640" cy="548640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0" name="Image 3" descr="FaFileCo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40" y="177393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665976" y="22585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665976" y="2496312"/>
            <a:ext cx="198424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easy to parse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3240024"/>
            <a:ext cx="8229600" cy="193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supported with OpenAI models. The schema guarantees the downstream code always gets the same keys.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7" name="Text 2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session_7/7_6_autogen_structured_output.py</a:t>
            </a:r>
            <a:endParaRPr lang="en-US" sz="9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Teams: Agents Talking to Agents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speaks next is what distinguishes the team types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1933956" cy="1847088"/>
          </a:xfrm>
          <a:prstGeom prst="roundRect">
            <a:avLst>
              <a:gd name="adj" fmla="val 297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801368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ArrowsSp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897380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1801368"/>
            <a:ext cx="1110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295144"/>
            <a:ext cx="16047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take turns in a fixed order; everyone sees everything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primary and critic refine a text until the critic says STOP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55748" y="1636776"/>
            <a:ext cx="1933956" cy="1847088"/>
          </a:xfrm>
          <a:prstGeom prst="roundRect">
            <a:avLst>
              <a:gd name="adj" fmla="val 297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20340" y="1801368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1" name="Image 1" descr="FaHandPoin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1897380"/>
            <a:ext cx="192024" cy="1920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214116" y="1801368"/>
            <a:ext cx="1110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720340" y="2295144"/>
            <a:ext cx="1604772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picks the next speaker after each message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Reviewer, Coder and Tester – whoever is needed next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54296" y="1636776"/>
            <a:ext cx="1933956" cy="1847088"/>
          </a:xfrm>
          <a:prstGeom prst="roundRect">
            <a:avLst>
              <a:gd name="adj" fmla="val 297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18888" y="1801368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6" name="Image 2" descr="FaWandMagic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1897380"/>
            <a:ext cx="192024" cy="1920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12664" y="1801368"/>
            <a:ext cx="1110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Magentic-One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818888" y="2295144"/>
            <a:ext cx="1604772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general-purpose team for open-ended tasks over web and files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extract, summarise, analyse and review a PDF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752844" y="1636776"/>
            <a:ext cx="1933956" cy="1847088"/>
          </a:xfrm>
          <a:prstGeom prst="roundRect">
            <a:avLst>
              <a:gd name="adj" fmla="val 297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17436" y="1801368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1" name="Image 3" descr="FaRightLef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897380"/>
            <a:ext cx="192024" cy="1920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11212" y="1801368"/>
            <a:ext cx="1110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917436" y="2295144"/>
            <a:ext cx="1604772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hand off control with HandoffMessage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DataCollector passes results to a DataAnalyzer (no demo)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7" name="Text 2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session_7/7_8_…_round_robin_group_chat.py, 7_9_…_selector_….py, 7_10_…_magentic_….py</a:t>
            </a:r>
            <a:endParaRPr lang="en-US" sz="9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GraphFlow: Conversations as a Directed Graph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LangGraph, for AutoGen teams – sequential, parallel and conditional paths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752600"/>
            <a:ext cx="329184" cy="329184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CircleD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834896"/>
            <a:ext cx="164592" cy="164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2688" y="1636776"/>
            <a:ext cx="336053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are agents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are the allowed transitions, optionally conditional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375916"/>
            <a:ext cx="329184" cy="329184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8" name="Image 1" descr="FaCodeBran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458212"/>
            <a:ext cx="164592" cy="16459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32688" y="2343912"/>
            <a:ext cx="33605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Branches, loops, joins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out to parallel agents, then join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915412"/>
            <a:ext cx="329184" cy="329184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1" name="Image 2" descr="FaFlagChecker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2997708"/>
            <a:ext cx="164592" cy="16459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32688" y="2883408"/>
            <a:ext cx="33605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termination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turns, a stop signal, or graph completion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454908"/>
            <a:ext cx="329184" cy="329184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4" name="Image 3" descr="FaTriangleExclam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3537204"/>
            <a:ext cx="164592" cy="16459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32688" y="3422904"/>
            <a:ext cx="33605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experimental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API changes; design termination carefully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4658980" y="1636776"/>
            <a:ext cx="40278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7_13: two editors in parallel, one reviewer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658980" y="1874520"/>
            <a:ext cx="4027820" cy="1511554"/>
          </a:xfrm>
          <a:prstGeom prst="roundRect">
            <a:avLst>
              <a:gd name="adj" fmla="val 3025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796140" y="1984248"/>
            <a:ext cx="3753500" cy="1328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 = DiGraphBuilder()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builder.add_node(writer).add_node(editor1) \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.add_node(editor2).add_node(final_reviewer)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builder.add_edge("writer", "editor1")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builder.add_edge("writer", "editor2")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builder.add_edge("editor1", "final_reviewer")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builder.add_edge("editor2", "final_reviewer")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= GraphFlow(participants=builder.get_participants(),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graph=builder.build())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2" name="Text 16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session_7/7_12_autogen_graphflow.py, 7_13_autogen_graphflow_parallel_join.py</a:t>
            </a:r>
            <a:endParaRPr lang="en-US" sz="9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 AutoGen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facts and inject the relevant ones into the agent's context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36776"/>
            <a:ext cx="37446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7_14_autogen_memory.py (condensed)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744686" cy="1893697"/>
          </a:xfrm>
          <a:prstGeom prst="roundRect">
            <a:avLst>
              <a:gd name="adj" fmla="val 2414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984248"/>
            <a:ext cx="3470366" cy="1710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user_memory = ListMemory()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assistant_agent = AssistantAgent(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name="multilingual_assistant",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model_client=client,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memory=[user_memory],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preferred_language = input("...preferred language...")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user_memory.add(MemoryContent(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content=f"The user prefers replies in {preferred_language}.",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mime_type=MemoryMimeType.TEXT))</a:t>
            </a:r>
            <a:endParaRPr lang="en-US" sz="850" dirty="0"/>
          </a:p>
        </p:txBody>
      </p:sp>
      <p:graphicFrame>
        <p:nvGraphicFramePr>
          <p:cNvPr id="1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67646" y="1636776"/>
          <a:ext cx="4119154" cy="914400"/>
        </p:xfrm>
        <a:graphic>
          <a:graphicData uri="http://schemas.openxmlformats.org/drawingml/2006/table">
            <a:tbl>
              <a:tblPr/>
              <a:tblGrid>
                <a:gridCol w="1441704"/>
                <a:gridCol w="2677450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a fact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query()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 relevant facts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update_context()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 them into the agent's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clear()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close()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fresh / release resources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chronological list – demos, small tasks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search in a vector DB – RAG-style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session_7/7_14_autogen_memory.py</a:t>
            </a:r>
            <a:endParaRPr lang="en-US" sz="9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 today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7_2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tool-using agent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AssistantAgent calling a live forex API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242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242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7_5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7967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agents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04368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and Yahoo Finance agents run concurrently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500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7_6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3225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extraction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56946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postings → JSON via a Pydantic schema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757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8757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7_8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8483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chats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09524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Round-robin, selector and Magentic-One teams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40156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40156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7_13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3741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GraphFlow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62102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editors joined by a final reviewer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818888" y="1645920"/>
            <a:ext cx="3666744" cy="176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models collaboration as conversation between agents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async – use it to run independent agents together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type = the rule for who speaks next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GraphFlow brings explicit, graph-shaped control to teams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just context the framework injects for you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8: Agentic RAG and GraphRAG for Agents</a:t>
            </a:r>
            <a:endParaRPr lang="en-US" sz="12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8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and GraphRAG for Agents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simple retrieve-then-generate is not enough: smarter retrieval, self-checking, graphs – and how to measure it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58115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TriangleExclam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67716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why RAG fails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retrieval, noise, hallucination, fragmentation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25628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Rob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35229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247900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an agent drive retrieval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strategies, Self-RAG, corrective RAG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93141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RankingS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302742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2831592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what reaches the LLM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and hybrid keyword + semantic search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606546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5" name="Image 3" descr="FaCircleNod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70255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598164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facts and measure quality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GraphRAG, multi-hop reasoning, RAGAS metrics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10912" y="199476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892808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failure modes and advanced approaches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10912" y="2271827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212080" y="2169871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RAG vs agentic RAG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10912" y="254889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12080" y="2446934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reasoning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010912" y="2825953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212080" y="2723998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010912" y="310301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12080" y="3001061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RAG (CRAG)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010912" y="338008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212080" y="3278124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 retrieved chunks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010912" y="3657143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212080" y="3555187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010912" y="393420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212080" y="3832250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5010912" y="4211269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5212080" y="4109314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reasoning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5010912" y="448833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5212080" y="4386377"/>
            <a:ext cx="32918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RAG with RAGAS</a:t>
            </a:r>
            <a:endParaRPr lang="en-US" sz="115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RAG Fails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failure modes to recognise before reaching for a fix</a:t>
            </a:r>
            <a:endParaRPr lang="en-US" sz="1350" dirty="0"/>
          </a:p>
        </p:txBody>
      </p:sp>
      <p:graphicFrame>
        <p:nvGraphicFramePr>
          <p:cNvPr id="1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36776"/>
          <a:ext cx="8229600" cy="914400"/>
        </p:xfrm>
        <a:graphic>
          <a:graphicData uri="http://schemas.openxmlformats.org/drawingml/2006/table">
            <a:tbl>
              <a:tblPr/>
              <a:tblGrid>
                <a:gridCol w="1403873"/>
                <a:gridCol w="2226833"/>
                <a:gridCol w="2275242"/>
                <a:gridCol w="2323652"/>
              </a:tblGrid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causes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retrieval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answer is in the knowledge base but isn't retrieved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query wording, weak embeddings, top-k too small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has the ATM withdrawal limit; unrelated card-security chunks come back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Irrelevant context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Retrieved chunks aren't relevant enough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retrieval precision, too much top-k, no reranking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 question; shipping and warranty chunks retrieved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LLM states facts the context doesn't support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information, model assumptions, overconfidence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Context: refunds in 5 business days. LLM: "…and you'll receive an email confirmation"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in the middle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right chunk is retrieved but buried among others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much context, poor ordering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key clause sits at position 7 of 10 and is ignored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answer is split across chunks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fixed-size chunking, no overlap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rule and its exception land in different chunks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session_8/8_1_rag_hallucination_eval.py</a:t>
            </a:r>
            <a:endParaRPr lang="en-US" sz="9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Advanced-RAG Toolbox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techniques, each aimed at a specific weakness – this session demos most of them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397508"/>
            <a:ext cx="1961388" cy="905256"/>
          </a:xfrm>
          <a:prstGeom prst="roundRect">
            <a:avLst>
              <a:gd name="adj" fmla="val 606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" y="1516380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1594104"/>
            <a:ext cx="155448" cy="1554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96696" y="1498092"/>
            <a:ext cx="13030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decides what, how and when to retrieve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46604" y="1397508"/>
            <a:ext cx="1961388" cy="905256"/>
          </a:xfrm>
          <a:prstGeom prst="roundRect">
            <a:avLst>
              <a:gd name="adj" fmla="val 606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65476" y="1516380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RotateRigh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594104"/>
            <a:ext cx="155448" cy="1554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86100" y="1498092"/>
            <a:ext cx="13030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its draft answer; regenerates if unsupported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636008" y="1397508"/>
            <a:ext cx="1961388" cy="905256"/>
          </a:xfrm>
          <a:prstGeom prst="roundRect">
            <a:avLst>
              <a:gd name="adj" fmla="val 606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754880" y="1516380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4" name="Image 2" descr="FaGlob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604" y="1594104"/>
            <a:ext cx="155448" cy="1554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75504" y="1498092"/>
            <a:ext cx="13030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RAG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web search when local fails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725412" y="1397508"/>
            <a:ext cx="1961388" cy="905256"/>
          </a:xfrm>
          <a:prstGeom prst="roundRect">
            <a:avLst>
              <a:gd name="adj" fmla="val 606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844284" y="1516380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8" name="Image 3" descr="FaRankingSt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594104"/>
            <a:ext cx="155448" cy="1554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64908" y="1498092"/>
            <a:ext cx="13030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stronger model re-orders the chunks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2430780"/>
            <a:ext cx="1961388" cy="905256"/>
          </a:xfrm>
          <a:prstGeom prst="roundRect">
            <a:avLst>
              <a:gd name="adj" fmla="val 606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76072" y="254965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2" name="Image 4" descr="FaLightbul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" y="2627376"/>
            <a:ext cx="155448" cy="1554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96696" y="2531364"/>
            <a:ext cx="13030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 hypothetical answer, search with it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2546604" y="2430780"/>
            <a:ext cx="1961388" cy="905256"/>
          </a:xfrm>
          <a:prstGeom prst="roundRect">
            <a:avLst>
              <a:gd name="adj" fmla="val 606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2665476" y="2549652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6" name="Image 5" descr="FaClon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2627376"/>
            <a:ext cx="155448" cy="1554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086100" y="2531364"/>
            <a:ext cx="13030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expansion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rewrites of the question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4636008" y="2430780"/>
            <a:ext cx="1961388" cy="905256"/>
          </a:xfrm>
          <a:prstGeom prst="roundRect">
            <a:avLst>
              <a:gd name="adj" fmla="val 606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4754880" y="2549652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30" name="Image 6" descr="FaCircleNode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2604" y="2627376"/>
            <a:ext cx="155448" cy="155448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175504" y="2531364"/>
            <a:ext cx="13030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and relationships as a graph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6725412" y="2430780"/>
            <a:ext cx="1961388" cy="905256"/>
          </a:xfrm>
          <a:prstGeom prst="roundRect">
            <a:avLst>
              <a:gd name="adj" fmla="val 606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6844284" y="2549652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34" name="Image 7" descr="FaShuffl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2008" y="2627376"/>
            <a:ext cx="155448" cy="155448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264908" y="2531364"/>
            <a:ext cx="13030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keyword and vector search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457200" y="3464052"/>
            <a:ext cx="1961388" cy="935736"/>
          </a:xfrm>
          <a:prstGeom prst="roundRect">
            <a:avLst>
              <a:gd name="adj" fmla="val 586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576072" y="3582924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38" name="Image 8" descr="FaStair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" y="3660648"/>
            <a:ext cx="155448" cy="155448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996696" y="3564636"/>
            <a:ext cx="1303020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several facts to one answer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2546604" y="3464052"/>
            <a:ext cx="1961388" cy="935736"/>
          </a:xfrm>
          <a:prstGeom prst="roundRect">
            <a:avLst>
              <a:gd name="adj" fmla="val 586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2665476" y="3582924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42" name="Image 9" descr="FaBrai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0" y="3660648"/>
            <a:ext cx="155448" cy="155448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3086100" y="3564636"/>
            <a:ext cx="1303020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reasoning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and decide on retrieved facts</a:t>
            </a:r>
            <a:endParaRPr lang="en-US" sz="1200" dirty="0"/>
          </a:p>
        </p:txBody>
      </p:sp>
      <p:sp>
        <p:nvSpPr>
          <p:cNvPr id="44" name="Shape 32"/>
          <p:cNvSpPr/>
          <p:nvPr/>
        </p:nvSpPr>
        <p:spPr>
          <a:xfrm>
            <a:off x="4636008" y="3464052"/>
            <a:ext cx="1961388" cy="935736"/>
          </a:xfrm>
          <a:prstGeom prst="roundRect">
            <a:avLst>
              <a:gd name="adj" fmla="val 586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4754880" y="3582924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46" name="Image 10" descr="FaGaugeHigh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32604" y="3660648"/>
            <a:ext cx="155448" cy="155448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5175504" y="3564636"/>
            <a:ext cx="1303020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retrieval and answer quality</a:t>
            </a:r>
            <a:endParaRPr lang="en-US" sz="1200" dirty="0"/>
          </a:p>
        </p:txBody>
      </p:sp>
      <p:sp>
        <p:nvSpPr>
          <p:cNvPr id="48" name="Shape 35"/>
          <p:cNvSpPr/>
          <p:nvPr/>
        </p:nvSpPr>
        <p:spPr>
          <a:xfrm>
            <a:off x="6725412" y="3464052"/>
            <a:ext cx="1961388" cy="935736"/>
          </a:xfrm>
          <a:prstGeom prst="roundRect">
            <a:avLst>
              <a:gd name="adj" fmla="val 586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9" name="Shape 36"/>
          <p:cNvSpPr/>
          <p:nvPr/>
        </p:nvSpPr>
        <p:spPr>
          <a:xfrm>
            <a:off x="6844284" y="3582924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50" name="Image 11" descr="FaShieldHalved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22008" y="3660648"/>
            <a:ext cx="155448" cy="155448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7264908" y="3564636"/>
            <a:ext cx="1303020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checks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backed by context</a:t>
            </a:r>
            <a:endParaRPr lang="en-US" sz="1200" dirty="0"/>
          </a:p>
        </p:txBody>
      </p:sp>
      <p:sp>
        <p:nvSpPr>
          <p:cNvPr id="52" name="Shape 3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3" name="Shape 3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4" name="Text 4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55" name="Text 4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RAG vs Agentic RAG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pipeline vs an agent that plans its retrieval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4023360" cy="2014728"/>
          </a:xfrm>
          <a:prstGeom prst="roundRect">
            <a:avLst>
              <a:gd name="adj" fmla="val 272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3677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367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RAG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48840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retrieval pipeline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once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call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planning; follows a predefined sequence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architecture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straightforward Q&amp;A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636776"/>
            <a:ext cx="4023360" cy="2014728"/>
          </a:xfrm>
          <a:prstGeom prst="roundRect">
            <a:avLst>
              <a:gd name="adj" fmla="val 272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63677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6367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148840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Intelligent, dynamic workflow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as many times as needed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reasoning steps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Plans, then chooses the best path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agent architecture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complex problem solving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session_8/8_3_…_vs_agentic_rag.py, 8_4_…_serp.py, 8_5_…_traditional_rag.py vs 8_6_…_agentic_rag.py</a:t>
            </a:r>
            <a:endParaRPr lang="en-US" sz="85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raditional RAG vs agentic RAG f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session_8/8_3_traditional_vs_agentic_rag.py (FAQ index from 8_2_support_ticketing_agent_hitl.py)</a:t>
            </a:r>
            <a:endParaRPr lang="en-US" sz="85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Retrieval Strategies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system picks how to retrieve – including not retrieving at all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2657856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" y="1755648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ForwardFa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1833372"/>
            <a:ext cx="155448" cy="1554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96696" y="1737360"/>
            <a:ext cx="1999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retrieval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directly when existing knowledge is enough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3072" y="1636776"/>
            <a:ext cx="2657856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61944" y="1755648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MagnifyingGl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668" y="1833372"/>
            <a:ext cx="155448" cy="1554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82568" y="1737360"/>
            <a:ext cx="1999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retrieval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once for simple factual questions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28944" y="1636776"/>
            <a:ext cx="2657856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47816" y="1755648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4" name="Image 2" descr="FaRota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540" y="1833372"/>
            <a:ext cx="155448" cy="1554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68440" y="1737360"/>
            <a:ext cx="1999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retrieval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more when the first pass isn't enough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2532888"/>
            <a:ext cx="2657856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76072" y="2651760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8" name="Image 3" descr="FaPenToSqua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" y="2729484"/>
            <a:ext cx="155448" cy="1554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96696" y="2633472"/>
            <a:ext cx="1999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reformulation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question for better search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243072" y="2532888"/>
            <a:ext cx="2657856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361944" y="2651760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2" name="Image 4" descr="FaLayerGrou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9668" y="2729484"/>
            <a:ext cx="155448" cy="1554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3782568" y="2633472"/>
            <a:ext cx="1999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 FAQ knowledge base, web search and a calculator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028944" y="2532888"/>
            <a:ext cx="2657856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147816" y="2651760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6" name="Image 5" descr="FaScrewdriverWrenc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5540" y="2729484"/>
            <a:ext cx="155448" cy="1554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568440" y="2633472"/>
            <a:ext cx="1999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Tool-based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tool for the request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1" name="Text 2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session_8/8_7_adaptive_retrieval_strategies.py, 8_8_adaptive_retrieval_strategies_serp.py</a:t>
            </a:r>
            <a:endParaRPr lang="en-US" sz="9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Reasoning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supplies the facts; reasoning uses them to solve the user's problem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01648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611376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830832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 get a ₹50 lakh home loan? My salary is ₹18 lakh a year, I already have a car loan, and my credit score is 760."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763520"/>
            <a:ext cx="4023360" cy="1532128"/>
          </a:xfrm>
          <a:prstGeom prst="roundRect">
            <a:avLst>
              <a:gd name="adj" fmla="val 358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763520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7635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finds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275584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eligibility policy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interest rates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 and existing loans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Credit-score rules, RBI lending rules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763520"/>
            <a:ext cx="4023360" cy="1532128"/>
          </a:xfrm>
          <a:prstGeom prst="roundRect">
            <a:avLst>
              <a:gd name="adj" fmla="val 358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763520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27635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does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275584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debt-to-income ratio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credit-score eligibility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policy rules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out the maximum amount and suitable options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session_8/8_9_loan_eligibility_rag_reasoning.py</a:t>
            </a:r>
            <a:endParaRPr lang="en-US" sz="9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Cohere RAG Pipeline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Embed, rerank and generate – with grounding built into the chat endpoint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554480" y="163677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Cub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7739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58568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embed()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96312"/>
            <a:ext cx="267004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1536-dim vectors (embed-v4.0)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148840" y="1911096"/>
            <a:ext cx="21031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297680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RankingSt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77393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36976" y="2258568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rerank()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3236976" y="2496312"/>
            <a:ext cx="267004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324 FAQs → the top 3 for the query (rerank-v3.5)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892040" y="1911096"/>
            <a:ext cx="21031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7040880" y="1636776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Comm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7739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980176" y="2258568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chat()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980176" y="2496312"/>
            <a:ext cx="267004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the reranked FAQs passed as documents=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57200" y="3240024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21792" y="3349752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" y="3569208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get my money back for an order?" – reranking correctly surfaces the three refund FAQs. Cohere's chat endpoint grounds the answer itself; with OpenAI you build that prompt yourself.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4" name="Text 19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session_8/8_10_cohere_rag_pipeline.py</a:t>
            </a:r>
            <a:endParaRPr lang="en-US" sz="9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Self-RAG: Don't Trust the First Draft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→ draft → critique the draft → regenerate if needed → answer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5840" y="163677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7739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9631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after 3 years? Can I switch insurer?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0020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51760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MagnifyingGl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77393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3969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139696" y="249631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from the insurance policy KB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4612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297680" y="1636776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FileLin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7739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8561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785616" y="249631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answer from those chunks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9204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943600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0" name="Image 3" descr="FaScaleBalance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77393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153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431536" y="249631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backed? Question fully answered?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53796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589520" y="1636776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5" name="Image 4" descr="FaRotateRigh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773936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7745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077456" y="249631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grounding or a follow-up retrieval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 flipH="1">
            <a:off x="1280160" y="3166872"/>
            <a:ext cx="6583680" cy="914"/>
          </a:xfrm>
          <a:prstGeom prst="line">
            <a:avLst/>
          </a:prstGeom>
          <a:noFill/>
          <a:ln w="15875">
            <a:solidFill>
              <a:srgbClr val="EA4B71"/>
            </a:solidFill>
            <a:prstDash val="dash"/>
            <a:tailEnd type="triangle"/>
          </a:ln>
        </p:spPr>
      </p:sp>
      <p:sp>
        <p:nvSpPr>
          <p:cNvPr id="29" name="Text 22"/>
          <p:cNvSpPr txBox="1"/>
          <p:nvPr/>
        </p:nvSpPr>
        <p:spPr>
          <a:xfrm>
            <a:off x="1280160" y="29474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not supported → regenerate, at most 2 more times</a:t>
            </a:r>
            <a:endParaRPr lang="en-US" sz="950" dirty="0"/>
          </a:p>
        </p:txBody>
      </p:sp>
      <p:sp>
        <p:nvSpPr>
          <p:cNvPr id="30" name="Text 23"/>
          <p:cNvSpPr txBox="1"/>
          <p:nvPr/>
        </p:nvSpPr>
        <p:spPr>
          <a:xfrm>
            <a:off x="457200" y="3678936"/>
            <a:ext cx="8229600" cy="193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catches what grading documents cannot: the chunks were relevant, but the answer still overreached beyond them.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4" name="Text 2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session_8/8_11_self_rag.py</a:t>
            </a:r>
            <a:endParaRPr lang="en-US" sz="9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RAG (CRAG)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local knowledge fails, fall back to the web instead of guessing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572547" y="1618488"/>
            <a:ext cx="914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886747" y="1225296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1611" y="1225296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72547" y="2368296"/>
            <a:ext cx="914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886747" y="1975104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41611" y="197510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from the vector DB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flipH="1">
            <a:off x="1070876" y="3118104"/>
            <a:ext cx="1501672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72547" y="3118104"/>
            <a:ext cx="914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72547" y="3118104"/>
            <a:ext cx="1501672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682275" y="3145536"/>
            <a:ext cx="20056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are relevant?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86747" y="2724912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41611" y="272491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the documents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70876" y="3867912"/>
            <a:ext cx="1501672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H="1">
            <a:off x="2572547" y="3867912"/>
            <a:ext cx="914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H="1">
            <a:off x="2572547" y="3867912"/>
            <a:ext cx="1501672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" y="3474720"/>
            <a:ext cx="1227352" cy="365760"/>
          </a:xfrm>
          <a:prstGeom prst="roundRect">
            <a:avLst>
              <a:gd name="adj" fmla="val 15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2064" y="3474720"/>
            <a:ext cx="111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All: KB only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958872" y="3474720"/>
            <a:ext cx="1227352" cy="365760"/>
          </a:xfrm>
          <a:prstGeom prst="roundRect">
            <a:avLst>
              <a:gd name="adj" fmla="val 15000"/>
            </a:avLst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013736" y="3474720"/>
            <a:ext cx="111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Some: KB + web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60543" y="3474720"/>
            <a:ext cx="1227352" cy="36576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15407" y="3474720"/>
            <a:ext cx="111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None: web only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86747" y="4224528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941611" y="422452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answer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007935" y="1225296"/>
            <a:ext cx="3678865" cy="143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RAG answers from whatever it retrieved – even the wrong thing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 grades the retrieved chunks first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relevant: refine them, then add a web search. None: rewrite the query and use the web only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comes from the best evidence available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07935" y="2819908"/>
            <a:ext cx="3678865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72527" y="2929636"/>
            <a:ext cx="33496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 VS CRAG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172527" y="3149092"/>
            <a:ext cx="334968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 grades the generated answer; CRAG grades the retrieved documents and can change source.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session_8/8_12_corrective_rag.py</a:t>
            </a:r>
            <a:endParaRPr lang="en-US" sz="9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Retrieved Chunks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similar chunk is not always the most relevant one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16964"/>
            <a:ext cx="58445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16964"/>
            <a:ext cx="5844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69086" y="177241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279398" y="1616964"/>
            <a:ext cx="113919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79398" y="1616964"/>
            <a:ext cx="11391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46020" y="177241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56332" y="1616964"/>
            <a:ext cx="113919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6332" y="1616964"/>
            <a:ext cx="11391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chunks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22954" y="177241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033266" y="1616964"/>
            <a:ext cx="792480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33266" y="1616964"/>
            <a:ext cx="79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53178" y="177241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63490" y="1616964"/>
            <a:ext cx="653796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63490" y="1616964"/>
            <a:ext cx="65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3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44718" y="177241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955030" y="1616964"/>
            <a:ext cx="44577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55030" y="1616964"/>
            <a:ext cx="4457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50" dirty="0"/>
          </a:p>
        </p:txBody>
      </p:sp>
      <p:graphicFrame>
        <p:nvGraphicFramePr>
          <p:cNvPr id="1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66772"/>
          <a:ext cx="8229600" cy="914400"/>
        </p:xfrm>
        <a:graphic>
          <a:graphicData uri="http://schemas.openxmlformats.org/drawingml/2006/table">
            <a:tbl>
              <a:tblPr/>
              <a:tblGrid>
                <a:gridCol w="5108028"/>
                <a:gridCol w="1560786"/>
                <a:gridCol w="1560786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"Documents for a cashless health insurance claim?" (illustrative scores)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Reranked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– Submit the claim form, original bills and discharge summary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– Premiums must be paid within the grace period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 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– Required documents include prescription and diagnostic reports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457200" y="3811524"/>
            <a:ext cx="822960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cross-encoder reranker reads the query and each chunk together. B was only "about health insurance"; A and C go to the LLM.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session_8/8_13_cohere_reranking.py</a:t>
            </a:r>
            <a:endParaRPr lang="en-US" sz="9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methods so each one covers the other's blind spot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36776"/>
            <a:ext cx="39547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embeddings (8_14)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010156"/>
            <a:ext cx="1885950" cy="1262888"/>
          </a:xfrm>
          <a:prstGeom prst="roundRect">
            <a:avLst>
              <a:gd name="adj" fmla="val 43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0156"/>
            <a:ext cx="1885950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010156"/>
            <a:ext cx="16116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522220"/>
            <a:ext cx="161163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words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"SIP investment plan"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26030" y="2010156"/>
            <a:ext cx="1885950" cy="1262888"/>
          </a:xfrm>
          <a:prstGeom prst="roundRect">
            <a:avLst>
              <a:gd name="adj" fmla="val 43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26030" y="2010156"/>
            <a:ext cx="188595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63190" y="2010156"/>
            <a:ext cx="16116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63190" y="2522220"/>
            <a:ext cx="161163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"put money away for old age"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437636"/>
            <a:ext cx="39547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combine: a weighted average, or Reciprocal Rank Fusion.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732020" y="1636776"/>
            <a:ext cx="39547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dense vectors (8_15)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732020" y="2010156"/>
            <a:ext cx="395478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Favours BM25:</a:t>
            </a:r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"What is the IRDAI mandated claim settlement timeline…?" – an exact acronym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Favours vectors:</a:t>
            </a:r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"If my mom already had a health condition…" – avoids the policy's own wording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 lifts a document ranked highly by either retriever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session_8/8_14_hybrid_search.py, 8_15_agentic_hybrid_search.py</a:t>
            </a:r>
            <a:endParaRPr lang="en-US" sz="9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GraphRAG: Connecting Facts Across Documents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entities and relationships into a knowledge graph instead of treating chunks as isolated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94866"/>
            <a:ext cx="4289367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I switch insurer through portability, do I keep credit for the waiting period already completed?"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2513838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1383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402586"/>
            <a:ext cx="3850455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once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pulls (subject, relation, object) triples from the policy chunks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02209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30220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990850"/>
            <a:ext cx="3850455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graph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triples become a networkx graph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5033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450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3419094"/>
            <a:ext cx="3850455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entities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what the question mentions to graph nodes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7858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8785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3847338"/>
            <a:ext cx="3850455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outward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every connected fact in one traversal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112327" y="1594866"/>
            <a:ext cx="35744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triple as a graph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99564" y="2628138"/>
            <a:ext cx="914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7009292" y="2655570"/>
            <a:ext cx="16775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processed_by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39444" y="2234946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94308" y="223494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Cashless Claim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39444" y="2984754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94308" y="2984754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session_8/8_16_graph_rag.py</a:t>
            </a:r>
            <a:endParaRPr lang="en-US" sz="9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Reasoning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several facts to reach an answer no single chunk contains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80922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90650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610106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on a Family Floater Gold plan and intimated the insurer 20 hours after an emergency admission. Will a cashless claim be accepted, who processes it, and how long will settlement take?"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11580" y="2324100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8" name="Image 0" descr="FaMagnifyingGl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24612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93776" y="2945892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93776" y="3183636"/>
            <a:ext cx="198424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for the current query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805940" y="2598420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268980" y="2324100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3" name="Image 1" descr="FaBr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140" y="24612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551176" y="2945892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2551176" y="3183636"/>
            <a:ext cx="198424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still missing?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863340" y="2598420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5326380" y="2324100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8" name="Image 2" descr="FaRou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24612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608576" y="2945892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next_hop_query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608576" y="3183636"/>
            <a:ext cx="198424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search for the missing fact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920740" y="2598420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7383780" y="2324100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3" name="Image 3" descr="FaRepl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40" y="246126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665976" y="2945892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665976" y="3183636"/>
            <a:ext cx="198424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everything collected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 flipH="1">
            <a:off x="1485900" y="3854196"/>
            <a:ext cx="6172200" cy="914"/>
          </a:xfrm>
          <a:prstGeom prst="line">
            <a:avLst/>
          </a:prstGeom>
          <a:noFill/>
          <a:ln w="15875">
            <a:solidFill>
              <a:srgbClr val="EA4B71"/>
            </a:solidFill>
            <a:prstDash val="dash"/>
            <a:tailEnd type="triangle"/>
          </a:ln>
        </p:spPr>
      </p:sp>
      <p:sp>
        <p:nvSpPr>
          <p:cNvPr id="27" name="Text 21"/>
          <p:cNvSpPr txBox="1"/>
          <p:nvPr/>
        </p:nvSpPr>
        <p:spPr>
          <a:xfrm>
            <a:off x="1485900" y="3634740"/>
            <a:ext cx="6172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4 hops</a:t>
            </a:r>
            <a:endParaRPr lang="en-US" sz="95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4147566"/>
            <a:ext cx="822960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compares this with a single search (k=3). Unlike GraphRAG, it chains facts with repeated vector searches and no stored graph.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2" name="Text 26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session_8/8_17_multi_hop_reasoning.py</a:t>
            </a:r>
            <a:endParaRPr lang="en-US" sz="9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RAG with RAGAS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Assessment – scores retrieval and generation, no manual labelling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1933956" cy="1834896"/>
          </a:xfrm>
          <a:prstGeom prst="roundRect">
            <a:avLst>
              <a:gd name="adj" fmla="val 299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801368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2020824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7" name="Image 0" descr="FaBullse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2116836"/>
            <a:ext cx="192024" cy="1920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15568" y="2020824"/>
            <a:ext cx="1110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514600"/>
            <a:ext cx="16047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LLM make things up?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must be backed by the context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55748" y="1636776"/>
            <a:ext cx="1933956" cy="1834896"/>
          </a:xfrm>
          <a:prstGeom prst="roundRect">
            <a:avLst>
              <a:gd name="adj" fmla="val 299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20340" y="1801368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20340" y="2020824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3" name="Image 1" descr="FaCom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116836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214116" y="2020824"/>
            <a:ext cx="111099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720340" y="2557272"/>
            <a:ext cx="16047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LLM answer the question that was asked?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654296" y="1636776"/>
            <a:ext cx="1933956" cy="1834896"/>
          </a:xfrm>
          <a:prstGeom prst="roundRect">
            <a:avLst>
              <a:gd name="adj" fmla="val 299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818888" y="1801368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USEFULNESS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818888" y="202082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9" name="Image 2" descr="FaFil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2116836"/>
            <a:ext cx="192024" cy="19202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312664" y="2020824"/>
            <a:ext cx="111099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4818888" y="2557272"/>
            <a:ext cx="16047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most of what we retrieved actually useful?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752844" y="1636776"/>
            <a:ext cx="1933956" cy="1834896"/>
          </a:xfrm>
          <a:prstGeom prst="roundRect">
            <a:avLst>
              <a:gd name="adj" fmla="val 299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917436" y="1801368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917436" y="2020824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5" name="Image 3" descr="FaList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2116836"/>
            <a:ext cx="192024" cy="19202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11212" y="2020824"/>
            <a:ext cx="111099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6917436" y="2557272"/>
            <a:ext cx="16047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retrieve everything the answer needed?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1" name="Text 2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session_8/8_18_ragas_evaluation.py, 8_19_ragas_evaluation_customer_support.py</a:t>
            </a:r>
            <a:endParaRPr lang="en-US" sz="9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AGAS evaluation of a RAG pipe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138" y="164592"/>
            <a:ext cx="7863723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session_8/8_18_ragas_evaluation.py, 8_19_ragas_evaluation_customer_support.py</a:t>
            </a:r>
            <a:endParaRPr lang="en-US" sz="9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Metrics, Worked Through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cashless-claim question, scored four ways (illustrative numbers – run the demos for real scores)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1933956" cy="1944624"/>
          </a:xfrm>
          <a:prstGeom prst="roundRect">
            <a:avLst>
              <a:gd name="adj" fmla="val 283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801368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Bullse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897380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1801368"/>
            <a:ext cx="111099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0.67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337816"/>
            <a:ext cx="1604772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makes 3 claims; the context backs 2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"Intimate within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hours" – the context says 24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2 / 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55748" y="1636776"/>
            <a:ext cx="1933956" cy="1944624"/>
          </a:xfrm>
          <a:prstGeom prst="roundRect">
            <a:avLst>
              <a:gd name="adj" fmla="val 283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20340" y="1801368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1" name="Image 1" descr="FaCom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1897380"/>
            <a:ext cx="192024" cy="1920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214116" y="1801368"/>
            <a:ext cx="111099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Relevancy 0.95 vs 0.30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720340" y="2337816"/>
            <a:ext cx="16047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guessed back from the answer and compared with the original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On-topic answer → 0.95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about waiting periods → 0.30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54296" y="1636776"/>
            <a:ext cx="1933956" cy="1944624"/>
          </a:xfrm>
          <a:prstGeom prst="roundRect">
            <a:avLst>
              <a:gd name="adj" fmla="val 283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18888" y="1801368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6" name="Image 2" descr="FaFil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1897380"/>
            <a:ext cx="192024" cy="1920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12664" y="1801368"/>
            <a:ext cx="111099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0.60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818888" y="2337816"/>
            <a:ext cx="1604772" cy="71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chunks retrieved: 3 useful, 2 not (grace period, waiting period)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3 / 5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752844" y="1636776"/>
            <a:ext cx="1933956" cy="1944624"/>
          </a:xfrm>
          <a:prstGeom prst="roundRect">
            <a:avLst>
              <a:gd name="adj" fmla="val 283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17436" y="1801368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1" name="Image 3" descr="FaList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897380"/>
            <a:ext cx="192024" cy="1920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11212" y="1801368"/>
            <a:ext cx="1110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0.75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917436" y="2295144"/>
            <a:ext cx="1604772" cy="71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facts needed; the TPA's role in settlement was never retrieved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3 / 4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7" name="Text 2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session_8/8_18_ragas_evaluation.py, 8_19_ragas_evaluation_customer_support.py</a:t>
            </a:r>
            <a:endParaRPr lang="en-US" sz="9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8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 today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8_3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vs agentic RAG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question through both pipelines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242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242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8_11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7967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 and CRAG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04368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the answer or the documents; regenerate or use the web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100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100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8_13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4825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and hybrid search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72948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 reranker; keyword + semantic with rank fusion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1958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1958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8_16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683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and multi-hop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1528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insurance-policy knowledge graph; chained searches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8816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8816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8_18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8541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evaluation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10108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metrics on an insurance Q&amp;A system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818888" y="1645920"/>
            <a:ext cx="3666744" cy="125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failure mode before choosing a fix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decides when, what and how often to retrieve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 – similar is not the same as relevant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answer questions that span documents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with RAGAS before and after every change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9: Deep Agents – Reflection, Planning and Long-Term Memory</a:t>
            </a:r>
            <a:endParaRPr lang="en-US" sz="12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9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Agents: Reflection, Planning and Memory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check their own work, plan and re-plan, remember, and get better from their mistakes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58115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MagnifyingGlass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67716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self-reflection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generate, critique and revise until a quality bar is met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25628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ListO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35229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247900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execute and re-plan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that change when new facts arrive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93141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Memo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302742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2831592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agents long-term memory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episodic, semantic and procedural – plus consolidation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697986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5" name="Image 3" descr="FaBrai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79399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598164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it all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management, self-improvement, one unified architecture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10912" y="198217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892808"/>
            <a:ext cx="3291840" cy="251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an agent "deep"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010912" y="2234045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212080" y="2144684"/>
            <a:ext cx="3291840" cy="251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Self-reflection loops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010912" y="2485921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12080" y="2396559"/>
            <a:ext cx="3291840" cy="251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reflection with a quality threshold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010912" y="2737797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212080" y="2648435"/>
            <a:ext cx="3291840" cy="251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Plan-and-Execute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010912" y="298967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12080" y="2900311"/>
            <a:ext cx="3291840" cy="251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Replanning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5010912" y="3241548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212080" y="3152186"/>
            <a:ext cx="3291840" cy="251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 types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5010912" y="349342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212080" y="3404062"/>
            <a:ext cx="3291840" cy="251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5010912" y="3745299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212080" y="3655937"/>
            <a:ext cx="3291840" cy="251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consolidation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5010912" y="3997175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5212080" y="3907813"/>
            <a:ext cx="3291840" cy="251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propagation and trimming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5010912" y="4249051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5212080" y="4159689"/>
            <a:ext cx="3291840" cy="251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Self-improvement from failures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5010912" y="450092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5212080" y="4411564"/>
            <a:ext cx="3291840" cy="251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architecture: reflection + planning + memory</a:t>
            </a:r>
            <a:endParaRPr lang="en-US" sz="105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an Agent "Deep"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just produce an answer – it evaluates its own process and adapts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5961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agent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60614"/>
            <a:ext cx="515112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860614"/>
            <a:ext cx="51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99744" y="2016061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210056" y="1860614"/>
            <a:ext cx="44577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10056" y="1860614"/>
            <a:ext cx="4457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83258" y="2016061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893570" y="1860614"/>
            <a:ext cx="515112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93570" y="1860614"/>
            <a:ext cx="51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36114" y="2016061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646426" y="1860614"/>
            <a:ext cx="653796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46426" y="1860614"/>
            <a:ext cx="65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45643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agent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51086"/>
            <a:ext cx="515112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851086"/>
            <a:ext cx="51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99744" y="300653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210056" y="2851086"/>
            <a:ext cx="162458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10056" y="2851086"/>
            <a:ext cx="1624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the task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862072" y="300653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072384" y="2851086"/>
            <a:ext cx="515112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072384" y="2851086"/>
            <a:ext cx="51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14928" y="300653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825240" y="2851086"/>
            <a:ext cx="44577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25240" y="2851086"/>
            <a:ext cx="4457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98442" y="300653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508754" y="2851086"/>
            <a:ext cx="723138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08754" y="2851086"/>
            <a:ext cx="723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259324" y="300653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469636" y="2851086"/>
            <a:ext cx="792480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69636" y="2851086"/>
            <a:ext cx="79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89548" y="300653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499860" y="2851086"/>
            <a:ext cx="127787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99860" y="2851086"/>
            <a:ext cx="12778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strategy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805166" y="300653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015478" y="2851086"/>
            <a:ext cx="653796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15478" y="2851086"/>
            <a:ext cx="65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3446907"/>
            <a:ext cx="4023360" cy="884428"/>
          </a:xfrm>
          <a:prstGeom prst="roundRect">
            <a:avLst>
              <a:gd name="adj" fmla="val 620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3446907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4360" y="3446907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reasoning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94360" y="3958971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solve this?"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663440" y="3446907"/>
            <a:ext cx="4023360" cy="884428"/>
          </a:xfrm>
          <a:prstGeom prst="roundRect">
            <a:avLst>
              <a:gd name="adj" fmla="val 620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3446907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800600" y="3446907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Meta-cognition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800600" y="3958971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my way of solving this working?"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Self-Reflection: Generate → Critique → Revise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customer-facing outage update"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554480" y="163677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7739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58568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96312"/>
            <a:ext cx="26700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customer message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148840" y="1911096"/>
            <a:ext cx="21031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297680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Clipboar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77393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36976" y="2258568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3236976" y="2496312"/>
            <a:ext cx="26700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it against a checklist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892040" y="1911096"/>
            <a:ext cx="21031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7040880" y="1636776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WandMagic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7739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980176" y="2258568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revised_answer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980176" y="2496312"/>
            <a:ext cx="26700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using the critique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3087624"/>
            <a:ext cx="3954780" cy="87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for non-technical users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without blaming individuals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impact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about next steps and prevention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32020" y="3087624"/>
            <a:ext cx="395478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896612" y="3197352"/>
            <a:ext cx="36255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4896612" y="3416808"/>
            <a:ext cx="36255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returns all three as JSON. The next demo loops until a score is high enough.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5" name="Text 20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session_9/9_1_openai_agent_pattern_reflection.py</a:t>
            </a:r>
            <a:endParaRPr lang="en-US" sz="9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Reflection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meal plan: iterate until a quality threshold is met – with an upper limit on rounds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79248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36776"/>
            <a:ext cx="79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277112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487424" y="1636776"/>
            <a:ext cx="1416558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87424" y="1636776"/>
            <a:ext cx="14165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score &lt; 9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31414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41726" y="1636776"/>
            <a:ext cx="653796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41726" y="1636776"/>
            <a:ext cx="65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22954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033266" y="1636776"/>
            <a:ext cx="1416558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33266" y="1636776"/>
            <a:ext cx="14165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score ≥ 9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77256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87568" y="1636776"/>
            <a:ext cx="515112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87568" y="1636776"/>
            <a:ext cx="51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386584"/>
            <a:ext cx="2657856" cy="737616"/>
          </a:xfrm>
          <a:prstGeom prst="roundRect">
            <a:avLst>
              <a:gd name="adj" fmla="val 743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" y="2505456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0" name="Image 0" descr="FaCalcula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2583180"/>
            <a:ext cx="155448" cy="15544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96696" y="2487168"/>
            <a:ext cx="19994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arithmetic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computes the targets and sums the plan's totals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43072" y="2386584"/>
            <a:ext cx="2657856" cy="737616"/>
          </a:xfrm>
          <a:prstGeom prst="roundRect">
            <a:avLst>
              <a:gd name="adj" fmla="val 743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61944" y="2505456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4" name="Image 1" descr="FaGav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668" y="2583180"/>
            <a:ext cx="155448" cy="155448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3782568" y="2487168"/>
            <a:ext cx="19994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critique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grades using those totals, not its own opinion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028944" y="2386584"/>
            <a:ext cx="2657856" cy="737616"/>
          </a:xfrm>
          <a:prstGeom prst="roundRect">
            <a:avLst>
              <a:gd name="adj" fmla="val 743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147816" y="2505456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8" name="Image 2" descr="FaSto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540" y="2583180"/>
            <a:ext cx="155448" cy="155448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568440" y="2487168"/>
            <a:ext cx="19994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rule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9+ or 4 iterations, whichever comes first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457200" y="3563112"/>
            <a:ext cx="8229600" cy="193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a Streamlit app: </a:t>
            </a:r>
            <a:pPr algn="l" indent="0" marL="0">
              <a:buNone/>
            </a:pPr>
            <a:r>
              <a:rPr lang="en-US" sz="11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9_2_meal_plan_reflection.py</a:t>
            </a:r>
            <a:pPr algn="l"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4" name="Text 29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session_9/9_2_meal_plan_reflection.py</a:t>
            </a:r>
            <a:endParaRPr lang="en-US" sz="9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Plan-and-Execute, Revisited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decides what to do (strategy); execution does it (action)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36776"/>
            <a:ext cx="4289367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25-module curriculum PDF into a 4-week study plan for a working professional.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2475738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7573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444496"/>
            <a:ext cx="3850455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extract_curriculum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PDF text into the task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90398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90398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872740"/>
            <a:ext cx="3850455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plan_step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a full ordered plan up front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33222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33222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3300984"/>
            <a:ext cx="3850455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execute_step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one step at a time, e.g. "draft week 1"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6047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76047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3729228"/>
            <a:ext cx="3850455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replan_step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Shorten, extend or reorder what remains, or finish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12327" y="1645158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8" name="Image 0" descr="FaList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8339" y="1741170"/>
            <a:ext cx="192024" cy="19202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642679" y="1636776"/>
            <a:ext cx="3044121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numbered plan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112327" y="2279904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1" name="Image 1" descr="FaPersonRun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339" y="2375916"/>
            <a:ext cx="192024" cy="19202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642679" y="2183892"/>
            <a:ext cx="304412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LLM call – no tools are needed here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112327" y="2914650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4" name="Image 2" descr="FaRou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339" y="3010662"/>
            <a:ext cx="192024" cy="19202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642679" y="2906268"/>
            <a:ext cx="3044121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Replanner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Re-examines the plan after every step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session_9/9_3_study_plan_plan_execute.py</a:t>
            </a:r>
            <a:endParaRPr lang="en-US" sz="9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Replanning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plan when new information arrives – during execution the agent may discover that…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1961388" cy="603504"/>
          </a:xfrm>
          <a:prstGeom prst="roundRect">
            <a:avLst>
              <a:gd name="adj" fmla="val 909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" y="1755648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B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1833372"/>
            <a:ext cx="155448" cy="1554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96696" y="1737360"/>
            <a:ext cx="13030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resource is unavailable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46604" y="1636776"/>
            <a:ext cx="1961388" cy="603504"/>
          </a:xfrm>
          <a:prstGeom prst="roundRect">
            <a:avLst>
              <a:gd name="adj" fmla="val 909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65476" y="1755648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PlugCircleXma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33372"/>
            <a:ext cx="155448" cy="1554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86100" y="1737360"/>
            <a:ext cx="13030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fails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636008" y="1636776"/>
            <a:ext cx="1961388" cy="603504"/>
          </a:xfrm>
          <a:prstGeom prst="roundRect">
            <a:avLst>
              <a:gd name="adj" fmla="val 909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754880" y="1755648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4" name="Image 2" descr="FaTriangleExclam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604" y="1833372"/>
            <a:ext cx="155448" cy="1554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75504" y="1737360"/>
            <a:ext cx="13030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contradict an assumption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725412" y="1636776"/>
            <a:ext cx="1961388" cy="603504"/>
          </a:xfrm>
          <a:prstGeom prst="roundRect">
            <a:avLst>
              <a:gd name="adj" fmla="val 909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844284" y="1755648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8" name="Image 3" descr="FaBo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833372"/>
            <a:ext cx="155448" cy="1554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64908" y="1737360"/>
            <a:ext cx="13030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information changes things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2368296"/>
            <a:ext cx="1961388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76072" y="2487168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2" name="Image 4" descr="FaCircle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" y="2564892"/>
            <a:ext cx="155448" cy="1554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96696" y="2468880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is already done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2546604" y="2368296"/>
            <a:ext cx="1961388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2665476" y="2487168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6" name="Image 5" descr="FaLinkSlas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2564892"/>
            <a:ext cx="155448" cy="1554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086100" y="2468880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dependency is missing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4636008" y="2368296"/>
            <a:ext cx="1961388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4754880" y="2487168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30" name="Image 6" descr="FaHourglassHalf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2604" y="2564892"/>
            <a:ext cx="155448" cy="155448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175504" y="2468880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 is too slow or costly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6725412" y="2368296"/>
            <a:ext cx="1961388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6844284" y="2487168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34" name="Image 7" descr="FaFileMedica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2008" y="2564892"/>
            <a:ext cx="155448" cy="155448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264908" y="2468880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demo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pathology report changes the plan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9" name="Text 29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session_9/9_4_pathology_report_replanning.py</a:t>
            </a:r>
            <a:endParaRPr lang="en-US" sz="9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Types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context, remember preferences, recall past work – and stop asking the same questions</a:t>
            </a:r>
            <a:endParaRPr lang="en-US" sz="1350" dirty="0"/>
          </a:p>
        </p:txBody>
      </p:sp>
      <p:graphicFrame>
        <p:nvGraphicFramePr>
          <p:cNvPr id="1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36776"/>
          <a:ext cx="8229600" cy="914400"/>
        </p:xfrm>
        <a:graphic>
          <a:graphicData uri="http://schemas.openxmlformats.org/drawingml/2006/table">
            <a:tbl>
              <a:tblPr/>
              <a:tblGrid>
                <a:gridCol w="1954530"/>
                <a:gridCol w="2263140"/>
                <a:gridCol w="1440180"/>
                <a:gridCol w="2571750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 (working)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current conversation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 / session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 chat messages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user knowledge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to years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Preferences, profile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outside the agent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ChromaDB, SQL, Redis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Facts and knowledge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"Python is your preferred language"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Episodic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interactions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Earlier support sessions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 procedures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deploy an application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session_9/9_5_agent_memory_short_term_langgraph.py → 9_6, 9_7, 9_8</a:t>
            </a:r>
            <a:endParaRPr lang="en-US" sz="9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Demos, in Order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script adds one memory capability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83258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8325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636776"/>
            <a:ext cx="7790688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memory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9_5_agent_memory_short_term_langgraph.py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8770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8770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141220"/>
            <a:ext cx="7790688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ID from the user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9_6_agent_memory_dynamic_session_id_langgraph.py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the user ID becomes the session ID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69214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921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645664"/>
            <a:ext cx="7790688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→ long-term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9_7_…_short_to_long_term_langgraph.py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9_8_…_short_to_external_sqlite_langgraph.py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19659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19659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150108"/>
            <a:ext cx="7790688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long-term types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9_9_…_semantic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9_10_…_procedural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9_12_…_episodic_langgraph.py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session_9/9_5 → 9_12</a:t>
            </a:r>
            <a:endParaRPr lang="en-US" sz="9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Memory: Three Kinds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= experiences.  Semantic = knowledge.  Procedural = skills.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2633472" cy="1432560"/>
          </a:xfrm>
          <a:prstGeom prst="roundRect">
            <a:avLst>
              <a:gd name="adj" fmla="val 383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80136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2020824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7" name="Image 0" descr="FaClockRotateLef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2116836"/>
            <a:ext cx="192024" cy="1920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15568" y="202082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514600"/>
            <a:ext cx="230428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discussed Project X last Tuesday."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55264" y="1636776"/>
            <a:ext cx="2633472" cy="1432560"/>
          </a:xfrm>
          <a:prstGeom prst="roundRect">
            <a:avLst>
              <a:gd name="adj" fmla="val 383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19856" y="180136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KNOW?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19856" y="2020824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3" name="Image 1" descr="FaBoo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868" y="2116836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13632" y="202082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419856" y="2514600"/>
            <a:ext cx="2304288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"Project X uses PostgreSQL."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53328" y="1636776"/>
            <a:ext cx="2633472" cy="1432560"/>
          </a:xfrm>
          <a:prstGeom prst="roundRect">
            <a:avLst>
              <a:gd name="adj" fmla="val 383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17920" y="180136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DO IT?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217920" y="202082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9" name="Image 2" descr="FaGea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32" y="2116836"/>
            <a:ext cx="192024" cy="19202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711696" y="202082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2514600"/>
            <a:ext cx="230428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"Deploy Project X using this procedure."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5" name="Text 20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session_9/9_9_agent_memory_semantic_langgraph.py, 9_10_agent_memory_procedural_langgraph.py</a:t>
            </a:r>
            <a:endParaRPr lang="en-US" sz="9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 in Practice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specific past episodes outside the model and recall them when a similar case arrives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5840" y="163677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7739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9631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324 past support tickets, one text blob each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0020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51760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MagnifyingGl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77393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3969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recall()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139696" y="249631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2 most similar episodes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4612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297680" y="1636776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FileLin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7739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8561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785616" y="249631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these similar PAST resolved cases"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9204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943600" y="1636776"/>
            <a:ext cx="548640" cy="548640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0" name="Image 3" descr="FaRepl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77393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153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431536" y="249631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past resolutions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53796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589520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5" name="Image 4" descr="FaFloppyDis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773936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7745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remember()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077456" y="249631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this Q and A as a new episode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" y="32400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episode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57200" y="3477768"/>
            <a:ext cx="8229600" cy="380111"/>
          </a:xfrm>
          <a:prstGeom prst="roundRect">
            <a:avLst>
              <a:gd name="adj" fmla="val 1202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594360" y="3587496"/>
            <a:ext cx="7955280" cy="19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"Customer asked: Why was my payment declined? | Resolution: ..."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4" name="Text 2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session_9/9_11_episodic_memory_store.py, 9_12_agent_memory_episodic_langgraph.py</a:t>
            </a:r>
            <a:endParaRPr lang="en-US" sz="9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Consolidation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and compress old episodes before they pile up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4023360" cy="1313688"/>
          </a:xfrm>
          <a:prstGeom prst="roundRect">
            <a:avLst>
              <a:gd name="adj" fmla="val 417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3677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367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consolidation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48840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→ episode 1 … day 100 → episode 100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redundant, expensive to search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reason over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636776"/>
            <a:ext cx="4023360" cy="1313688"/>
          </a:xfrm>
          <a:prstGeom prst="roundRect">
            <a:avLst>
              <a:gd name="adj" fmla="val 417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63677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6367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consolidation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148840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common patterns across episodes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each group with one dense summary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summaries into the vector store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89376"/>
            <a:ext cx="93116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389376"/>
            <a:ext cx="9311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episodes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415796" y="35448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626108" y="3389376"/>
            <a:ext cx="474497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26108" y="3389376"/>
            <a:ext cx="47449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patterns: 2FA issue · card declined · subscription cancellation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98514" y="35448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608826" y="3389376"/>
            <a:ext cx="1000506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08826" y="3389376"/>
            <a:ext cx="1000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summaries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session_9/9_13_memory_consolidation.py</a:t>
            </a:r>
            <a:endParaRPr lang="en-US" sz="9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Propagation and Trimming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right information forward – and keep it within the context window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36776"/>
            <a:ext cx="34950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16-message support chat, trimmed five ways: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244449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44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444496"/>
            <a:ext cx="3056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0 states order #ORD-88213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81025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10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810256"/>
            <a:ext cx="3056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later messages bury 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7601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176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3176016"/>
            <a:ext cx="3056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follow-up asks for that order number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4177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541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3541776"/>
            <a:ext cx="3056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is expected to lose it</a:t>
            </a:r>
            <a:endParaRPr lang="en-US" sz="1100" dirty="0"/>
          </a:p>
        </p:txBody>
      </p:sp>
      <p:graphicFrame>
        <p:nvGraphicFramePr>
          <p:cNvPr id="1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18000" y="1636776"/>
          <a:ext cx="4368800" cy="914400"/>
        </p:xfrm>
        <a:graphic>
          <a:graphicData uri="http://schemas.openxmlformats.org/drawingml/2006/table">
            <a:tbl>
              <a:tblPr/>
              <a:tblGrid>
                <a:gridCol w="1248229"/>
                <a:gridCol w="2028371"/>
                <a:gridCol w="1092200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Trimming 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Sliding window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only the latest N messages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older turns with a summary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conversations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retrieval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 back only relevant memories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the oldest content at a token limit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keep critical facts, drop details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session_9/9_14_context_management_strategies.py</a:t>
            </a:r>
            <a:endParaRPr lang="en-US" sz="9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Self-Improvement from Failures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corrected facts from mistakes – good answers leave no trace, mistakes leave a lesson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211580" y="163677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MagnifyingGl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17739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585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recall_lessons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96312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past lessons relevant to this query?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05940" y="1911096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268980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Rep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140" y="177393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51176" y="22585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551176" y="2496312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Answer, guided by recalled lessons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863340" y="1911096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326380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5" name="Image 2" descr="FaGav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17739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08576" y="22585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608576" y="2496312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judge grades against the real policy; 7+ only for the specific correct fact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920740" y="1911096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383780" y="1636776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0" name="Image 3" descr="FaFloppyDis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40" y="177393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665976" y="22585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maybe_store_lesson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665976" y="2496312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score &lt; 7: store the corrected fact, not the bad answer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3392424"/>
            <a:ext cx="8229600" cy="193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semantic memory (facts), not episodic: who asked and when are stripped away.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7" name="Text 2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session_9/9_15_self_improving_agent.py</a:t>
            </a:r>
            <a:endParaRPr lang="en-US" sz="9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Deep-Agent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informs planning → planning guides execution → reflection evaluates it → replanning adapts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5840" y="1542288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Mem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79448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164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01824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know?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00200" y="1816608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51760" y="1542288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ListO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67944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39696" y="2164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139696" y="2401824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I do?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46120" y="1816608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297680" y="1542288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PersonRunn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67944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85616" y="2164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785616" y="2401824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act?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92040" y="1816608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943600" y="1542288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0" name="Image 3" descr="FaMagnifyingGlassCha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67944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1536" y="2164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431536" y="2401824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working?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537960" y="1816608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589520" y="1542288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5" name="Image 4" descr="FaRou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679448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77456" y="2164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Replanning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077456" y="2401824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change?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 flipH="1">
            <a:off x="1280160" y="2919984"/>
            <a:ext cx="6583680" cy="914"/>
          </a:xfrm>
          <a:prstGeom prst="line">
            <a:avLst/>
          </a:prstGeom>
          <a:noFill/>
          <a:ln w="15875">
            <a:solidFill>
              <a:srgbClr val="EA4B71"/>
            </a:solidFill>
            <a:prstDash val="dash"/>
            <a:tailEnd type="triangle"/>
          </a:ln>
        </p:spPr>
      </p:sp>
      <p:sp>
        <p:nvSpPr>
          <p:cNvPr id="29" name="Text 22"/>
          <p:cNvSpPr txBox="1"/>
          <p:nvPr/>
        </p:nvSpPr>
        <p:spPr>
          <a:xfrm>
            <a:off x="1280160" y="2700528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cycle repeats as the agent works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57200" y="3432048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621792" y="3541776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DEMO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621792" y="3761232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 assistant (Whisper + LangChain memory + GPT + TTS) that recalls facts across turns. It shows the memory part; putting all five stages together is your exercise.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6" name="Text 29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session_9/9_16_personal_memory_assistant.py</a:t>
            </a:r>
            <a:endParaRPr lang="en-US" sz="9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9 and Course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 today – and across the course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9_1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loops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Generate, critique and revise to a quality bar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242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242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9_4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7967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Replanning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04368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 that changes when a report says so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500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9_11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3225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56946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 recalled and consolidated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757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8757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9_15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8483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agent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09524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stored only when the agent was wrong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40156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40156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S1–9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3741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journey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62102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agents → LangChain → LangGraph → crews and teams → agentic RAG → deep agents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818888" y="1645920"/>
            <a:ext cx="3666744" cy="142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agents evaluate how they are doing, not just what to do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needs a rubric and a stopping rule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up front for long tasks; replan when facts change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memory type by what must be remembered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context deliberately – the window is a budget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Keep building – the code is at github.com/atulkahatecdac/agenticai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144</Slides>
  <Notes>144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144</vt:i4>
      </vt:variant>
    </vt:vector>
  </HeadingPairs>
  <TitlesOfParts>
    <vt:vector size="1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PGP – Agentic AI</dc:title>
  <dc:subject>PptxGenJS Presentation</dc:subject>
  <dc:creator>Atul Kahate</dc:creator>
  <cp:lastModifiedBy>Atul Kahate</cp:lastModifiedBy>
  <cp:revision>1</cp:revision>
  <dcterms:created xsi:type="dcterms:W3CDTF">2026-10-30T15:29:37Z</dcterms:created>
  <dcterms:modified xsi:type="dcterms:W3CDTF">2026-10-30T15:29:37Z</dcterms:modified>
</cp:coreProperties>
</file>