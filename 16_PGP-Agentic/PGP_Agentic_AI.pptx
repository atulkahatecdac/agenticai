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</p:sldIdLst>
  <p:notesMasterIdLst>
    <p:notesMasterId r:id="rId1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08a342a-2b50-1065-e50b-aaee9de9971e}">
          <p14:sldIdLst>
            <p14:sldId id="256"/>
            <p14:sldId id="257"/>
          </p14:sldIdLst>
        </p14:section>
        <p14:section name="Session 1 – Agentic AI Foundations" id="{1b2f4f31-7ea4-651e-b995-fcafef3fbb8f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Session 2 – LangChain Core" id="{3ca7ec29-b6cc-507a-4c78-c07b6997e756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Session 3 – LangChain Agents and Tools" id="{c2d23b6a-7cba-cdf9-194a-c1aa1de02433}">
          <p14:sldIdLst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Session 4 – LangGraph Workflows" id="{55451e81-5553-b881-faf4-9e1a13398750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</p14:sldIdLst>
        </p14:section>
        <p14:section name="Session 5 – LangGraph Cycles, HITL, Persistence" id="{3cefcb9a-d36a-bfc2-618f-1a5ce26b0b7e}">
          <p14:sldIdLst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</p14:sldIdLst>
        </p14:section>
        <p14:section name="Session 6 – CrewAI" id="{e1570a45-0d12-0448-a474-a459f5e30979}">
          <p14:sldIdLst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Session 7 – AutoGen" id="{fe7a2595-a2fd-6ad3-6774-3084c5b82148}">
          <p14:sldIdLst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</p14:sldIdLst>
        </p14:section>
        <p14:section name="Session 8 – Agentic RAG and GraphRAG" id="{0908ebeb-7e75-ca31-5dbd-4c0f76051c1f}">
          <p14:sldIdLst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</p14:sldIdLst>
        </p14:section>
        <p14:section name="Session 9 – Deep Agents" id="{ccc645a9-a0f3-2ee5-565f-21f2df785dab}">
          <p14:sldIdLst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notesMaster" Target="notesMasters/notesMaster1.xml"/><Relationship Id="rId150" Type="http://schemas.openxmlformats.org/officeDocument/2006/relationships/presProps" Target="presProps.xml"/><Relationship Id="rId151" Type="http://schemas.openxmlformats.org/officeDocument/2006/relationships/viewProps" Target="viewProps.xml"/><Relationship Id="rId152" Type="http://schemas.openxmlformats.org/officeDocument/2006/relationships/theme" Target="theme/theme1.xml"/><Relationship Id="rId1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OPEN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image" Target="../media/image-2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image" Target="../media/image-44-6.png"/><Relationship Id="rId7" Type="http://schemas.openxmlformats.org/officeDocument/2006/relationships/image" Target="../media/image-44-7.png"/><Relationship Id="rId8" Type="http://schemas.openxmlformats.org/officeDocument/2006/relationships/image" Target="../media/image-44-8.png"/><Relationship Id="rId9" Type="http://schemas.openxmlformats.org/officeDocument/2006/relationships/image" Target="../media/image-44-9.png"/><Relationship Id="rId10" Type="http://schemas.openxmlformats.org/officeDocument/2006/relationships/image" Target="../media/image-44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image" Target="../media/image-5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image" Target="../media/image-66-3.png"/><Relationship Id="rId4" Type="http://schemas.openxmlformats.org/officeDocument/2006/relationships/image" Target="../media/image-6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image" Target="../media/image-70-4.png"/><Relationship Id="rId5" Type="http://schemas.openxmlformats.org/officeDocument/2006/relationships/image" Target="../media/image-70-5.png"/><Relationship Id="rId6" Type="http://schemas.openxmlformats.org/officeDocument/2006/relationships/image" Target="../media/image-7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image" Target="../media/image-7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image" Target="../media/image-7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image" Target="../media/image-7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image" Target="../media/image-81-5.png"/><Relationship Id="rId6" Type="http://schemas.openxmlformats.org/officeDocument/2006/relationships/image" Target="../media/image-8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image" Target="../media/image-90-3.png"/><Relationship Id="rId4" Type="http://schemas.openxmlformats.org/officeDocument/2006/relationships/image" Target="../media/image-9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image" Target="../media/image-91-3.png"/><Relationship Id="rId4" Type="http://schemas.openxmlformats.org/officeDocument/2006/relationships/image" Target="../media/image-9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image" Target="../media/image-95-3.png"/><Relationship Id="rId4" Type="http://schemas.openxmlformats.org/officeDocument/2006/relationships/image" Target="../media/image-9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image" Target="../media/image-9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image" Target="../media/image-103-2.png"/><Relationship Id="rId3" Type="http://schemas.openxmlformats.org/officeDocument/2006/relationships/image" Target="../media/image-103-3.png"/><Relationship Id="rId4" Type="http://schemas.openxmlformats.org/officeDocument/2006/relationships/image" Target="../media/image-10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image" Target="../media/image-104-2.png"/><Relationship Id="rId3" Type="http://schemas.openxmlformats.org/officeDocument/2006/relationships/image" Target="../media/image-10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107-2.png"/><Relationship Id="rId3" Type="http://schemas.openxmlformats.org/officeDocument/2006/relationships/image" Target="../media/image-107-3.png"/><Relationship Id="rId4" Type="http://schemas.openxmlformats.org/officeDocument/2006/relationships/image" Target="../media/image-107-4.png"/><Relationship Id="rId5" Type="http://schemas.openxmlformats.org/officeDocument/2006/relationships/image" Target="../media/image-10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09-2.png"/><Relationship Id="rId3" Type="http://schemas.openxmlformats.org/officeDocument/2006/relationships/image" Target="../media/image-109-3.png"/><Relationship Id="rId4" Type="http://schemas.openxmlformats.org/officeDocument/2006/relationships/image" Target="../media/image-10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image" Target="../media/image-110-2.png"/><Relationship Id="rId3" Type="http://schemas.openxmlformats.org/officeDocument/2006/relationships/image" Target="../media/image-110-3.png"/><Relationship Id="rId4" Type="http://schemas.openxmlformats.org/officeDocument/2006/relationships/image" Target="../media/image-1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image" Target="../media/image-111-2.png"/><Relationship Id="rId3" Type="http://schemas.openxmlformats.org/officeDocument/2006/relationships/image" Target="../media/image-111-3.png"/><Relationship Id="rId4" Type="http://schemas.openxmlformats.org/officeDocument/2006/relationships/image" Target="../media/image-1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image" Target="../media/image-114-2.png"/><Relationship Id="rId3" Type="http://schemas.openxmlformats.org/officeDocument/2006/relationships/image" Target="../media/image-114-3.png"/><Relationship Id="rId4" Type="http://schemas.openxmlformats.org/officeDocument/2006/relationships/image" Target="../media/image-1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png"/><Relationship Id="rId2" Type="http://schemas.openxmlformats.org/officeDocument/2006/relationships/image" Target="../media/image-116-2.png"/><Relationship Id="rId3" Type="http://schemas.openxmlformats.org/officeDocument/2006/relationships/image" Target="../media/image-116-3.png"/><Relationship Id="rId4" Type="http://schemas.openxmlformats.org/officeDocument/2006/relationships/image" Target="../media/image-116-4.png"/><Relationship Id="rId5" Type="http://schemas.openxmlformats.org/officeDocument/2006/relationships/image" Target="../media/image-116-5.png"/><Relationship Id="rId6" Type="http://schemas.openxmlformats.org/officeDocument/2006/relationships/image" Target="../media/image-116-6.png"/><Relationship Id="rId7" Type="http://schemas.openxmlformats.org/officeDocument/2006/relationships/image" Target="../media/image-116-7.png"/><Relationship Id="rId8" Type="http://schemas.openxmlformats.org/officeDocument/2006/relationships/image" Target="../media/image-116-8.png"/><Relationship Id="rId9" Type="http://schemas.openxmlformats.org/officeDocument/2006/relationships/image" Target="../media/image-116-9.png"/><Relationship Id="rId10" Type="http://schemas.openxmlformats.org/officeDocument/2006/relationships/image" Target="../media/image-116-10.png"/><Relationship Id="rId11" Type="http://schemas.openxmlformats.org/officeDocument/2006/relationships/image" Target="../media/image-116-11.png"/><Relationship Id="rId12" Type="http://schemas.openxmlformats.org/officeDocument/2006/relationships/image" Target="../media/image-11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png"/><Relationship Id="rId2" Type="http://schemas.openxmlformats.org/officeDocument/2006/relationships/image" Target="../media/image-119-2.png"/><Relationship Id="rId3" Type="http://schemas.openxmlformats.org/officeDocument/2006/relationships/image" Target="../media/image-119-3.png"/><Relationship Id="rId4" Type="http://schemas.openxmlformats.org/officeDocument/2006/relationships/image" Target="../media/image-119-4.png"/><Relationship Id="rId5" Type="http://schemas.openxmlformats.org/officeDocument/2006/relationships/image" Target="../media/image-119-5.png"/><Relationship Id="rId6" Type="http://schemas.openxmlformats.org/officeDocument/2006/relationships/image" Target="../media/image-11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1-1.png"/><Relationship Id="rId2" Type="http://schemas.openxmlformats.org/officeDocument/2006/relationships/image" Target="../media/image-121-2.png"/><Relationship Id="rId3" Type="http://schemas.openxmlformats.org/officeDocument/2006/relationships/image" Target="../media/image-1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image" Target="../media/image-122-2.png"/><Relationship Id="rId3" Type="http://schemas.openxmlformats.org/officeDocument/2006/relationships/image" Target="../media/image-122-3.png"/><Relationship Id="rId4" Type="http://schemas.openxmlformats.org/officeDocument/2006/relationships/image" Target="../media/image-12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7-1.png"/><Relationship Id="rId2" Type="http://schemas.openxmlformats.org/officeDocument/2006/relationships/image" Target="../media/image-127-2.png"/><Relationship Id="rId3" Type="http://schemas.openxmlformats.org/officeDocument/2006/relationships/image" Target="../media/image-127-3.png"/><Relationship Id="rId4" Type="http://schemas.openxmlformats.org/officeDocument/2006/relationships/image" Target="../media/image-127-4.png"/><Relationship Id="rId5" Type="http://schemas.openxmlformats.org/officeDocument/2006/relationships/image" Target="../media/image-1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8-1.png"/><Relationship Id="rId2" Type="http://schemas.openxmlformats.org/officeDocument/2006/relationships/image" Target="../media/image-128-2.png"/><Relationship Id="rId3" Type="http://schemas.openxmlformats.org/officeDocument/2006/relationships/image" Target="../media/image-128-3.png"/><Relationship Id="rId4" Type="http://schemas.openxmlformats.org/officeDocument/2006/relationships/image" Target="../media/image-12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0-1.png"/><Relationship Id="rId2" Type="http://schemas.openxmlformats.org/officeDocument/2006/relationships/image" Target="../media/image-130-2.png"/><Relationship Id="rId3" Type="http://schemas.openxmlformats.org/officeDocument/2006/relationships/image" Target="../media/image-130-3.png"/><Relationship Id="rId4" Type="http://schemas.openxmlformats.org/officeDocument/2006/relationships/image" Target="../media/image-13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png"/><Relationship Id="rId2" Type="http://schemas.openxmlformats.org/officeDocument/2006/relationships/image" Target="../media/image-132-2.png"/><Relationship Id="rId3" Type="http://schemas.openxmlformats.org/officeDocument/2006/relationships/image" Target="../media/image-132-3.png"/><Relationship Id="rId4" Type="http://schemas.openxmlformats.org/officeDocument/2006/relationships/image" Target="../media/image-13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4-1.png"/><Relationship Id="rId2" Type="http://schemas.openxmlformats.org/officeDocument/2006/relationships/image" Target="../media/image-134-2.png"/><Relationship Id="rId3" Type="http://schemas.openxmlformats.org/officeDocument/2006/relationships/image" Target="../media/image-13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5-1.png"/><Relationship Id="rId2" Type="http://schemas.openxmlformats.org/officeDocument/2006/relationships/image" Target="../media/image-135-2.png"/><Relationship Id="rId3" Type="http://schemas.openxmlformats.org/officeDocument/2006/relationships/image" Target="../media/image-135-3.png"/><Relationship Id="rId4" Type="http://schemas.openxmlformats.org/officeDocument/2006/relationships/image" Target="../media/image-135-4.png"/><Relationship Id="rId5" Type="http://schemas.openxmlformats.org/officeDocument/2006/relationships/image" Target="../media/image-13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6-1.png"/><Relationship Id="rId2" Type="http://schemas.openxmlformats.org/officeDocument/2006/relationships/image" Target="../media/image-136-2.png"/><Relationship Id="rId3" Type="http://schemas.openxmlformats.org/officeDocument/2006/relationships/image" Target="../media/image-13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7-1.png"/><Relationship Id="rId2" Type="http://schemas.openxmlformats.org/officeDocument/2006/relationships/image" Target="../media/image-137-2.png"/><Relationship Id="rId3" Type="http://schemas.openxmlformats.org/officeDocument/2006/relationships/image" Target="../media/image-137-3.png"/><Relationship Id="rId4" Type="http://schemas.openxmlformats.org/officeDocument/2006/relationships/image" Target="../media/image-137-4.png"/><Relationship Id="rId5" Type="http://schemas.openxmlformats.org/officeDocument/2006/relationships/image" Target="../media/image-137-5.png"/><Relationship Id="rId6" Type="http://schemas.openxmlformats.org/officeDocument/2006/relationships/image" Target="../media/image-137-6.png"/><Relationship Id="rId7" Type="http://schemas.openxmlformats.org/officeDocument/2006/relationships/image" Target="../media/image-137-7.png"/><Relationship Id="rId8" Type="http://schemas.openxmlformats.org/officeDocument/2006/relationships/image" Target="../media/image-13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1-1.png"/><Relationship Id="rId2" Type="http://schemas.openxmlformats.org/officeDocument/2006/relationships/image" Target="../media/image-141-2.png"/><Relationship Id="rId3" Type="http://schemas.openxmlformats.org/officeDocument/2006/relationships/image" Target="../media/image-1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2-1.png"/><Relationship Id="rId2" Type="http://schemas.openxmlformats.org/officeDocument/2006/relationships/image" Target="../media/image-142-2.png"/><Relationship Id="rId3" Type="http://schemas.openxmlformats.org/officeDocument/2006/relationships/image" Target="../media/image-142-3.png"/><Relationship Id="rId4" Type="http://schemas.openxmlformats.org/officeDocument/2006/relationships/image" Target="../media/image-142-4.png"/><Relationship Id="rId5" Type="http://schemas.openxmlformats.org/officeDocument/2006/relationships/image" Target="../media/image-14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5-1.png"/><Relationship Id="rId2" Type="http://schemas.openxmlformats.org/officeDocument/2006/relationships/image" Target="../media/image-145-2.png"/><Relationship Id="rId3" Type="http://schemas.openxmlformats.org/officeDocument/2006/relationships/image" Target="../media/image-145-3.png"/><Relationship Id="rId4" Type="http://schemas.openxmlformats.org/officeDocument/2006/relationships/image" Target="../media/image-14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6-1.png"/><Relationship Id="rId2" Type="http://schemas.openxmlformats.org/officeDocument/2006/relationships/image" Target="../media/image-146-2.png"/><Relationship Id="rId3" Type="http://schemas.openxmlformats.org/officeDocument/2006/relationships/image" Target="../media/image-146-3.png"/><Relationship Id="rId4" Type="http://schemas.openxmlformats.org/officeDocument/2006/relationships/image" Target="../media/image-146-4.png"/><Relationship Id="rId5" Type="http://schemas.openxmlformats.org/officeDocument/2006/relationships/image" Target="../media/image-14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6692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PROGRAM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hands-on sessions: from your first OpenAI agent to stateful LangGraph workflows, multi-agent crews, agentic RAG and deep agents.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517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52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Atul Kahate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2724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linkedin.com/in/atulkahate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5204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REPOSITORY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21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github.com/atulkahatecdac/agenticai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5262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1–9  ·  08:00–11:00 AM  ·  Demo code: 16_PGP-Agentic/code/session_N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358384" y="1106424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74920" y="502920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6652" y="644652"/>
            <a:ext cx="283464" cy="28346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24728" y="548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824728" y="7863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agents, tools and design patterns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358384" y="2016252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074920" y="1412748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8" name="Image 1" descr="Fa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652" y="1554480"/>
            <a:ext cx="283464" cy="28346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824728" y="14584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824728" y="169621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Chains, memory, RAG and tool-using agents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358384" y="2926080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5074920" y="2322576"/>
            <a:ext cx="566928" cy="56692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3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652" y="2464308"/>
            <a:ext cx="283464" cy="28346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824728" y="23682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5824728" y="26060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graphs, loops, human-in-the-loop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5358384" y="3835908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5074920" y="3232404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8" name="Image 3" descr="FaPeopleGro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6652" y="3374136"/>
            <a:ext cx="283464" cy="28346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824728" y="32781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and AutoGen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824728" y="35158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crews, flows and teams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074920" y="4142232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2" name="Image 4" descr="FaB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6652" y="4283964"/>
            <a:ext cx="283464" cy="28346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824728" y="41879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deep agents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5824728" y="44256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retrieval, reflection, memory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sessions, each 08:00–11:00 AM, each with live demos from the course repository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4358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0759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3075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2435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24-Oct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148840" y="124358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Foundations and Agent Architectures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2435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SDK, tools, design patterns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16733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6733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16093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25-Oct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16093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Core: Chains, Memory and RAG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1609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LCEL, memory, vector stores, RAG pipeline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03911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0391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19751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31-Oct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19751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Agents and Tool Use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197510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Prompting, custom tools, AgentExecutor, SQL agents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240487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24048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70432" y="23408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1-Nov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148840" y="23408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Stateful Workflows and Routing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623560" y="234086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nodes, edges, reducers, routing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270662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277063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7706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170432" y="27066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7-Nov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148840" y="270662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Cycles, HITL and Persistence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23560" y="270662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Loops, human approval, checkpointers, guardrails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313639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" y="31363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170432" y="30723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8-Nov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2148840" y="307238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CrewAI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623560" y="30723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Crews, flows, managers, memory, observability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43814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35021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6928" y="3502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170432" y="34381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14-Nov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2148840" y="34381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with Microsoft AutoGen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623560" y="34381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AgentChat, teams, GraphFlow, memory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6791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6928" y="38679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170432" y="38039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15-Nov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2148840" y="38039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GraphRAG for Agents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5623560" y="380390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Self-RAG, CRAG, reranking, GraphRAG, RAGAS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57200" y="416966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66928" y="423367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66928" y="42336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1170432" y="41696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21-Nov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2148840" y="41696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Agents: Reflection, Planning and Memory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5623560" y="416966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Reflection, replanning, long-term memory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 ·  SAT 24-OCT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Foundations and Agent Architectures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are, how they are built, and the patterns behind them – using the OpenAI Agents SDK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an AI agent is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differs from an LLM, a chatbot and a workflow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agents with the OpenAI Agents SDK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instructions, tools, and the Runner that executes them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02285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Bo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11886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agents sync and async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know when concurrency pays off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ap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the core design patterns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use, ReAct, plan-and-execute, reflection, multi-agent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AI agent is and why we need one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vs workflows vs agents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components and architecture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and API key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 basics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an agent tools (@function_tool)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multi-tool agent step by step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vs async agents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design patterns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framework landscape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AI Agent?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uses AI models to perceive, decide and act toward a goal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54686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64287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040636"/>
            <a:ext cx="1604772" cy="947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input from its environment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text, user queries, images, audio, sensor data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55748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546860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642872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040636"/>
            <a:ext cx="160477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to do using rules, logic or ML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 a route, pick the best response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54296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546860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HandPo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642872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040636"/>
            <a:ext cx="1604772" cy="947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Performs tasks based on its decisions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answer a question, run a command, call an API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752844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546860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642872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040636"/>
            <a:ext cx="160477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improves over time from feedback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refine recommendations, improve accuracy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359206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21792" y="370179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621792" y="392125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generates text. An agent wraps an LLM with goals, tools and a loop, so it can actually get things done.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0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 (teaser)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at is an LLM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LM alone is limited; an agentic application is the complete solu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chine learning, deep learning, generative AI and agentic AI compa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ic system vs workflow vs autonomous ag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366" y="164592"/>
            <a:ext cx="7697267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of Agentic AI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we build in this course combines some of these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2593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m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03654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and role in plain language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2593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icro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03654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engine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2593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Screwdriver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03654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code, databases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2593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ArrowsRot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0365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– act – review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64490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722626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in your own documents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64490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Plu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722626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way to plug in tools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64490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Memor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722626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and long-term context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64490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User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722626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at the risky steps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6072" y="354101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ShieldHalve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" y="3618738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996696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inputs and outputs safe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2546604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2665476" y="354101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2" name="Image 9" descr="FaPeopleGrou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0" y="3618738"/>
            <a:ext cx="155448" cy="15544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086100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 that collaborate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4636008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4754880" y="354101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46" name="Image 10" descr="FaEy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2604" y="3618738"/>
            <a:ext cx="155448" cy="15544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175504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of every step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725412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844284" y="354101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50" name="Image 11" descr="FaGaugeHigh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008" y="3618738"/>
            <a:ext cx="155448" cy="15544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7264908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answer quality</a:t>
            </a:r>
            <a:endParaRPr lang="en-US" sz="1200" dirty="0"/>
          </a:p>
        </p:txBody>
      </p:sp>
      <p:sp>
        <p:nvSpPr>
          <p:cNvPr id="52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Setup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laptop – every later session reuses this environment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2095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20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520952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Python 3.12, VS Code and git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0627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62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932432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course repository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github.com/atulkahatecdac/agenticai → Fork → keep the name agenticai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3481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73481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04516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it and open it in VS Code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https://github.com/YOUR-USERNAME/agenticai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32308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3230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76600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activate a virtual environment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Code: Ctrl+Shift+P → Python: Select Interpreter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82752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75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781044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OpenAI API key to .env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platform.openai.com → API keys → copy into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15209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758696"/>
            <a:ext cx="3931920" cy="2088515"/>
          </a:xfrm>
          <a:prstGeom prst="roundRect">
            <a:avLst>
              <a:gd name="adj" fmla="val 21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868424"/>
            <a:ext cx="3657600" cy="1905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agenticai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venv myenv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(if blocked, first run: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Set-ExecutionPolicy -Scope Process Bypass)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myenv\Scripts\activate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myenv/bin/activate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openai openai-agents python-dotenv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  (in the repo root)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OPENAI_API_KEY=sk-...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session_1/1_5_openai_basic.py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Call: Talking to an LLM Directly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lowest level – one request, one response, no agent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779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773936"/>
            <a:ext cx="192024" cy="1920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87552" y="1581912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from .env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puts OPENAI_API_KEY into the environment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00300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96312"/>
            <a:ext cx="192024" cy="1920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87552" y="2304288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in, text out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message sets the role; the user message asks the question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2267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218688"/>
            <a:ext cx="192024" cy="1920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87552" y="3026664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tools, no memory, no loop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an agent does, we would have to code ourselves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242021" y="1581912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1_5_openai_basic.py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242021" y="1819656"/>
            <a:ext cx="4444779" cy="2395728"/>
          </a:xfrm>
          <a:prstGeom prst="roundRect">
            <a:avLst>
              <a:gd name="adj" fmla="val 190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379181" y="1929384"/>
            <a:ext cx="4170459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openai import OpenAI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dotenv import load_dotenv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load_dotenv(override=True)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OpenAI()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= client.chat.completions.create(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model="gpt-4o-mini",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messages=[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{"role": "system",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"content": "You are a helpful assistant"},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{"role": "user",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"content": "Explain agentic AI in one paragraph"},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print(response.choices[0].message.content)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session_1/1_5_openai_basic.py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SDK, API and Endpoint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where when our agent talks to the model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yth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4650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in Python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0934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465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SDK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our machine; builds the requests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0934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4650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URL exposed by the provider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0934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4650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model running on OpenAI's servers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12592"/>
          <a:ext cx="8229600" cy="914400"/>
        </p:xfrm>
        <a:graphic>
          <a:graphicData uri="http://schemas.openxmlformats.org/drawingml/2006/table">
            <a:tbl>
              <a:tblPr/>
              <a:tblGrid>
                <a:gridCol w="1714500"/>
                <a:gridCol w="2743200"/>
                <a:gridCol w="37719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runs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Development Kit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our client – a Python library we import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Programming Interface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the server side – the model provider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URL of one API operation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the chat completions or responses 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27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openai-agents  ·  define an agent → add tools → run it → inspect the result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79298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88998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with instructions and tools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support bot answering FAQs with function calls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55748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792986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ight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88998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delegates to another agent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general support hands billing questions to a billing agent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54296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79298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88998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inputs and outputs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block unsafe requests, check the output is valid JSON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752844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792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lockRotate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88998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86762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conversation history across runs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tutor remembers topics already covered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80009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built in: tracing, MCP tools and human approval. The SDK runs the agent loop for us instead of us hand-coding it.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session_1/1_2_openai_agent_basic.py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objects: Agent describes it, Runner runs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4517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1_2_openai_agent_basic.py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517525" cy="2275840"/>
          </a:xfrm>
          <a:prstGeom prst="roundRect">
            <a:avLst>
              <a:gd name="adj" fmla="val 2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4243205" cy="209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dotenv import load_dotenv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agents import Agent, Runner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load_dotenv(override=True)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instructions="You are a helpful customer support analyst.",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model="gpt-4o-mini",          # optional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Runner.run_sync(agent,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"Analyze this customer feedback and suggest improvements: "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"'The product was a bit stale'")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print(result.final_output)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40485" y="183870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8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7353" y="1925574"/>
            <a:ext cx="173736" cy="1737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834261" y="1636776"/>
            <a:ext cx="2852539" cy="75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Agent(...)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Creates, but does not run, the agent: a name, a system prompt (instructions) and a model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340485" y="264871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Pl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353" y="2735580"/>
            <a:ext cx="173736" cy="1737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34261" y="2534412"/>
            <a:ext cx="285253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Runner.run_sync(...)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instructions + message to the LLM and waits for the answer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340485" y="337108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Rep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353" y="34579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34261" y="3256788"/>
            <a:ext cx="285253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result.final_output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final answer, after any tool calls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session_1/1_2_openai_agent_basic.py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tool system at a g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533" y="164592"/>
            <a:ext cx="735493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Tool Call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decides and describes the call; our code executes 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39369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53085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return policy?"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3936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3085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directly, or call a tool?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39369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3085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call that matches the tool's schema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39369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53085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executes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our Python function with those arguments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39369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53085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answer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combines the tool result into a reply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(agent)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621792" y="3704082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when to call a tool, using its instructions, the context and the tool schemas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3255264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3419856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WORK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3419856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function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3419856" y="3704082"/>
            <a:ext cx="230428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 (docstring) and parameters, plus the code to run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6053328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6217920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THEM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6217920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6217920" y="3704082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the call to our function, handles async and errors, returns the result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3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Tool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Python function plus a decorator – the docstring tells the agent when to use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391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– the function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76864"/>
            <a:ext cx="3931920" cy="1376680"/>
          </a:xfrm>
          <a:prstGeom prst="roundRect">
            <a:avLst>
              <a:gd name="adj" fmla="val 332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86592"/>
            <a:ext cx="365760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agents import 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get_temperature(city: str) -&gt; str: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"""Returns mock temperature for a city."""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temps = {"london": "65°F", "tokyo": "78°F",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"mumbai": "85°F"}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temps.get(city.lower(), "70°F")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45783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– give it to the agent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583527"/>
            <a:ext cx="3931920" cy="874649"/>
          </a:xfrm>
          <a:prstGeom prst="roundRect">
            <a:avLst>
              <a:gd name="adj" fmla="val 522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693255"/>
            <a:ext cx="3657600" cy="691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name="QuickAssistant",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tools=[get_temperature, get_time, calculate],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instructions="Use tools when needed. Be concise.",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1453420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1" name="Image 0" descr="FaT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1748" y="1540288"/>
            <a:ext cx="173736" cy="1737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248656" y="1339120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@function_tool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 function into a tool and generates its JSON schema from the type hints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54880" y="217579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4" name="Image 1" descr="FaCom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262664"/>
            <a:ext cx="173736" cy="1737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48656" y="2061496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docstring matters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it to decide if and when to call the tool – make it clear and specific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754880" y="2898172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7" name="Image 2" descr="FaList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748" y="2985040"/>
            <a:ext cx="173736" cy="1737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48656" y="2783872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hints are the contract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city: str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becomes a required string parameter the LLM must fill in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ing an AI agent in seven ste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Multi-Tool Agent,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one agent, three questions answered concurrently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7234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1_1_my_first_agent.py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74978"/>
            <a:ext cx="4444779" cy="3085084"/>
          </a:xfrm>
          <a:prstGeom prst="roundRect">
            <a:avLst>
              <a:gd name="adj" fmla="val 1482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84706"/>
            <a:ext cx="4170459" cy="290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get_temperature(city: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get_time(timezone: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calculate(expression: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Agent(name="QuickAssistant", model="gpt-4o-mini",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tools=[get_temperature, get_time, calculate],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instructions="Use tools when needed. Be concise.")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run_agent():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queries = ["What's the temperature in Tokyo?",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"Calculate 25 * 4 + 10",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"What time is it in New York?"]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tasks = [Runner.run(agent, q) for q in queries]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results = await asyncio.gather(*tasks)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q, r in zip(queries, results):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print(f"Q: {q}\nA: {r.final_output}")</a:t>
            </a:r>
            <a:endParaRPr lang="en-US" sz="9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67739" y="1237234"/>
          <a:ext cx="3419061" cy="914400"/>
        </p:xfrm>
        <a:graphic>
          <a:graphicData uri="http://schemas.openxmlformats.org/drawingml/2006/table">
            <a:tbl>
              <a:tblPr/>
              <a:tblGrid>
                <a:gridCol w="1315023"/>
                <a:gridCol w="2104037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@function_tool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each function callable by the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tools=[...]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menu of tools the agent may choose from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Plain-language questions – the agent picks the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Runner.run(...)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run; the list holds one task per query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asyncio.gather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all tasks at once, waits for 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final_output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agent's answer after its tool 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or Async?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two ways to run 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07185"/>
            <a:ext cx="4023360" cy="2582926"/>
          </a:xfrm>
          <a:prstGeom prst="roundRect">
            <a:avLst>
              <a:gd name="adj" fmla="val 212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7185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07185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– Runner.run_sync(...)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19249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Blocking: one call at a time, each waits for the previous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write – no async / await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scripts, one-off calls, debugging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when there are many requests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3197225"/>
            <a:ext cx="3749040" cy="507492"/>
          </a:xfrm>
          <a:prstGeom prst="roundRect">
            <a:avLst>
              <a:gd name="adj" fmla="val 9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306953"/>
            <a:ext cx="347472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Runner.run_sync(agent, msg)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print(result.final_output)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607185"/>
            <a:ext cx="4023360" cy="2582926"/>
          </a:xfrm>
          <a:prstGeom prst="roundRect">
            <a:avLst>
              <a:gd name="adj" fmla="val 212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07185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607185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– await Runner.run(...)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19249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Non-blocking: many LLM or tool calls in parallel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asyncio and await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production apps, web servers, many sessions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throughput; errors via gather, timeouts, cancellation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3364865"/>
            <a:ext cx="3749040" cy="642366"/>
          </a:xfrm>
          <a:prstGeom prst="roundRect">
            <a:avLst>
              <a:gd name="adj" fmla="val 711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3474593"/>
            <a:ext cx="3474720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main():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await Runner.run(agent, msg)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asyncio.run(main())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session_1/1_7_openai_agent_sync.py, 1_8_openai_agent_async.py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nc vs async: total time 15 s vs 6 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session_1/1_7_openai_agent_sync.py, 1_8_openai_agent_async.py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agentic AI patterns at a g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session_1/1_9_openai_agent_pattern_plan.py, 1_4_…_react.py, 1_10_…_reflection.py, 1_3_…_rewoo.py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Tool Use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decides when and how to call external tools instead of doing everything itself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task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suitable tool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structured input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In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tool's output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PuzzlePie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it into the answer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576072" y="320649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5" descr="FaCub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" y="3284220"/>
            <a:ext cx="155448" cy="1554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96696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is a specialist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2546604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2665476" y="320649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6" descr="FaUpRightAndDownLeftFromCen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284220"/>
            <a:ext cx="155448" cy="1554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086100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tools, not code paths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4636008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4754880" y="320649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8" name="Image 7" descr="FaList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2604" y="3284220"/>
            <a:ext cx="155448" cy="15544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175504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trace of who did what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6725412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6844284" y="320649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42" name="Image 8" descr="FaGaugeHig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284220"/>
            <a:ext cx="155448" cy="15544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4908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Offload work to optimised tools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7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ReAct (Reason + Act)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Think, act, look at the result, think again – until the goal is reached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need next?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right tool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tool's result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54228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the goal is met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 flipH="1">
            <a:off x="1485900" y="2919984"/>
            <a:ext cx="61722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1485900" y="2700528"/>
            <a:ext cx="6172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goal is achieved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step is chosen from the latest observation, so the agent adapts as it learns more – ideal when the path to the answer is not known up front.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session_1/1_4_openai_agent_pattern_react.py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Plan-and-Execute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whole job first, then carry out the steps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99744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210056" y="163677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10056" y="163677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96062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70938" y="1636776"/>
            <a:ext cx="120853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70938" y="1636776"/>
            <a:ext cx="1208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0690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17214" y="163677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17214" y="163677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3712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4743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4743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2866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53897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3897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2020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43051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3051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1174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22058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22058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answer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" y="255117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9" name="Image 0" descr="FaList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647188"/>
            <a:ext cx="192024" cy="19202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115568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" y="3044952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complete plan to reach the goal before doing anything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55264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419856" y="2551176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1" descr="FaPerson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647188"/>
            <a:ext cx="192024" cy="192024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3913632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3419856" y="3044952"/>
            <a:ext cx="2304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each step in order; each step can be a small ReAct loop of its own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6053328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217920" y="255117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9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647188"/>
            <a:ext cx="192024" cy="192024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711696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ReAct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6217920" y="3044952"/>
            <a:ext cx="2304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decides after every observation; plan-and-execute commits to a strategy first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5" name="Text 4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session_1/1_9_openai_agent_pattern_plan.py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Multi-Agent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agents collaborate on one problem, coordinated by an orchestrator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at the orchestrator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ite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sub-tasks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ople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sub-task to a specialist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 or in sequence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LayerGro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and validate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576072" y="335889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5" descr="FaUserTi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" y="3436620"/>
            <a:ext cx="155448" cy="1554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96696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thing well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2546604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2665476" y="335889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6" descr="FaUpRightAndDownLeftFromCen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436620"/>
            <a:ext cx="155448" cy="1554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086100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swap agents freely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4636008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4754880" y="335889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8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2604" y="3436620"/>
            <a:ext cx="155448" cy="15544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175504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work concurrently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6725412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6844284" y="335889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42" name="Image 8" descr="FaShieldHalve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436620"/>
            <a:ext cx="155448" cy="15544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4908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failure doesn't sink the rest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7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session_1/1_11_openai_agent_pattern_multi_agent.py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FAQ Bot to RAG: The Code Ladder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script adds one capability to the previous one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54658"/>
          <a:ext cx="8229600" cy="914400"/>
        </p:xfrm>
        <a:graphic>
          <a:graphicData uri="http://schemas.openxmlformats.org/drawingml/2006/table">
            <a:tbl>
              <a:tblPr/>
              <a:tblGrid>
                <a:gridCol w="391886"/>
                <a:gridCol w="2687216"/>
                <a:gridCol w="2463282"/>
                <a:gridCol w="2687216"/>
              </a:tblGrid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/ feature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 bot with a hardcoded knowledge base, keyword match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calling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1_12_openai_agent_tool_hardcoded_knowledge.py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by meaning instead of keywords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(embeddings)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1_13_openai_agent_hardcoded_semantic.py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 OpenAI host the vector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1_14_openai_agent_openai_vectorstore.py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FAQs in SQLite, vectorised locally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1_15_…_create_faq_db.py → 1_16_…_faq_db_vectorized.py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UI in the browser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 the UI (Flask)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1_17_openai_agent_flask.py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from an insurance PDF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over a 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1_18_openai_agent_insurance_flask.py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unsafe or off-topic 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1_19_openai_agent_guardrails.py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vs agentic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1_20_… vs 1_21_…_agentic_rag.py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used as tools by a manager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1_22_openai_agent_agent_as_tool.py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 earlier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memory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1_23_openai_agent_short_term_memory.py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session_1/1_12_* … 1_23_*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AI Framework Landscape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API calls to full multi-agent frameworks – the order we cover them in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18488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45920"/>
                <a:gridCol w="1954530"/>
                <a:gridCol w="4217670"/>
              </a:tblGrid>
              <a:tr h="24384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/ framework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fits 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API /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level – call LLMs and embeddings; everything else builds on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Agents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agents, tools, handoffs, guardrails and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 / LangGraph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and agent graphs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Compose workflows as graphs: predictable flows, loops, multi-agent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crews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Role-based agents collaborating on tasks; built for autonomy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multi-agent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that talk to each other: debate, negotiate,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agent ↔ tool connection that makes all of the above interoperable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No-code / low-code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builders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Drag-and-drop agents with many connectors (n8n, OpenAI Agent Builder)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agent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+ Runner.run_sync, with instructions and a model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@function_tool functions the agent decides to call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Multi-tool async agent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three queries, run concurrently with asyncio.gather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1_4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plan-and-execute, reflection, ReWOO, multi-agent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1_12+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bot → RAG ladder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search, vector stores, guardrails, memory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= LLM + instructions + tools + a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only describes a tool call – our code runs 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Docstrings and type hints are how the agent understands a tool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async when calls are independent; sync when each step needs the last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pattern by how predictable the path to the answer is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LangChain Core – Chains, Memory and RAG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 ·  SAT 25-OCT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Core: Chains, Memory and RAG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LLM apps from small parts, give them memory, and ground them in your own documents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chains with LCEL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| llm | parser, and the Runnables behind the pipe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Mem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conversation memory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summary and vector-store memory; persistence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11429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21030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and search embeddings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and FAISS, similarity metrics, metadata filters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88086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97687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78104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RAG pipeline end to end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split, embed, retrieve, generate – and a PDF Q&amp;A bot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overview and architecture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and Runnables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 and output parsers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memory (session and persistent)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and vector databases (Chroma, FAISS)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loaders, text splitters and chunking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RAG pipeline with retrievers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Q&amp;A bot over PDFs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framework for building applications on top of LLMs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107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" y="1837944"/>
            <a:ext cx="173736" cy="173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1636776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prompts, output parsers, retrievers, tools – all interchangeable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7345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Right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2560320"/>
            <a:ext cx="173736" cy="1737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2359152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OpenAI, Gemini or a local Ollama model without rewriting the app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9582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" y="3282696"/>
            <a:ext cx="173736" cy="1737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0976" y="3081528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blocks with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run any chain with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.invoke()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.batch()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.stream()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LangChain evolved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276856"/>
          <a:ext cx="3931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18872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LCEL (Runnables)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8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CEL operators and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session_2/2_1_langchain_lcel.py, 2_2_langchain_lcel_ollama.py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ree types of prompt templates in LangCh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session_2/2_3_prompt_templates.py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angChain output par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session_2/2_4_output_parsers.py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Memory Types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remember a customer-support chat – each trades detail for size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EVERYTHING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ListU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memory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every past turn, word for word, to the LLM every time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grows without limit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 SUMMARY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pr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memory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rewrites the chat into a running summary: "Customer's blender arrived damaged; a replacement ships in 3 days."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loses detail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MEANING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Magnifying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Vector-store memory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turns about a laptop; "My battery drains fast" → retrieves the battery turn (turn 3) – the most 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the most recent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long histories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session_2/2_5_memory_types.py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 lives only while the app runs; persistent memory survives restarts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44018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5773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instruction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assistant is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440180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lockRotate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773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conversation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from the database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440180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m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773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question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turn's input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440180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5773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with full context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44018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57734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turn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back for next time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43428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57200" y="30434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94360" y="30434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594360" y="35554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RAM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when the program stops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a single chat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4663440" y="3043428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663440" y="30434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4800600" y="30434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800600" y="35554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a database (e.g. SQLite)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restarts – multi-turn across days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 real assistants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9" name="Text 3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session_2/2_6_persistent_chatbot.py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y do we need RAG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mbeddings: turning text into vec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2_8_rag_cosine_euclidean.py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Similarity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 retrieval ranks stored vectors by how close they are to the query vector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60934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mpassDraf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705356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60934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03120"/>
            <a:ext cx="2304288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between two vectors – ignores length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 = same direction)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5264" y="144475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19856" y="160934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ulerHorizont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705356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913632" y="1609344"/>
            <a:ext cx="1810512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(Euclidean) distance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419856" y="2145792"/>
            <a:ext cx="23042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distance between two points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 = identical)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53328" y="144475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0" y="160934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ArrowsLef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05356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711696" y="160934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product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103120"/>
            <a:ext cx="23042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and magnitude together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equals cosine for normalised vectors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352958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63931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IN ONE LINE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85876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question, score it against every stored vector, keep the top-k closest – those chunks go to the LLM.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session_2/2_8_rag_cosine_euclidean.py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w ChromaDB stores Q&amp;A: questions as vectors, answers as 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session_2/2_9_chroma_db_adding_metadata.py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ChromaDB: Meaning plus Metadata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local, persistent vector database – documents, embeddings and metadata together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50492"/>
            <a:ext cx="365760" cy="36576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Li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41932"/>
            <a:ext cx="182880" cy="182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9264" y="1636776"/>
            <a:ext cx="34198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you store – here, FAQ questions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273808"/>
            <a:ext cx="365760" cy="36576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65248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9264" y="2176272"/>
            <a:ext cx="3419856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for you by Chroma's built-in model, or one you choose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80944"/>
            <a:ext cx="365760" cy="36576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Ta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238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9264" y="2883408"/>
            <a:ext cx="3419856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Key–value tags on each item: category, priority, the answer text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meaning, filter by metadata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754880" y="1874520"/>
            <a:ext cx="3931920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892040" y="1984248"/>
            <a:ext cx="3657600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= collection.query(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query_texts=["delivery lag"],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n_results=1,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where={"category": "returns"},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754880" y="3263011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19472" y="3372739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OF WORK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919472" y="3592195"/>
            <a:ext cx="3602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narrows the candidates by metadata first; similarity then ranks what is left.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2_9_chroma_db_adding_metadata.py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Databases Compared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– store vectors, find the nearest ones – different trade-offs</a:t>
            </a:r>
            <a:endParaRPr lang="en-US" sz="13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090670"/>
                <a:gridCol w="1388125"/>
                <a:gridCol w="1883884"/>
                <a:gridCol w="1983036"/>
                <a:gridCol w="1883884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/ embedded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Small–medium apps, notebooks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Easy, local persistence, Python-first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ideal at very large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Library, not a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in-process 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fast, offline, optimised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metadata store or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Pinecone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Production, large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Scalable, highly available, no infra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Paid, cloud-only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 +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with filters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filtering, simple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Heavier to self-host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2_10_faiss_search.py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FAISS: Search Without Comparing Everything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AI Similarity Search – Meta's library for fast similarity search over dense vectors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million documents, and the user asks </a:t>
            </a:r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machine learning?"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276856"/>
            <a:ext cx="4023360" cy="1737868"/>
          </a:xfrm>
          <a:prstGeom prst="roundRect">
            <a:avLst>
              <a:gd name="adj" fmla="val 31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27685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276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FAISS – linear scan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query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document 1, then 2, then 3 …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all the way to document 1,000,000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and gets slower as data grows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2276856"/>
            <a:ext cx="4023360" cy="1737868"/>
          </a:xfrm>
          <a:prstGeom prst="roundRect">
            <a:avLst>
              <a:gd name="adj" fmla="val 31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27685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276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FAISS – an index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78892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query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it up in the FAISS index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top 5 results directly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disk as a .index file (+ .pkl for the documents)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session_2/2_10_faiss_search.py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Pipeline,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once, then answer many questions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2362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</a:t>
            </a:r>
            <a:pPr algn="l" indent="0" marL="0">
              <a:buNone/>
            </a:pPr>
            <a:r>
              <a:rPr lang="en-US" sz="115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done once, or when documents change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005840" y="175539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FilePd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89255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9377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Word, web, CSV, DB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60020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651760" y="175539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FileIm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89255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3969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13969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Document objects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24612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297680" y="175539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Scisso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892554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78561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Splitter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378561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small chunks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89204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5943600" y="175539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ub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89255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3153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43153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53796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589520" y="175539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6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892554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07745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707745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Chroma, FAISS, Pinecone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3029966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</a:t>
            </a:r>
            <a:pPr algn="l"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for every user question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100584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1" name="Image 5" descr="Fa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550158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9377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49377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160020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265176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6" name="Image 6" descr="FaCub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8920" y="3550158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213969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it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213969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embedding model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24612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0" name="Shape 31"/>
          <p:cNvSpPr/>
          <p:nvPr/>
        </p:nvSpPr>
        <p:spPr>
          <a:xfrm>
            <a:off x="429768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1" name="Image 7" descr="FaMagnifyingGla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3550158"/>
            <a:ext cx="274320" cy="27432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378561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</a:t>
            </a:r>
            <a:endParaRPr lang="en-US" sz="1200" dirty="0"/>
          </a:p>
        </p:txBody>
      </p:sp>
      <p:sp>
        <p:nvSpPr>
          <p:cNvPr id="43" name="Text 33"/>
          <p:cNvSpPr txBox="1"/>
          <p:nvPr/>
        </p:nvSpPr>
        <p:spPr>
          <a:xfrm>
            <a:off x="378561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similar chunks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489204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5" name="Shape 35"/>
          <p:cNvSpPr/>
          <p:nvPr/>
        </p:nvSpPr>
        <p:spPr>
          <a:xfrm>
            <a:off x="594360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6" name="Image 8" descr="FaFileLin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0760" y="3550158"/>
            <a:ext cx="274320" cy="27432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543153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00" dirty="0"/>
          </a:p>
        </p:txBody>
      </p:sp>
      <p:sp>
        <p:nvSpPr>
          <p:cNvPr id="48" name="Text 37"/>
          <p:cNvSpPr txBox="1"/>
          <p:nvPr/>
        </p:nvSpPr>
        <p:spPr>
          <a:xfrm>
            <a:off x="543153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question</a:t>
            </a:r>
            <a:endParaRPr lang="en-US" sz="1000" dirty="0"/>
          </a:p>
        </p:txBody>
      </p:sp>
      <p:sp>
        <p:nvSpPr>
          <p:cNvPr id="49" name="Shape 38"/>
          <p:cNvSpPr/>
          <p:nvPr/>
        </p:nvSpPr>
        <p:spPr>
          <a:xfrm>
            <a:off x="653796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0" name="Shape 39"/>
          <p:cNvSpPr/>
          <p:nvPr/>
        </p:nvSpPr>
        <p:spPr>
          <a:xfrm>
            <a:off x="758952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51" name="Image 9" descr="FaMicrochi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26680" y="3550158"/>
            <a:ext cx="274320" cy="27432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7745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53" name="Text 41"/>
          <p:cNvSpPr txBox="1"/>
          <p:nvPr/>
        </p:nvSpPr>
        <p:spPr>
          <a:xfrm>
            <a:off x="707745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</a:t>
            </a:r>
            <a:endParaRPr lang="en-US" sz="1000" dirty="0"/>
          </a:p>
        </p:txBody>
      </p:sp>
      <p:sp>
        <p:nvSpPr>
          <p:cNvPr id="54" name="Shape 4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57" name="Text 4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session_2/2_13_rag_pipeline.py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Chunking Documents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files into Document objects, then into chunks small enough to embed and retrieve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2600"/>
            <a:ext cx="329184" cy="329184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Im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834896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636776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format – PDF, CSV, web, Notion; a PDF loads as one Document per page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59736"/>
            <a:ext cx="329184" cy="3291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WindowMaximiz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542032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2688" y="2343912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chunk: context window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documents do not fit, and tokens cost money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66872"/>
            <a:ext cx="329184" cy="329184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3249168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2688" y="3051048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chunk: better retrieval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focused chunks match questions better</a:t>
            </a:r>
            <a:endParaRPr lang="en-US" sz="13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99560" y="1636776"/>
          <a:ext cx="4587240" cy="914400"/>
        </p:xfrm>
        <a:graphic>
          <a:graphicData uri="http://schemas.openxmlformats.org/drawingml/2006/table">
            <a:tbl>
              <a:tblPr/>
              <a:tblGrid>
                <a:gridCol w="1084257"/>
                <a:gridCol w="2168513"/>
                <a:gridCol w="133447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splits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N characters, with overlap so ideas are not cut in half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prototypes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Paragraph → sentence → word until each chunk fits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RAG (most common)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topic changes, judged with embeddings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High-quality 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7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session_2/2_11_document_loaders.py, 2_12_text_splitters.py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 between the vector database and the LLM – only the relevant chunks reach the prompt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700403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796415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00403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VectorStoreRetriever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194179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Embeds the question and returns the most similar chunks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only as good as the question's wording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REPHRASE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1700403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Shuff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796415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1700403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MultiQueryRetriever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194179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writes several versions of the question, retrieves for each, merges the results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chunks a single wording misses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1700403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Compre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96415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1700403"/>
            <a:ext cx="1810512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ContextualCompression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236851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candidates, then an LLM keeps only the parts that answer the question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noise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prompt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657981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21792" y="3767709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 LATER SESSIONS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621792" y="3987165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Self-query, parent-document and ensemble retrievers build on the same idea – they change how a question becomes the final chunks.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session_2/2_14_retrievers.py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Q&amp;A Bot over PDFs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LangServe app that answers questions about an insurance PDF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Chroma version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2_15_langchain_qand_a_bot_chroma.py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playground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http://localhost:8000/ask/playground/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the policy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come only from the retrieved chunks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8041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8041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FAISS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2_16_langchain_qanda_bot_faiss.py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same app, different store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54880" y="1636776"/>
            <a:ext cx="1874520" cy="1430528"/>
          </a:xfrm>
          <a:prstGeom prst="roundRect">
            <a:avLst>
              <a:gd name="adj" fmla="val 383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636776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163677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148840"/>
            <a:ext cx="1600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a directory of files for us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automatically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12280" y="1636776"/>
            <a:ext cx="1874520" cy="1430528"/>
          </a:xfrm>
          <a:prstGeom prst="roundRect">
            <a:avLst>
              <a:gd name="adj" fmla="val 383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1636776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163677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148840"/>
            <a:ext cx="1600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.index file + .pkl of documents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save_local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load_local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session_2/2_15_langchain_qand_a_bot_chroma.py, 2_16_langchain_qanda_bot_faiss.py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chains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| llm | parser, with OpenAI and with local Ollama models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2_5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summary and vector-store memory; a persistent chatbot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2_7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search with metadata filters; FAISS indexes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pipeline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→ split → embed → store → retrieve → generate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2_15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Q&amp;A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LangServe app over an insurance document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modern LangChain, everything is a Runnable joined with |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memory by what you can afford to send: all, a summary, or what is relevant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turn meaning into geometry; retrieval is nearest-neighbour search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 often matters more than the choice of vector DB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retriever decides what the LLM gets to see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3: LangChain Agents and Tool Use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 ·  SUN 31-OCT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Agents and Tool Use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 that drive agents, custom tools, and the executors that run the loop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enTo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prompts that steer agents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few-shot examples, chain-of-thought, ReAct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bind custom tools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@tool, bind_tools, and Pydantic schemas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ArrowsRot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loop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AgentExecutor, ReAct and plan-and-execute agents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agents to real systems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databases, chained tools and web research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fundamentals (recap)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 that drive agents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custom tools and binding them to an LLM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with Pydantic schemas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 agent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 agents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 and tool chaining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research agent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Fundamentals: A Quick Recap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 chatbot, an agent makes decisions and performs tasks until the goal is reached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environment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problem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SignsPo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next action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54228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ScrewdriverWre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it with a tool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MagnifyingGlass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67944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result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 flipH="1">
            <a:off x="1280160" y="2919984"/>
            <a:ext cx="658368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1280160" y="270052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until the goal is achieved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loop, built with LangChain: prompts steer the Reason step, tools power the Act step, and an executor runs the loop.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Prompts for Domain-Expert Personas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role, expertise, rules and style before any user interaction</a:t>
            </a:r>
            <a:endParaRPr lang="en-US" sz="135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0387"/>
          <a:ext cx="3495040" cy="914400"/>
        </p:xfrm>
        <a:graphic>
          <a:graphicData uri="http://schemas.openxmlformats.org/drawingml/2006/table">
            <a:tbl>
              <a:tblPr/>
              <a:tblGrid>
                <a:gridCol w="1165013"/>
                <a:gridCol w="2330027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assistant's expertise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objective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or information sources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generate answers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avoid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format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of the response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Formal, friendly, technical 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318000" y="1320387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318000" y="1558131"/>
            <a:ext cx="4368800" cy="1376680"/>
          </a:xfrm>
          <a:prstGeom prst="roundRect">
            <a:avLst>
              <a:gd name="adj" fmla="val 332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55160" y="1667859"/>
            <a:ext cx="409448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expert &lt;ROLE&gt;.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goal is to &lt;OBJECTIVE&gt;.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your expertise in &lt;DOMAIN&gt;.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answering: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Explain concepts clearly.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Ask clarifying questions if information is missing.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make up facts. If uncertain, say so.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in a professional and concise manner.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318000" y="3289586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8000" y="3527330"/>
            <a:ext cx="4368800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55160" y="3637058"/>
            <a:ext cx="4094480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experienced physician specialising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internal medicine. Always: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Explain medical terminology simply.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Recommend a professional for emergencies.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diagnose with certainty from limited data.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Zero-Shot, One-Shot and Few-Shot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model examples of what you want – or none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ONLY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97637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6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QA, summaries, translation, simple classification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inconsistent on complex tasks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" y="3238246"/>
            <a:ext cx="2304288" cy="619887"/>
          </a:xfrm>
          <a:prstGeom prst="roundRect">
            <a:avLst>
              <a:gd name="adj" fmla="val 737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3347974"/>
            <a:ext cx="2029968" cy="437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 the sentiment: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"Arrived on time, works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perfectly."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55264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9856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19856" y="197637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9856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6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teaching a format or style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example rarely covers every case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19856" y="3238246"/>
            <a:ext cx="2304288" cy="747268"/>
          </a:xfrm>
          <a:prstGeom prst="roundRect">
            <a:avLst>
              <a:gd name="adj" fmla="val 611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57016" y="3347974"/>
            <a:ext cx="2029968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Terrible phone.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Arrived on time…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?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53328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EXAMPLES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197637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6711696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complex classification, extraction, structured output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longer prompts cost tokens and time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17920" y="3238246"/>
            <a:ext cx="2304288" cy="747268"/>
          </a:xfrm>
          <a:prstGeom prst="roundRect">
            <a:avLst>
              <a:gd name="adj" fmla="val 611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55080" y="3347974"/>
            <a:ext cx="2029968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Excellent service. → Positive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Very slow delivery. 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Damaged packaging. 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Arrived on time… → ?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(CoT)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reason step by step before it answers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118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customer has a budget of $1,200 and needs a laptop for programming, machine learning and occasional gaming. Recommend the best option.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434844"/>
            <a:ext cx="4023360" cy="1750568"/>
          </a:xfrm>
          <a:prstGeom prst="roundRect">
            <a:avLst>
              <a:gd name="adj" fmla="val 313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43484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4348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4690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recommend Laptop B because it offers the best balance of CPU, GPU, memory and price."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– but we cannot see or check the reasoning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2434844"/>
            <a:ext cx="4023360" cy="1750568"/>
          </a:xfrm>
          <a:prstGeom prst="roundRect">
            <a:avLst>
              <a:gd name="adj" fmla="val 313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43484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4348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CoT: "Reason step by step first"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94690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limit is $1,200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needs a fast CPU and 16 GB+ RAM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and gaming both need a dedicated GPU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B: i7, 16 GB, RTX 4060, 1 TB SSD – $1,180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Laptop B meets every requirement within budget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+ Act: alternate thinking with tool calls, and use each result to decide the next step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69720"/>
            <a:ext cx="33463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have ₹10 lakh to invest for 10 years. Equity mutual fund, fixed deposit or balanced fund?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575560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575560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77112" y="2731008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487424" y="2575560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87424" y="2575560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37994" y="2731008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48306" y="2575560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48306" y="2575560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996184"/>
            <a:ext cx="100050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996184"/>
            <a:ext cx="1000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485138" y="315163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695450" y="2996184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95450" y="2996184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46020" y="315163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656332" y="2996184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56332" y="2996184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69275" y="156972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69275" y="1569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4608187" y="1569720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Thought: I need the user's risk profile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169275" y="1944624"/>
            <a:ext cx="292608" cy="29260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69275" y="1944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60" dirty="0"/>
          </a:p>
        </p:txBody>
      </p:sp>
      <p:sp>
        <p:nvSpPr>
          <p:cNvPr id="26" name="Text 24"/>
          <p:cNvSpPr txBox="1"/>
          <p:nvPr/>
        </p:nvSpPr>
        <p:spPr>
          <a:xfrm>
            <a:off x="4608187" y="1944624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getCustomerProfile(id)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169275" y="2319528"/>
            <a:ext cx="292608" cy="29260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69275" y="2319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60" dirty="0"/>
          </a:p>
        </p:txBody>
      </p:sp>
      <p:sp>
        <p:nvSpPr>
          <p:cNvPr id="29" name="Text 27"/>
          <p:cNvSpPr txBox="1"/>
          <p:nvPr/>
        </p:nvSpPr>
        <p:spPr>
          <a:xfrm>
            <a:off x="4608187" y="2319528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age 38, moderate risk, 10-year horizon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169275" y="26944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9275" y="2694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960" dirty="0"/>
          </a:p>
        </p:txBody>
      </p:sp>
      <p:sp>
        <p:nvSpPr>
          <p:cNvPr id="32" name="Text 30"/>
          <p:cNvSpPr txBox="1"/>
          <p:nvPr/>
        </p:nvSpPr>
        <p:spPr>
          <a:xfrm>
            <a:off x="4608187" y="2694432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Thought: compare returns and risk of the options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169275" y="3069336"/>
            <a:ext cx="292608" cy="29260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169275" y="3069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4608187" y="3069336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getInvestmentOptions([...])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169275" y="3473196"/>
            <a:ext cx="292608" cy="29260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69275" y="34731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60" dirty="0"/>
          </a:p>
        </p:txBody>
      </p:sp>
      <p:sp>
        <p:nvSpPr>
          <p:cNvPr id="38" name="Text 36"/>
          <p:cNvSpPr txBox="1"/>
          <p:nvPr/>
        </p:nvSpPr>
        <p:spPr>
          <a:xfrm>
            <a:off x="4608187" y="3444240"/>
            <a:ext cx="4078613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equity 12% high · FD 7% low · balanced 10% medium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169275" y="3906012"/>
            <a:ext cx="292608" cy="29260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169275" y="3906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60" dirty="0"/>
          </a:p>
        </p:txBody>
      </p:sp>
      <p:sp>
        <p:nvSpPr>
          <p:cNvPr id="41" name="Text 39"/>
          <p:cNvSpPr txBox="1"/>
          <p:nvPr/>
        </p:nvSpPr>
        <p:spPr>
          <a:xfrm>
            <a:off x="4608187" y="3877056"/>
            <a:ext cx="4078613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a balanced fund suits a moderate risk profile over 10 years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Calling: The LLM Asks, the App Acts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its own, an LLM cannot query an API, send an email, read a database or run a function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4650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"Most downloaded Jane Austen book on Project Gutenberg?"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0934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465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decides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need the book catalogue"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0934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4650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search_gutenberg_books("Jane Austen")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0934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4650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executes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runs the function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46504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the result and replies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364992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474720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694176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executes anything. It only generates a structured request; the application decides whether and how to run it.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session_3/3_2_tool_calling.py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in LangChain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with @tool, attach with bind_tools, and constrain inputs with Pydantic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35881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tool and bind it to the LLM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73625"/>
            <a:ext cx="3931920" cy="1519047"/>
          </a:xfrm>
          <a:prstGeom prst="roundRect">
            <a:avLst>
              <a:gd name="adj" fmla="val 301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83353"/>
            <a:ext cx="3657600" cy="133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langchain_core.tools import 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search_gutenberg_books(query: str) -&gt; str: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"""Search Project Gutenberg books."""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llm_with_tools = llm.bind_tools(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[search_gutenberg_books])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35881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in, Pydantic out (3_3)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573625"/>
            <a:ext cx="3931920" cy="2148459"/>
          </a:xfrm>
          <a:prstGeom prst="roundRect">
            <a:avLst>
              <a:gd name="adj" fmla="val 212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683353"/>
            <a:ext cx="3657600" cy="1965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SearchGutenbergInput(BaseModel):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query: str = Field(description="Title, author or subject")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@tool("search_gutenberg_books",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args_schema=SearchGutenbergInput)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search_gutenberg_books(query: str) -&gt; str: ...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BookAnswer(BaseModel):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str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author: str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download_count: int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structured_llm = llm.with_structured_output(BookAnswer)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4107847"/>
            <a:ext cx="393192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makes sure what goes to and from the LLM matches a schema – wrong types fail fast.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session_3/3_2_tool_calling.py, 3_3_tool_calling_pydantic.py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AgentExecutor: The Runtime for the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the model, runs the tools it asks for, feeds the results back, and knows when to stop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1 – the model asks for a tool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"Who wrote Pride and Prejudice?" →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serp_search(query=…)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executor runs the tool, not the model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serp_search, executes it, gets the web results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go back into context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(call, result) pair is added 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agent_scratchpad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loop back to the model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2 – another tool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"Jane Austen" →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search_gutenberg_books(query="Jane Austen")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7010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010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54552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3 – a plain-text answer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call this time = AgentFinish; the loop ends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result["output"]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returned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session_3/3_4_agent_executor_serp_gutenberg.py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and Plan-and-Execute in LangChain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patterns from Session 1, now built with LangChain agents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 – 3_5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→ Action → Observation, repeated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web search and a Python REPL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each step from the latest observation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when the path is not known in advance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 agent – 3_6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→ Planner → Plan → Executor → Steps → Answer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made once, up front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runs as its own small ReAct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long, structured tasks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session_3/3_5_react_agent_web_search_python_repl.py, 3_6_plan_and_execute_agent.py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to Databases: SQLDatabaseToolkit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→ SQL query → answer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8760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department has the highest average salary?" – the agent inspects the schema, writes the SQL, runs it, fixes it if it fails, and explains the result.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098548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21742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Table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2295144"/>
            <a:ext cx="155448" cy="1554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6696" y="2199132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sql_db_list_tables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tables exist?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36008" y="2098548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54880" y="221742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Site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4" y="2295144"/>
            <a:ext cx="155448" cy="1554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75504" y="2199132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sql_db_schema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of the chosen tables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834640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76072" y="295351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" y="3031236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6696" y="2935224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sql_db_query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SQL query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636008" y="2834640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754880" y="295351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9" name="Image 3" descr="Fa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604" y="3031236"/>
            <a:ext cx="155448" cy="1554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175504" y="2935224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sql_db_query_checker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 query before running it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57200" y="376961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21792" y="387934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TIP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621792" y="4098798"/>
            <a:ext cx="7900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agent a read-only database user – an LLM that can write SQL can also write DELETE.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session_3/3_7_create_sales_db.py → 3_8_sql_database_toolkit_agent.py, 3_9_sales_db_agent.py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Reasoning: Chaining Tools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"Book the cheapest flight and email me the ticket" – no single tool can do that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city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ocation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geocode_city()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latitude / longitude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loud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get_current_weather()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coordinates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apP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find_nearby_places()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coordinates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Shi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recommend_clothing()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weather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876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1973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CHAINING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4168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 → output → Tool 2 → output → Tool 3 → final answer. The Flask app (3_11) puts a UI on top of the chaining script (3_10).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session_3/3_10_chaining_tool_outputs.py, 3_11_chaining_tool_outputs_flask.py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Research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web, dig deeper where needed, and write up what it found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API on the topic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Recent?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date-based search for fresh topics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 deeper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BeautifulSoup reads specific pages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FileLi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with sources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session_3/3_12_research_agent_tools.py, 3_13_research_agent_tools_serp.py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few-shot, chain-of-thought and ReAct prompts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3_2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@tool, bind_tools and Pydantic input schemas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00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00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3_4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25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294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loop with web search and Gutenberg tools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0358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3_8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agent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2552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questions over a sales database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5615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15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3_12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5341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agent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810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scrape and summarise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are the agent's operating manual – structure them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requests tool calls; the executor runs them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docstring and schema are what make a tool usable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tools when one output is the next one's input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what tools can do (read-only DB, allow-lists)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4: LangGraph – Stateful Workflows and Routing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 ·  SAT 1-NOV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Stateful Workflows and Routing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 LLM application as a graph: shared state, nodes that update it, and edges that decide what runs next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de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to reach for LangGraph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differs from plain LangChain chains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DiagramProj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graphs from state, nodes and edges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TypedDict state, StateGraph, compile and invoke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02285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CodeMer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11886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updates with reducers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parallel nodes don't overwrite each other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Ro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stream and debug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edges, message graphs, streaming, LangGraph Studio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LangGraph (LangChain vs LangGraph)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components: state, nodes, edges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graph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routing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graphs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pipelines and LangGraph Studio</a:t>
            </a:r>
            <a:endParaRPr lang="en-US" sz="11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Work with LLMs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"summarise this text" task – with plain Python, a LangChain chain, and a LangGraph graph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ABSTRACTION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Python (OOP)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calls; we write the flow, state and error handling ourselves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one-off calls, prototypes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ABSTRACTION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(LCEL)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declarative pipeline: prompt → LLM → parser → tool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linear; built-in retries and fallbacks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standard pipelines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ABSTRACTION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and edges over an explicit, persistent state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loops, parallel paths, conditional routing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stateful, multi-step, multi-agent work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session_4/4_1_not_langgraph_langchain_instead.py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vs LangGraph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builds on LangChain; it doesn't replace it</a:t>
            </a:r>
            <a:endParaRPr lang="en-US" sz="135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LLMs with tools, retrievers and parsers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Complex, stateful, multi-agent applications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single-step or short 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Multi-step, long-running, with loops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Minimal; memory handled outside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shared state across every 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predefined steps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branching and runtime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Chatbots, document Q&amp;A, calculators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Automation, multi-agent orchestration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Steeper: state, nodes, edges, coordination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session_4/4_1_not_langgraph_langchain_instead.py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Four Key Components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bank-transfer graph: check the balance, then buy or sell, then update the balance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40764"/>
            <a:ext cx="365760" cy="36576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32204"/>
            <a:ext cx="182880" cy="182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9264" y="1435608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that flows through the graph and is updated at each step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263140"/>
            <a:ext cx="365760" cy="36576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ircle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5458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9264" y="2157984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step: takes the current state, returns an updated state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85516"/>
            <a:ext cx="365760" cy="36576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6956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9264" y="2880360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two nodes and decides how control flows between them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20262"/>
            <a:ext cx="365760" cy="36576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3" descr="FaDiagramProje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11702"/>
            <a:ext cx="182880" cy="1828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69264" y="3602736"/>
            <a:ext cx="3856736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structure that organises nodes and edges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939280" y="1828800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5933440" y="143560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988304" y="143560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 flipH="1">
            <a:off x="5996940" y="246888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939280" y="246888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5933440" y="207568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988304" y="207568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transaction_node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996940" y="310896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 flipH="1">
            <a:off x="6939280" y="310896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5191760" y="2715768"/>
            <a:ext cx="161036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46624" y="2715768"/>
            <a:ext cx="150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buy_node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7076440" y="2715768"/>
            <a:ext cx="161036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131304" y="2715768"/>
            <a:ext cx="150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sell_node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939280" y="3749040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5933440" y="335584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988304" y="335584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balance_node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5933440" y="399592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988304" y="399592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7" name="Text 3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session_4/4_2_greeter_graph.py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State with TypedDict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don't pass many variables to each other – they read and update one shared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82611"/>
            <a:ext cx="33463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now knows which fields exist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20355"/>
            <a:ext cx="3346315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30083"/>
            <a:ext cx="3071995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BankState(TypedDict):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customer_id: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balance: float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transfer_amount: float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transaction_id: str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3208846"/>
            <a:ext cx="3346315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318574"/>
            <a:ext cx="301713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538030"/>
            <a:ext cx="30171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returns only the fields it changed; LangGraph merges them into the full state.</a:t>
            </a:r>
            <a:endParaRPr lang="en-US" sz="12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9275" y="1582611"/>
          <a:ext cx="4517525" cy="914400"/>
        </p:xfrm>
        <a:graphic>
          <a:graphicData uri="http://schemas.openxmlformats.org/drawingml/2006/table">
            <a:tbl>
              <a:tblPr/>
              <a:tblGrid>
                <a:gridCol w="1198527"/>
                <a:gridCol w="1567305"/>
                <a:gridCol w="1751693"/>
              </a:tblGrid>
              <a:tr h="24384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BaseModel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hints for dicts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and parsing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runtime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enforced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Enforced, with type conversion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nested dicts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– no checks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– validates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just need structure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 validation (e.g. API input)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session_4/4_2_greeter_graph.py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 name, then greet the user – two nodes over a shared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7234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4_3_langgraph_basic.py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74978"/>
            <a:ext cx="4444779" cy="3085084"/>
          </a:xfrm>
          <a:prstGeom prst="roundRect">
            <a:avLst>
              <a:gd name="adj" fmla="val 1482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84706"/>
            <a:ext cx="4170459" cy="290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user_name: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greeting: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ask_name_node(state):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input("Bot: What is your name? 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{**state, "user_name": name}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greet_user_node(state):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{**state,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"greeting": f"Hello {state['user_name']}!"}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 = StateGraph(GraphState)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workflow.add_node("ask_name", ask_name_node)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workflow.add_node("greet_user", greet_user_node)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workflow.add_edge(START, "ask_name")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workflow.add_edge("ask_name", "greet_user")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workflow.add_edge("greet_user", END)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workflow.compile()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app.invoke({"user_name": "", "greeting": ""})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267739" y="1237234"/>
            <a:ext cx="56794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67739" y="1237234"/>
            <a:ext cx="56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63115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73427" y="1237234"/>
            <a:ext cx="76606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73427" y="1237234"/>
            <a:ext cx="766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ask_name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66923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77235" y="1237234"/>
            <a:ext cx="89814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77235" y="1237234"/>
            <a:ext cx="89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greet_user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2811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13123" y="1237234"/>
            <a:ext cx="4358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13123" y="1237234"/>
            <a:ext cx="435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267739" y="209677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9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5463" y="2174494"/>
            <a:ext cx="155448" cy="1554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724939" y="198704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clipboard every node reads and writes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267739" y="273685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2" name="Image 1" descr="FaCircle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463" y="2814574"/>
            <a:ext cx="155448" cy="15544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724939" y="262712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functions: state in, updated state out (</a:t>
            </a:r>
            <a:pPr indent="0" marL="0">
              <a:buNone/>
            </a:pPr>
            <a:r>
              <a:rPr lang="en-US" sz="10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**state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keeps the rest)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267739" y="329692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5" name="Image 2" descr="Fa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463" y="3374644"/>
            <a:ext cx="155448" cy="15544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724939" y="3267202"/>
            <a:ext cx="2961861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→ ask_name → greet_user → END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5267739" y="385699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8" name="Image 3" descr="FaPl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463" y="3934714"/>
            <a:ext cx="155448" cy="15544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724939" y="374726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compile() and invoke()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runnable graph, then run it from an initial state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session_4/4_3_langgraph_basic.py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Reducers: Merging Updates to the Same Key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nodes write the same field, the reducer decides how values combine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28877"/>
            <a:ext cx="4023360" cy="2131822"/>
          </a:xfrm>
          <a:prstGeom prst="roundRect">
            <a:avLst>
              <a:gd name="adj" fmla="val 25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2887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2887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reducer – last write wins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4094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B's message replaces Agent A's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195957"/>
            <a:ext cx="3749040" cy="1181862"/>
          </a:xfrm>
          <a:prstGeom prst="roundRect">
            <a:avLst>
              <a:gd name="adj" fmla="val 386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05685"/>
            <a:ext cx="347472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State(TypedDict):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messages: List[str]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agent_a(state):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{"messages": ["Hello from A"]}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agent_b(state):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{"messages": ["Hello from B"]}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428877"/>
            <a:ext cx="4023360" cy="2131822"/>
          </a:xfrm>
          <a:prstGeom prst="roundRect">
            <a:avLst>
              <a:gd name="adj" fmla="val 25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42887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42887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reducer – values accumulate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94094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messages are kept, in order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2195957"/>
            <a:ext cx="3749040" cy="1181862"/>
          </a:xfrm>
          <a:prstGeom prst="roundRect">
            <a:avLst>
              <a:gd name="adj" fmla="val 386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305685"/>
            <a:ext cx="347472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add_messages(old, new):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old + new        # the reducer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State(TypedDict):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messages: Annotated[List[str], add_messages]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agent_a and agent_b unchanged – nothing is lost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999611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LLM (4_6):</a:t>
            </a:r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two agents check the return policies of two e-commerce sites in parallel; a reducer combines their findings.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session_4/4_4_…_without_reducer.py, 4_5_…_with_reducer.py, 4_6_langgraph_reducer_return_policy.py</a:t>
            </a:r>
            <a:endParaRPr lang="en-US" sz="8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Edges: Choosing the Next Node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 path based on the current state instead of one fixed route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55676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rcleD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9392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state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83108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55676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ode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69392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function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state and returns a label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83108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55676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Rou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69392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node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for that label is followed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76072" y="312648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0" name="Image 3" descr="FaFileSignatu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3204210"/>
            <a:ext cx="155448" cy="1554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96696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approved or rejected?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follow-up nodes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3243072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3361944" y="312648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4" name="Image 4" descr="FaWal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3204210"/>
            <a:ext cx="155448" cy="1554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782568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balance?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or decline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028944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147816" y="312648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8" name="Image 5" descr="FaUser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3204210"/>
            <a:ext cx="155448" cy="1554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568440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authenticated?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or ask again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457200" y="4054602"/>
            <a:ext cx="8229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4_10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(unconditional edges) with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4_11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(conditional on news sentiment);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4_7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routes questions to specialist nodes.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session_4/4_7_…_routing_specialists.py, 4_10_stock_price_graph.py, 4_11_…_sentiment_graph.py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Graphs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conversation itself is the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separate fields such as question, answer and context, the state is a list of </a:t>
            </a:r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Each node reads the history and appends to 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642616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2752344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971800"/>
            <a:ext cx="3602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conversation becomes the state of the graph – ideal for chat assistants like the bank FAQ demo.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874520"/>
            <a:ext cx="3931920" cy="1234313"/>
          </a:xfrm>
          <a:prstGeom prst="roundRect">
            <a:avLst>
              <a:gd name="adj" fmla="val 370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984248"/>
            <a:ext cx="3657600" cy="1051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messages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SystemMessage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HumanMessage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AIMessage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HumanMessage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AIMessage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session_4/4_8_message_graph_bank_faq.py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and LangGraph Studio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progress while the graph runs, and see the graph itself while you build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7776"/>
            <a:ext cx="39547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 the graph runs every node, then returns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streaming, each node's output is sent as soon as it completes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see progress instead of waiting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732020" y="1636776"/>
            <a:ext cx="39547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Studio</a:t>
            </a:r>
            <a:pPr algn="l"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a visual IDE for graphs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32020" y="2017776"/>
            <a:ext cx="3954780" cy="1091946"/>
          </a:xfrm>
          <a:prstGeom prst="roundRect">
            <a:avLst>
              <a:gd name="adj" fmla="val 418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9180" y="2127504"/>
            <a:ext cx="3680460" cy="909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pip install "langgraph-cli[inmem]"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 dev --tunnel     # opens Studio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"domain not allowed"? Advanced settings →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Allowed domains: *.trycloudflare.com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pick stock_news, input: hdfcbank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Ctrl+C to stop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session_4/4_9_streaming_stock_recommendation.py, langgraph.json, 4_10_…_graph.py, 4_11_…_graph.py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angGraph memory options: no memory, MemorySaver, SqliteSa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session_4/4_12_langgraph_news_summarizer.py; session_5/5_7_langgraph_memory.py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LangGraph Examples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demos that combine everything so far – several continue into Session 5</a:t>
            </a:r>
            <a:endParaRPr lang="en-US" sz="135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235200"/>
                <a:gridCol w="3352800"/>
                <a:gridCol w="26416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shows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summariser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API + conditional logic on news sentiment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4_12 (4_13 Ollama, 4_14 Gemini)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 sector outlook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Multi-node research pipeline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4_15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security reviewer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version vs a planner agent that decides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session_5/5_2, 4_16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chatbot (real data)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FAQs in ChromaDB, Flask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ntfy.sh push messages and Gmail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from a Hugging Face dataset, test, apply to the bank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session_5/5_12 → 5_14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memory + RAG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from memory first, else the vector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session_4/4_12_…_news_summarizer.py (+4_13/4_14), 4_15_…_sector_outlook.py, 4_16_…_planner_agent.py</a:t>
            </a:r>
            <a:endParaRPr lang="en-US" sz="8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Sending Email from Code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notification demos send mail through Gmail with an app password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Google Account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sign-in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2-step verification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passwords are only available with it enabled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app password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"App passwords" option, or go to myaccount.google.com/apppasswords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 .env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16-character password without spaces into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GMAIL_APP_PASSWORD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session_5/5_16_langgraph_bank_ntfy_email_flask.py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three ways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Python vs LangChain vs LangGraph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4_3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graph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two nodes, edges, compile and invoke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4_5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agents adding to the same list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4_7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routing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functions that pick the next node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4_12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summariser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API-driven graph with sentiment-based branches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LangGraph when you need state, branches or loops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the contract between nodes – design it first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return partial updates; reducers decide how they merge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turn a pipeline into a decision-maker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for responsiveness; use Studio to see and debug the graph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5: LangGraph – Cycles, Human-in-the-Loop and Persistence</a:t>
            </a:r>
            <a:endParaRPr lang="en-US" sz="1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 ·  SUN 7-NOV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Cycles, Human-in-the-Loop and Persistence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that loop until the work is good enough, pause for a human, and survive a crash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ArrowsRot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loops with a safe exit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back to an earlier node, with a limit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for human approval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and resume with Command(resume=…)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Floppy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and recover state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checkpointers, thread IDs, SQLite crash recovery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ieldHalv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and protect the 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schema design, subgraphs, guardrails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and loops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(HITL)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 and persistence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schema design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in LangGraph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stateful banking chatbot</a:t>
            </a:r>
            <a:endParaRPr lang="en-US" sz="11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in LangGraph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can run more than once – here, an answer is refined until the evaluator is satisfied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839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LLM to answer or improve; iterations + 1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78280" y="1911096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8600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aleBalanc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9585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89585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LLM: continue or stop?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80360" y="1911096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880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CodeBra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2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9793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should_continue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29793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if iterations ≥ 3, else use the decision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 flipH="1">
            <a:off x="1158240" y="3319272"/>
            <a:ext cx="280416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1158240" y="3099816"/>
            <a:ext cx="280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→ back to answer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5029200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is just a conditional edge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029200" y="1874520"/>
            <a:ext cx="3657600" cy="2088515"/>
          </a:xfrm>
          <a:prstGeom prst="roundRect">
            <a:avLst>
              <a:gd name="adj" fmla="val 21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166360" y="1984248"/>
            <a:ext cx="3383280" cy="1905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AgentState(TypedDict):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history: List[str]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iterations: int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decision: str   # "continue" | "stop"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builder.add_conditional_edges(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"evaluate",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should_continue,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{"continue": "answer",   # LOOP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"stop": END},           # EXIT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session_5/5_1_langgraph_looping_agents.py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Loops in a Workflow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order-processing state machine: approve, retry the payment, or give up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31620"/>
            <a:ext cx="37446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after payment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769364"/>
            <a:ext cx="3744686" cy="1451610"/>
          </a:xfrm>
          <a:prstGeom prst="roundRect">
            <a:avLst>
              <a:gd name="adj" fmla="val 315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79092"/>
            <a:ext cx="3470366" cy="126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graph.add_conditional_edges(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"process_payment",        # source node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route_after_payment,      # routing function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"approved": "ship_order",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"retry":    "process_payment",   # loop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"give_up":  "fail_order",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67646" y="1554480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8" name="Image 0" descr="Fa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4514" y="1641348"/>
            <a:ext cx="173736" cy="1737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61422" y="1531620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to ship_order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67646" y="209397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otate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514" y="2180844"/>
            <a:ext cx="173736" cy="1737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61422" y="2071116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 to process_payment – this is the cycle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67646" y="2633472"/>
            <a:ext cx="347472" cy="347472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2" descr="FaCircleX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514" y="272034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061422" y="2610612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give_up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fail_order after too many attempts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67646" y="3442716"/>
            <a:ext cx="4119154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732238" y="3552444"/>
            <a:ext cx="3789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732238" y="3771900"/>
            <a:ext cx="378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every loop an exit: an attempt counter, a quality threshold, or both.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session_5/5_2_langgraph_code_review.py, 5_3_order_processing_state_machine.py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the graph at a risky step so a person can approve, edit or reject before it continues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83920" y="151790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0" y="165506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evaluate_expense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assesses the claim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78280" y="1792224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86000" y="151790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65506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9585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human_approval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89585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interrupt(…) pauses here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80360" y="1792224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88080" y="151790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240" y="165506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9793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29793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invoke(Command(resume=decision))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121152"/>
            <a:ext cx="420624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interrupt()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control to the caller with a payload to show the human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is saved by the checkpointer – a checkpointer is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alternative: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interrupt_before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interrupt_after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named node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029200" y="1517904"/>
            <a:ext cx="365760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it's needed: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loan approvals, large transfers, medical recommendations, legal documents, contract signing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029200" y="2500884"/>
            <a:ext cx="3657600" cy="118872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93792" y="2610612"/>
            <a:ext cx="3328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HITL SCREEN SHOWS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193792" y="2830068"/>
            <a:ext cx="3328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AI's recommendation · supporting evidence and retrieved documents · a confidence score · a short reasoning summary · clear action buttons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session_5/5_4_human_approval_gate.py, 5_5_support_ticketing_agent_hitl.py, 5_6_…_memory_rag.py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graph's state so execution can continue later instead of starting over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45491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32636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current field values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45491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ocationCrosshai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532636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node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execution stopped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45491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532636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history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so far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19100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Hash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268728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ID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run this state belongs to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19100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Pa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268728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interrupts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must answer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19100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List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268728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flags, results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3115564"/>
            <a:ext cx="4023360" cy="876808"/>
          </a:xfrm>
          <a:prstGeom prst="roundRect">
            <a:avLst>
              <a:gd name="adj" fmla="val 62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57200" y="31155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94360" y="31155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persistence</a:t>
            </a:r>
            <a:endParaRPr lang="en-US" sz="1300" dirty="0"/>
          </a:p>
        </p:txBody>
      </p:sp>
      <p:sp>
        <p:nvSpPr>
          <p:cNvPr id="31" name="Text 23"/>
          <p:cNvSpPr txBox="1"/>
          <p:nvPr/>
        </p:nvSpPr>
        <p:spPr>
          <a:xfrm>
            <a:off x="594360" y="362762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→ state → RAM → program ends →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4663440" y="3115564"/>
            <a:ext cx="4023360" cy="876808"/>
          </a:xfrm>
          <a:prstGeom prst="roundRect">
            <a:avLst>
              <a:gd name="adj" fmla="val 62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663440" y="31155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800600" y="31155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persistence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4800600" y="362762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→ state → SQLite → program ends →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267708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 ≠ memory.</a:t>
            </a:r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checkpointer answers "where was the agent?"; memory answers "what does the agent know?"</a:t>
            </a:r>
            <a:endParaRPr lang="en-US" sz="1150" dirty="0"/>
          </a:p>
        </p:txBody>
      </p:sp>
      <p:sp>
        <p:nvSpPr>
          <p:cNvPr id="37" name="Shape 2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0" name="Text 3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session_5/5_7_langgraph_memory.py, 5_8_sqlite_checkpointing_crash_recovery.py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 with a SQLite Checkpointer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transfer that crashes half-way, then resumes exactly where it stopped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40741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54457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thread_id = "transfer-1"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40741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in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54457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debit_account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 debited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40741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loppy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54457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SQLite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40741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Bur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54457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credit_account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crash on attempt 1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2858262"/>
            <a:ext cx="3678865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 – resume from disk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231642"/>
            <a:ext cx="367886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app.invoke(None, config)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None means "don't start fresh; resume this thread"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finds transfer-1 with debit_account already completed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only credit_account – the second attempt succeeds, and the debit is not repeated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4456105" y="2858262"/>
            <a:ext cx="4230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checkpoint holds for transfer-1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456105" y="3096006"/>
            <a:ext cx="4230695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593265" y="3205734"/>
            <a:ext cx="3956375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"amount": 250.00,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"completed_steps": ["debit_account"]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next node to run: credit_account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session_5/5_8_sqlite_checkpointing_crash_recovery.py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the State Schema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everything the agent needs while it works – each node reads it and adds to it</a:t>
            </a:r>
            <a:endParaRPr lang="en-US" sz="135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1704"/>
          <a:ext cx="3574473" cy="914400"/>
        </p:xfrm>
        <a:graphic>
          <a:graphicData uri="http://schemas.openxmlformats.org/drawingml/2006/table">
            <a:tbl>
              <a:tblPr/>
              <a:tblGrid>
                <a:gridCol w="1390073"/>
                <a:gridCol w="218440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user_query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request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retrieved_docs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found by retrieval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returned by tools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final_answer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response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 and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workflow 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397433" y="1441704"/>
            <a:ext cx="4289367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"Am I eligible for a ₹50 lakh home loan?"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the state fills up as the graph runs: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397433" y="22844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97433" y="2284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8" name="Text 5"/>
          <p:cNvSpPr txBox="1"/>
          <p:nvPr/>
        </p:nvSpPr>
        <p:spPr>
          <a:xfrm>
            <a:off x="4836345" y="2249424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messages, user_query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97433" y="272034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97433" y="27203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4836345" y="2685288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retrieval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retrieved_docs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97433" y="315620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97433" y="31562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4" name="Text 11"/>
          <p:cNvSpPr txBox="1"/>
          <p:nvPr/>
        </p:nvSpPr>
        <p:spPr>
          <a:xfrm>
            <a:off x="4836345" y="3121152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tool execution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tool_results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397433" y="359206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97433" y="35920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7" name="Text 14"/>
          <p:cNvSpPr txBox="1"/>
          <p:nvPr/>
        </p:nvSpPr>
        <p:spPr>
          <a:xfrm>
            <a:off x="4836345" y="3557016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reasoning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reasoning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97433" y="40279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97433" y="4027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20" name="Text 17"/>
          <p:cNvSpPr txBox="1"/>
          <p:nvPr/>
        </p:nvSpPr>
        <p:spPr>
          <a:xfrm>
            <a:off x="4836345" y="3992880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final_answer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session_5/5_9_langgraph_reducer_return_policy.py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inside a graph – split one huge workflow into smaller, reusable pieces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04063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2040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medical_history (subgraph)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525268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35580" y="1636776"/>
            <a:ext cx="183261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35580" y="1636776"/>
            <a:ext cx="18326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lab_analysis (subgraph)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9562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805934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5934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analyze_xray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03214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13526" y="1636776"/>
            <a:ext cx="86182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13526" y="1636776"/>
            <a:ext cx="8618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002780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13092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13092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386584"/>
            <a:ext cx="822960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5_11, each subgraph has its own state and nodes – e.g. lab_analysis runs load_lab_results → flag_abnormal_results → summarize_labs – and is called from one node of the main graph.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329793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1" name="Image 0" descr="FaPuzzle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3375660"/>
            <a:ext cx="155448" cy="15544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6696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 each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subgraph does one well-defined job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243072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361944" y="329793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5" name="Image 1" descr="Fa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3375660"/>
            <a:ext cx="155448" cy="155448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3782568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the same subgraph into other graphs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028944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47816" y="329793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9" name="Image 2" descr="FaMagnifying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3375660"/>
            <a:ext cx="155448" cy="15544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568440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to test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a piece without running everything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session_5/5_10_simple_subgraph_example.py, 5_11_medical_diagnosis_subgraphs.py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uardrails in AI ag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session_5/5_12_…_create_guardrails.py, 5_13_…_test_guardrails_flask.py, 5_14_…_bank_flask.py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Guardrails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that keep a model within limits: safe, on-topic, accurate and within policy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46075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38478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blocking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restricted words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46075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538478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length, no URLs or code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46075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List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538478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Allow-listed topics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product questions, say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18922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266950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safety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similarity to harmful intent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18922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Comme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266950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guardrails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 the context only"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18922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Era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266950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filtering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sensitive data, profanity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76072" y="307009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ScrewdriverWren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" y="3147822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96696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Tool-use limits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 search for medical queries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3243072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3361944" y="307009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GaugeHig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9668" y="3147822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3782568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and abuse control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Throttling, authentication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6028944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147816" y="307009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BookO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5540" y="3147822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568440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Retrieval-only answers with citations</a:t>
            </a:r>
            <a:endParaRPr lang="en-US" sz="1200" dirty="0"/>
          </a:p>
        </p:txBody>
      </p:sp>
      <p:sp>
        <p:nvSpPr>
          <p:cNvPr id="40" name="Text 29"/>
          <p:cNvSpPr txBox="1"/>
          <p:nvPr/>
        </p:nvSpPr>
        <p:spPr>
          <a:xfrm>
            <a:off x="457200" y="4101846"/>
            <a:ext cx="822960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demos build a semantic guardrail from a Hugging Face dataset (5_12), test it (5_13), then put it in front of the bank chatbot (5_14).</a:t>
            </a:r>
            <a:endParaRPr lang="en-US" sz="1100" dirty="0"/>
          </a:p>
        </p:txBody>
      </p:sp>
      <p:sp>
        <p:nvSpPr>
          <p:cNvPr id="41" name="Shape 3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2" name="Shape 3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4" name="Text 3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session_5/5_12_…_create_guardrails.py, 5_13_…_test_guardrails_flask.py, 5_14_…_bank_flask.py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End: The Stateful Banking Chatbot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assistant grows feature by feature across these scripts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5_15  RAG chatbot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FAQs in ChromaDB, Flask UI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5_16  Notifications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ntfy.sh alerts and Gmail for escalations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5_14  Guardrails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questions never reach the LLM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em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5_17  STM + RAG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short-term memory first, then the vector DB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32400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3497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35692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5_15 and ask a few banking questions; then 5_16 to see an escalation reach your phone (ntfy) and inbox; then 5_14 and try an off-topic or unsafe question.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session_5/5_15_…_chromadb_flask_chatbot.py, 5_16_…_ntfy_email_flask.py, 5_17_…_STM_RAG_chatbot.py</a:t>
            </a:r>
            <a:endParaRPr lang="en-US" sz="8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self-refining loop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→ evaluate → continue or stop, capped at 3 rounds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gate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and Command(resume=…) for expense claims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5_8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SQLite checkpointer resumes a half-done transfer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5_11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medical-diagnosis flow built from smaller graphs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5_14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bank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guardrails in front of RAG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59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is a conditional edge pointing backwards – always add an exit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needs a checkpointer to pause and resume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thread_id is how you pick which saved run to continue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state fields before writing nodes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belong on input, output and tool use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6: Multi-Agent Orchestration with CrewAI</a:t>
            </a:r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 ·  SAT 8-NOV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CrewAI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role-playing agents (crews) and the event-driven flows that control them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eople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crews from agents and tasks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goals, backstories, tools and processes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DiagramProj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execution with Flows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@start, @listen, @router and shared state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83997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293598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with managers and humans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crews, levels of autonomy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51510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ieldHalv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61111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41528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crews reliable and observable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structured output, guardrails, LangSmith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concepts: agents, tasks, crews, process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crews for real tasks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vs Flow, and conditional routing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 and manager agents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controlled autonomy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and knowledge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and agent-to-agent communication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error handling and reliability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for crews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crew application</a:t>
            </a:r>
            <a:endParaRPr lang="en-US" sz="11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CrewAI?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framework where AI agents with different roles collaborate on complex tasks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16047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do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aim for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Backstory: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context that sharpens them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can call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55748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20340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20340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List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4116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20340" y="2514600"/>
            <a:ext cx="16047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to do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format and content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who does it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"Extract customer names"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654296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18888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18888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12664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818888" y="2514600"/>
            <a:ext cx="16047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tasks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agents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process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the results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752844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917436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917436" y="2020824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5" name="Image 3" descr="FaScrewdriverWre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116836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11212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917436" y="2514600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readers, web search, APIs, databases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 for your domain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session_6/6_1_crewai_basics.py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Basic Crew to an Advanced One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crew runs tasks in order; advanced applications also need orchestration, state and control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57886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1602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5788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1602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57886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16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5788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UserT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1602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all three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3029712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7200" y="3029712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1069086" y="318516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1279398" y="3029712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1279398" y="3029712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1821942" y="318516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2032254" y="3029712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2032254" y="3029712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57200" y="345033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57200" y="345033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1069086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279398" y="3450336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279398" y="3450336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2446020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7" name="Shape 31"/>
          <p:cNvSpPr/>
          <p:nvPr/>
        </p:nvSpPr>
        <p:spPr>
          <a:xfrm>
            <a:off x="2656332" y="345033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2656332" y="345033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3268218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0" name="Shape 34"/>
          <p:cNvSpPr/>
          <p:nvPr/>
        </p:nvSpPr>
        <p:spPr>
          <a:xfrm>
            <a:off x="3478530" y="345033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78530" y="345033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5458408" y="3029712"/>
            <a:ext cx="3228392" cy="118872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623000" y="3139440"/>
            <a:ext cx="2899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CREWS MUST ANSWER</a:t>
            </a:r>
            <a:endParaRPr lang="en-US" sz="900" dirty="0"/>
          </a:p>
        </p:txBody>
      </p:sp>
      <p:sp>
        <p:nvSpPr>
          <p:cNvPr id="44" name="Text 38"/>
          <p:cNvSpPr txBox="1"/>
          <p:nvPr/>
        </p:nvSpPr>
        <p:spPr>
          <a:xfrm>
            <a:off x="5623000" y="3358896"/>
            <a:ext cx="2899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happen next? · Which agent should act? · What carries forward? · What if the result is poor? · Where should a human step in?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8" name="Text 4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session_6/6_1_crewai_basics.py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w context and memory work in Crew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session_6/6_2_crewai_document_generator.py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Examples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crews to run and adapt</a:t>
            </a:r>
            <a:endParaRPr lang="en-US" sz="135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150918"/>
                <a:gridCol w="4021282"/>
                <a:gridCol w="20574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generator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Researches a technology and writes documentation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6_2_crewai_document_generator.py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analyser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Parses, analyses and summarises system logs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6_3_crewai_log_analyzer.py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bill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cost drivers in a GCP billing export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6_4_crewai_cloud_bill.py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data (marketaux.com key) with a Flask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6_5_crewai_stock_analysis_flask.py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reviewer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review, without and with agent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6_11 vs 6_10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crew traced in LangSmith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6_14_crewai_observability.py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service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search, then low → reply, medium → email, high → ntfy alert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6_15 (embeddings) → 6_16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session_6/6_2 … 6_5, 6_10/6_11, 6_14, 6_15 → 6_16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vs 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= who does the work.  Flow = how the application runs.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562608"/>
          </a:xfrm>
          <a:prstGeom prst="roundRect">
            <a:avLst>
              <a:gd name="adj" fmla="val 35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of agents working together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collaboration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perform the tasks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multi-agent work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562608"/>
          </a:xfrm>
          <a:prstGeom prst="roundRect">
            <a:avLst>
              <a:gd name="adj" fmla="val 35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the overall application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orchestration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happens next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complex, branching workflows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3829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63829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69086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79398" y="363829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79398" y="363829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099310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309622" y="363829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09622" y="363829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29534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339846" y="3638296"/>
            <a:ext cx="183261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39846" y="3638296"/>
            <a:ext cx="18326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→ Analyze → Report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99888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10200" y="3638296"/>
            <a:ext cx="169392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10200" y="3638296"/>
            <a:ext cx="16939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→ Research again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Building Blocks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decorators plus a shared state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40345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18069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flow begins (there can be several)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40345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EarList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18069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@listen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when another step's output arrives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40345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CodeBra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18069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@router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path to take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40345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18069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→ update → pass forward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" y="2988501"/>
            <a:ext cx="376645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on confidence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457200" y="3226245"/>
            <a:ext cx="3766457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94360" y="3335973"/>
            <a:ext cx="3492137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@router(fetch_snapshot)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route_on_confidence(self):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self.state.confidence &gt;= 0.8: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"good"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"retry"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4543697" y="2988501"/>
            <a:ext cx="41431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Listeners subscribe to the route labels: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@listen("good")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@listen("retry")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can converge again with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or_(…)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hard-coded sequence – the flow decides at run time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Flow: Stock Research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 live snapshot, judge its quality, then analyse it with a crew – or explain why not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08418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6_6_crew_vs_flow.py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46162"/>
            <a:ext cx="4368800" cy="2942717"/>
          </a:xfrm>
          <a:prstGeom prst="roundRect">
            <a:avLst>
              <a:gd name="adj" fmla="val 155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55890"/>
            <a:ext cx="4094480" cy="2759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ResearchState(BaseModel):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ticker: str = "AAPL"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snapshot: str = 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confidence: float = 0.0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report: str = 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StockResearchFlow(Flow[ResearchState]):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@start()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fetch_snapshot(self): ...      # yfinance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@router(fetch_snapshot)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route_on_confidence(self): ... # good | retry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@listen("retry")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handle_low_confidence(self):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@listen("good")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analyze_with_crew(self): ...   # Crew.kickoff()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@listen(or_(handle_low_confidence,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analyze_with_crew))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finalize_report(self): ...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191760" y="13510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91760" y="13510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5630672" y="1308418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model shared by every step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191760" y="190049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91760" y="19004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5630672" y="1777810"/>
            <a:ext cx="3056128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the stock snapshot; confidence = share of fields present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191760" y="244989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91760" y="24498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5630672" y="2407222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@router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0.8 → "good", otherwise "retry"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191760" y="291928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91760" y="291928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5630672" y="2876614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@listen("good")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equity-analyst crew writes the take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191760" y="338867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91760" y="338867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21" name="Text 19"/>
          <p:cNvSpPr txBox="1"/>
          <p:nvPr/>
        </p:nvSpPr>
        <p:spPr>
          <a:xfrm>
            <a:off x="5630672" y="3346006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or_(…)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converge in finalize_report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 and Manager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a fixed researcher → analyst → writer chain, a manager decides who does what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 flipH="1">
            <a:off x="1056277" y="183794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528751" y="1837944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28751" y="183794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97231" y="1444752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2095" y="144475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agent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56277" y="247802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28751" y="2478024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H="1">
            <a:off x="2528751" y="247802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29674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84538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02149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57013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797231" y="2724912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52095" y="272491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920343" y="1444752"/>
            <a:ext cx="3766457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the overall objective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work to specialists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their results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needs more work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final output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52958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63931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ONLY WHEN NEEDED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385876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workflow is straightforward and not agentic, a sequential crew is simpler and cheaper than a manager agent.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session_6/6_7_hierarchical_crew.py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Controlled Autonomy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how much the crew may do on its own</a:t>
            </a:r>
            <a:endParaRPr lang="en-US" sz="1350" dirty="0"/>
          </a:p>
        </p:txBody>
      </p:sp>
      <p:graphicFrame>
        <p:nvGraphicFramePr>
          <p:cNvPr id="9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4517525" cy="914400"/>
        </p:xfrm>
        <a:graphic>
          <a:graphicData uri="http://schemas.openxmlformats.org/drawingml/2006/table">
            <a:tbl>
              <a:tblPr/>
              <a:tblGrid>
                <a:gridCol w="1505842"/>
                <a:gridCol w="1417263"/>
                <a:gridCol w="1594421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behaviour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approves each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a refund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Human-on-the-loop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supervises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 automated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Human-out-of-the-loop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autonomous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classification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013643" y="2029968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6282123" y="163677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36987" y="163677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013643" y="2670048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282123" y="227685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36987" y="227685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144963" y="3310128"/>
            <a:ext cx="86868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013643" y="3310128"/>
            <a:ext cx="86868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282123" y="291693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36987" y="291693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13443" y="355701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68307" y="355701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Execute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150803" y="355701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05667" y="355701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→ Revise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session_6/6_8_human_in_the_loop.py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Knowledge and Structured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know, what they remember – and how they hand results to each other reliably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4345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" y="1830324"/>
            <a:ext cx="173736" cy="173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1636776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information do I need to know?" – documents given up front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5059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Mem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2537460"/>
            <a:ext cx="173736" cy="1737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2343912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I remember from earlier work?" – retrieved when needed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5772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" y="3244596"/>
            <a:ext cx="173736" cy="1737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0976" y="3051048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state ≠ memory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this run's temporary context; memory outlives it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72495" y="163677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372495" y="163677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984381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5194693" y="1636776"/>
            <a:ext cx="141655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194693" y="1636776"/>
            <a:ext cx="1416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638683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6848995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48995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schema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372495" y="2057400"/>
            <a:ext cx="9311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372495" y="2057400"/>
            <a:ext cx="93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agent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72495" y="2532888"/>
            <a:ext cx="43143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6_12_structured_outputs.py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372495" y="2770632"/>
            <a:ext cx="4314305" cy="1091946"/>
          </a:xfrm>
          <a:prstGeom prst="roundRect">
            <a:avLst>
              <a:gd name="adj" fmla="val 418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509655" y="2880360"/>
            <a:ext cx="4039985" cy="909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ResearchFinding(BaseModel):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company: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revenue_growth: float   # 0.12 = 12%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risk_level: str         # low | medium | high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confidence: float       # 0-1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evidence: list[str]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session_6/6_9_memory_and_knowledge.py, 6_10 vs 6_11, 6_12_structured_outputs.py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Error Handling and Reliability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fail – plan for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agents fail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0156"/>
            <a:ext cx="395478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incomplete information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wrong tool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invalid output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stuck in a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 on a service that is down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3202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guardrail checks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2010156"/>
            <a:ext cx="395478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fields exist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contains evidence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above a threshold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follows policy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read-only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are within an allowed range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759708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759708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138428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348740" y="3759708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48740" y="3759708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099310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309622" y="3759708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09622" y="3759708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60192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70504" y="3759708"/>
            <a:ext cx="127787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70504" y="3759708"/>
            <a:ext cx="12778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/ policy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session_6/6_13_guardrails_and_reliability.py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with LangSmith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every agent step, prompt, tool call and token count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smith.langchain.com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09473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9473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048256"/>
            <a:ext cx="3305774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tracing project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→ New → market-research-crew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5270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527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552700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settings to .env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96418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964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64180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crew and open the trace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67646" y="1636776"/>
            <a:ext cx="4119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67646" y="1874520"/>
            <a:ext cx="4119154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4806" y="1984248"/>
            <a:ext cx="3844834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LANGSMITH_TRACING="true"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LANGSMITH_ENDPOINT="https://api.smith.langchain.com"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LANGSMITH_API_KEY="your api key"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LANGSMITH_PROJECT="market-research-crew"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session_6/6_14_crewai_observability.py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crew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tasks and a crew that combines their work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@start, @router and @listen around a stock-analysis crew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00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00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6_7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25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294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agent delegating to specialists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0358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6_12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hand-offs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2552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outputs and guardrails between agents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5615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15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6_16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5341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810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plus priority-based escalation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crew is about who works; a flow is about what happens next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roles, goals and expected outputs make agents dependable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manager agent only when the work really needs judgement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structured data between agents, not free text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everything – multi-agent bugs are hard to see otherwise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7: Multi-Agent Systems with Microsoft AutoGen</a:t>
            </a:r>
            <a:endParaRPr lang="en-US" sz="12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 ·  SUN 14-NOV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with Microsoft AutoGen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cooperate by talking to each other – in teams, group chats and graphs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48971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58572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AssistantAgents with tools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clients, messages, streaming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07340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16941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06502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agents sync and async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get structured, multimodal output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74853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284454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64871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agents into teams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round-robin, selector and Magentic-One group chats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51510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DiagramProje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61111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41528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 conversation as a 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with parallel branches and joins; memory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overview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 and tools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vs asynchronous agents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messages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/ group chats: round-robin, selector, magentic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(including parallel join)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open-source framework for agents that cooperate – fully asynchronous since v0.4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UI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75564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WindowMaxim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51660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Studio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to prototype agents by drag and drop and watch them interact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demoing ideas or validating a workflow before coding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USE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175564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851660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AgentChat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Python API for single- and multi-agent conversational apps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dialogue and turn-taking matter most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LEVEL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175564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Micro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851660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runtime: agents, messages, handlers at scale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many agents coordinate beyond simple chats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602736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21792" y="3712464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SESSION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621792" y="3931920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demo uses AgentChat (packages autogen-agentchat and autogen-ext) with an OpenAI model client – 7_5 also uses Anthropic Claude.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session_7/7_1_autogen_basic.py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AutoGen Demos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concept per script, building up from a single agent to teams and graphs</a:t>
            </a:r>
            <a:endParaRPr lang="en-US" sz="135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3954780" cy="914400"/>
        </p:xfrm>
        <a:graphic>
          <a:graphicData uri="http://schemas.openxmlformats.org/drawingml/2006/table">
            <a:tbl>
              <a:tblPr/>
              <a:tblGrid>
                <a:gridCol w="3064955"/>
                <a:gridCol w="889826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AssistantAgent syntax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a live forex API as a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Sends a TextMessage instead of a plain 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agents, run one after the other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agents in parallel – Claude + Yahoo Finance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output (OpenAI models)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MultiModalMessage – text plus an image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32020" y="1636776"/>
          <a:ext cx="3954780" cy="914400"/>
        </p:xfrm>
        <a:graphic>
          <a:graphicData uri="http://schemas.openxmlformats.org/drawingml/2006/table">
            <a:tbl>
              <a:tblPr/>
              <a:tblGrid>
                <a:gridCol w="3064955"/>
                <a:gridCol w="889826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Round-robin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Selector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Magentic-One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Fact-check: "India never faced a recession in 30 years"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GraphFlow with a parallel join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session_7/7_1_* … 7_14_*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LLM-backed agent that can call Python functions as tools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7_2_autogen_forex_api.py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57600" cy="1766316"/>
          </a:xfrm>
          <a:prstGeom prst="roundRect">
            <a:avLst>
              <a:gd name="adj" fmla="val 258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3383280" cy="1583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AssistantAgent(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name="forex_agent",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model_client=OpenAIChatCompletionClient(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model="gpt-4o-mini"),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tools=[get_forex_rate],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main():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Console(agent.run_stream(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task="Current forex rate of USD to INR?"))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asyncio.run(main())</a:t>
            </a:r>
            <a:endParaRPr lang="en-US" sz="850" dirty="0"/>
          </a:p>
        </p:txBody>
      </p:sp>
      <p:graphicFrame>
        <p:nvGraphicFramePr>
          <p:cNvPr id="10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636776"/>
          <a:ext cx="4206240" cy="914400"/>
        </p:xfrm>
        <a:graphic>
          <a:graphicData uri="http://schemas.openxmlformats.org/drawingml/2006/table">
            <a:tbl>
              <a:tblPr/>
              <a:tblGrid>
                <a:gridCol w="1602377"/>
                <a:gridCol w="2603863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Identifies the agent among many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model_client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LLM backend that powers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functions – converted to FunctionTools with a schema automatically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system_message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Role, tone and 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reflect_on_tool_use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a self-check after tool 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model_client_stream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Streams tokens as they arrive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session_7/7_2_autogen_forex_api.py, 7_3_autogen_forex_api_text_message.py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TextMessage Travels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 to the model and back, wrapped in message objects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TextMessage(content=…, source="User")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In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agent.run_stream(task=text_message)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Right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to_model_message() – automatic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client generates a reply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TextMessage(content="1 USD = 83.12 INR", source="forex_agent")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39242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5021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BOTHER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721608"/>
            <a:ext cx="7900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objects carry who sent what – essential once several agents are talking in the same conversation.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session_7/7_3_autogen_forex_api_text_message.py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vs Asynchronous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1 idea again, now with AutoGen agents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2298954"/>
          </a:xfrm>
          <a:prstGeom prst="roundRect">
            <a:avLst>
              <a:gd name="adj" fmla="val 23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finishes before the next starts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later steps need earlier outputs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reason about; slower on I/O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840736"/>
            <a:ext cx="3749040" cy="507492"/>
          </a:xfrm>
          <a:prstGeom prst="roundRect">
            <a:avLst>
              <a:gd name="adj" fmla="val 9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950464"/>
            <a:ext cx="347472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 = await desc_agent.on_messages([...])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 = await context_agent.on_messages([...])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636776"/>
            <a:ext cx="4023360" cy="2298954"/>
          </a:xfrm>
          <a:prstGeom prst="roundRect">
            <a:avLst>
              <a:gd name="adj" fmla="val 23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agents run together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tasks don't depend on each other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Faster; shared state is harder to manage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2840736"/>
            <a:ext cx="3749040" cy="912114"/>
          </a:xfrm>
          <a:prstGeom prst="roundRect">
            <a:avLst>
              <a:gd name="adj" fmla="val 501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950464"/>
            <a:ext cx="347472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= asyncio.create_task(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desc_agent.on_messages(...))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= asyncio.create_task(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context_agent.on_messages(...))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desc, ctx = await asyncio.gather(t1, t2)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session_7/7_4_autogen_synchronous_agents.py, 7_5_autogen_asynchronous_agents.py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model return JSON that matches a schema, ready for the next step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Li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job postings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description text (Kaggle LinkedIn jobs)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agent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each description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Table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company_name, role, location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File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out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Consistent, easy to parse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240024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supported with OpenAI models. The schema guarantees the downstream code always gets the same keys.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session_7/7_6_autogen_structured_output.py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 Agents Talking to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speaks next is what distinguishes the team types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ArrowsS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95144"/>
            <a:ext cx="16047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take turns in a fixed order; everyone sees everything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Writer and Critic refine a post until the Critic says APPROVE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55748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HandPo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97380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picks the next speaker after each message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Reviewer, Coder and Tester – whoever is needed next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54296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80136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WandMagic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97380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Magentic-One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general-purpose team for open-ended tasks over web and files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analyse a PDF report or a web page end to end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752844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801368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Right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9738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hand off control with HandoffMessage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DataCollector passes results to a DataAnalyzer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session_7/7_8_…_round_robin_group_chat.py, 7_9_…_selector_….py, 7_10_…_magentic_….py, 7_11_….py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GraphFlow: Conversations as a Directed 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LangGraph, for AutoGen teams – sequential, parallel and conditional paths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2600"/>
            <a:ext cx="329184" cy="329184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rcleD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834896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636776"/>
            <a:ext cx="336053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are agents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are the allowed transitions, optionally conditional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375916"/>
            <a:ext cx="329184" cy="3291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ode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458212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2688" y="2343912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loops, joins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out to parallel agents, then join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15412"/>
            <a:ext cx="329184" cy="329184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FlagChecker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2997708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2688" y="2883408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termination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turns, a stop signal, or graph completion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454908"/>
            <a:ext cx="329184" cy="329184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3" descr="FaTriangleExcla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3537204"/>
            <a:ext cx="164592" cy="16459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2688" y="3422904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experimental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API changes; design termination carefully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4658980" y="1636776"/>
            <a:ext cx="40278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7_13: two editors in parallel, one reviewer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58980" y="1874520"/>
            <a:ext cx="4027820" cy="1511554"/>
          </a:xfrm>
          <a:prstGeom prst="roundRect">
            <a:avLst>
              <a:gd name="adj" fmla="val 302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796140" y="1984248"/>
            <a:ext cx="3753500" cy="1328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 = DiGraphBuilder()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builder.add_node(writer).add_node(editor1) \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.add_node(editor2).add_node(final_reviewer)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builder.add_edge("writer", "editor1")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builder.add_edge("writer", "editor2")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builder.add_edge("editor1", "final_reviewer")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builder.add_edge("editor2", "final_reviewer")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= GraphFlow(participants=builder.get_participants(),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graph=builder.build())</a:t>
            </a:r>
            <a:endParaRPr lang="en-US" sz="850" dirty="0"/>
          </a:p>
        </p:txBody>
      </p:sp>
      <p:sp>
        <p:nvSpPr>
          <p:cNvPr id="19" name="Shape 1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session_7/7_12_autogen_graphflow.py, 7_13_autogen_graphflow_parallel_join.py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 AutoGen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facts and inject the relevant ones into the agent's context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7446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7_14_autogen_memory.py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744686" cy="1638935"/>
          </a:xfrm>
          <a:prstGeom prst="roundRect">
            <a:avLst>
              <a:gd name="adj" fmla="val 279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3470366" cy="1456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user_memory = ListMemory()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assistant_agent = AssistantAgent(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name="multilingual_assistant",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model_client=client,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memory=[user_memory],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 = input("Preferred language? ")   # e.g. Hindi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user_memory.add(MemoryContent(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content=f"The user prefers replies in {lang}.",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mime_type=MemoryMimeType.TEXT))</a:t>
            </a:r>
            <a:endParaRPr lang="en-US" sz="850" dirty="0"/>
          </a:p>
        </p:txBody>
      </p:sp>
      <p:graphicFrame>
        <p:nvGraphicFramePr>
          <p:cNvPr id="1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67646" y="1636776"/>
          <a:ext cx="4119154" cy="914400"/>
        </p:xfrm>
        <a:graphic>
          <a:graphicData uri="http://schemas.openxmlformats.org/drawingml/2006/table">
            <a:tbl>
              <a:tblPr/>
              <a:tblGrid>
                <a:gridCol w="1441704"/>
                <a:gridCol w="267745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 fact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query()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 relevant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update_context()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 them into the agent's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/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close()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fresh / release resources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chronological list – demos, small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in a vector DB – RAG-style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session_7/7_14_autogen_memory.py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7_2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tool-using agent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 calling a live forex API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7_5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agents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and Yahoo Finance agents run concurrently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7_6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extraction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postings → JSON via a Pydantic schema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7_8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Round-robin, selector and Magentic-One teams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7_13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editors joined by a final reviewer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models collaboration as conversation between agents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async – use it to run independent agents together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type = the rule for who speaks next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brings explicit, graph-shaped control to teams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just context the framework injects for you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8: Agentic RAG and GraphRAG for Agents</a:t>
            </a:r>
            <a:endParaRPr lang="en-US" sz="12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 ·  SAT 15-NOV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GraphRAG for Agents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simple retrieve-then-generate is not enough: smarter retrieval, self-checking, graphs – and how to measure it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TriangleExcla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why RAG fails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retrieval, noise, hallucination, fragmentation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an agent drive retrieval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strategies, Self-RAG, corrective RAG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Ranking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what reaches the LLM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and hybrid keyword + semantic search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CircleNod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facts and measure quality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GraphRAG, multi-hop reasoning, RAGAS metrics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failure modes and advanced approaches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 vs agentic RAG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 (CRAG)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 retrieved chunks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RAG with RAGAS</a:t>
            </a:r>
            <a:endParaRPr lang="en-US" sz="11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RAG Fails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failure modes to recognise before reaching for a fix</a:t>
            </a:r>
            <a:endParaRPr lang="en-US" sz="1350" dirty="0"/>
          </a:p>
        </p:txBody>
      </p:sp>
      <p:graphicFrame>
        <p:nvGraphicFramePr>
          <p:cNvPr id="1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403873"/>
                <a:gridCol w="2226833"/>
                <a:gridCol w="2275242"/>
                <a:gridCol w="2323652"/>
              </a:tblGrid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causes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is in the knowledge base but isn't retrieved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query wording, weak embeddings, top-k too 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has the ATM withdrawal limit; unrelated card-security chunks come back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Irrelevant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Retrieved chunks aren't relevant enough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retrieval precision, too much top-k, no reranking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question; shipping and warranty chunks retrieved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LLM states facts the context doesn't support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information, model assumptions, overconfidence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Context: refunds in 5 business days. LLM: "…and you'll receive an email confirmation"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in the middle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right chunk is retrieved but buried among others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much context, poor ordering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key clause sits at position 7 of 10 and is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Fragmentation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is split across chunks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fixed-size chunking, no overlap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rule and its exception land in different chunks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session_8/8_1_rag_hallucination_eval.py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Advanced-RAG Toolbox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techniques this session covers – each targets a specific weakness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51638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94104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decides what, how and when to retrieve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51638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otate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594104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evidence; retrieves again if weak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51638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594104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web search when local fails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51638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RankingSt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59410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model re-orders the chunks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54965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627376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hypothetical answer, search with it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54965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Clo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627376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expansion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rewrites of the question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54965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CircleNod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627376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and relationships as a graph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54965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Shuffl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627376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keyword, vector and graph search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6072" y="358292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Stair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" y="3660648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996696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several facts to one answer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2546604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2665476" y="358292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2" name="Image 9" descr="FaBrai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0" y="3660648"/>
            <a:ext cx="155448" cy="15544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086100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decide on retrieved facts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4636008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4754880" y="358292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46" name="Image 10" descr="FaGaugeHig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2604" y="3660648"/>
            <a:ext cx="155448" cy="15544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175504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retrieval and answer quality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725412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844284" y="358292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50" name="Image 11" descr="FaShieldHalve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008" y="3660648"/>
            <a:ext cx="155448" cy="15544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7264908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backed by context</a:t>
            </a:r>
            <a:endParaRPr lang="en-US" sz="1200" dirty="0"/>
          </a:p>
        </p:txBody>
      </p:sp>
      <p:sp>
        <p:nvSpPr>
          <p:cNvPr id="52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session_8/8_1_rag_hallucination_eval.py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 vs Agentic RAG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pipeline vs an agent that plans its retrieval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2014728"/>
          </a:xfrm>
          <a:prstGeom prst="roundRect">
            <a:avLst>
              <a:gd name="adj" fmla="val 27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retrieval pipeline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once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planning; follows a predefined sequence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architecture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straightforward Q&amp;A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2014728"/>
          </a:xfrm>
          <a:prstGeom prst="roundRect">
            <a:avLst>
              <a:gd name="adj" fmla="val 27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Intelligent, dynamic workflow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as many times as needed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reasoning steps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Plans, then chooses the best path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agent architecture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complex problem solving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session_8/8_3_…_vs_agentic_rag.py, 8_4_…_serp.py, 8_5_…_traditional_rag.py vs 8_6_…_agentic_rag.py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raditional RAG vs agentic RAG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session_8/8_3_traditional_vs_agentic_rag.py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Retrieval Strategies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system picks how to retrieve – including not retrieving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5564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ForwardFa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33372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directly when existing knowledge is enough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75564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833372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once for simple factual questions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75564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Rot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83337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more when the first pass isn't enough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65176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PenTo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72948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reformulation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question for better search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65176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LayerGro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729484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vector DB, SQL, APIs and web search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65176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ScrewdriverWrenc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729484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Tool-based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tool for the request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session_8/8_7_adaptive_retrieval_strategies.py, 8_8_adaptive_retrieval_strategies_serp.py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supplies the facts; reasoning uses them to solve the user's problem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016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6113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308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get a ₹50 lakh home loan? My salary is ₹18 lakh a year, I already have a car loan, and my credit score is 760."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763520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76352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76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finds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275584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eligibility policy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interest rates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 and existing loans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Credit-score rules, RBI lending rules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763520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76352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76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does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275584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the debt-to-income ratio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credit-score eligibility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the policy rules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the maximum amount and suitable options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session_8/8_9_loan_eligibility_rag_reasoning.py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Cohere RAG Pipeline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Embed, rerank and generate – with grounding built into the chat endpoint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embed()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1536-dim vectors (embed-v4.0)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anking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FAQs → the top 3 for the query (rerank-v3.5)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chat()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the reranked FAQs passed as documents=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2400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21792" y="33497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621792" y="35692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get my money back for an order?" – reranking correctly surfaces the three refund FAQs. Cohere's chat endpoint grounds the answer itself; with OpenAI you build that prompt yourself.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session_8/8_10_cohere_rag_pipeline.py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Self-RAG: Don't Trust the First Retrieval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→ check → retrieve or generate again if needed → answer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1696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5412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for a cashless health claim?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169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5412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chunks from the policy DB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169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541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and relevant? One chunk is off-topic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1696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0" name="Image 3" descr="FaFileLi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5412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form, original bills, discharge summary, prescription, diagnostic reports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 flipH="1">
            <a:off x="1485900" y="3299460"/>
            <a:ext cx="61722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1485900" y="3080004"/>
            <a:ext cx="6172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insufficient → retrieve again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381152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RAG trusts whatever comes back. Self-RAG grades its own evidence and searches again – here, specifically for cashless-claim documents.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session_8/8_11_self_rag.py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 (CRAG)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local knowledge fails, fall back to the web instead of guessing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572547" y="1618488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658147" y="1225296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13011" y="1225296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72547" y="2368296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658147" y="1975104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13011" y="197510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from the vector DB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flipH="1">
            <a:off x="1520987" y="3118104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72547" y="3118104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682275" y="3145536"/>
            <a:ext cx="20056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658147" y="2724912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713011" y="2724912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chunks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20987" y="3867912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2572547" y="3867912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06587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1451" y="34747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→ use them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09707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64571" y="34747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→ web search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658147" y="422452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13011" y="4224528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answer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07935" y="1225296"/>
            <a:ext cx="3678865" cy="143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RAG answers from whatever it retrieved – even the wrong thing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CRAG grades the retrieved chunks first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or missing evidence triggers a web search instead of a guess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comes from the best evidence available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07935" y="2819908"/>
            <a:ext cx="3678865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72527" y="2929636"/>
            <a:ext cx="33496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VS CRAG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172527" y="3149092"/>
            <a:ext cx="334968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retries the same knowledge base; CRAG reaches for a different source.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session_8/8_12_corrective_rag.py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Retrieved Chunks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similar chunk is not always the most relevant one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16964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16964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069086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279398" y="1616964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79398" y="1616964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46020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56332" y="1616964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6332" y="1616964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chunks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22954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33266" y="1616964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33266" y="1616964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53178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63490" y="1616964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63490" y="1616964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3–5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83402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93714" y="1616964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93714" y="1616964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50" dirty="0"/>
          </a:p>
        </p:txBody>
      </p:sp>
      <p:graphicFrame>
        <p:nvGraphicFramePr>
          <p:cNvPr id="1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66772"/>
          <a:ext cx="8229600" cy="914400"/>
        </p:xfrm>
        <a:graphic>
          <a:graphicData uri="http://schemas.openxmlformats.org/drawingml/2006/table">
            <a:tbl>
              <a:tblPr/>
              <a:tblGrid>
                <a:gridCol w="5108028"/>
                <a:gridCol w="1560786"/>
                <a:gridCol w="1560786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"Documents for a cashless health insurance claim?"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Reranked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– Submit the claim form, original bills and discharge summary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– Premiums must be paid within the grace 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 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– Required documents include prescription and diagnostic reports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57200" y="381152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cross-encoder reranker reads the query and each chunk together. B was only "about health insurance"; A and C go to the LLM.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session_8/8_13_cohere_reranking.py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methods so each one covers the other's blind spot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+ semantic (8_14)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010156"/>
            <a:ext cx="1885950" cy="1262888"/>
          </a:xfrm>
          <a:prstGeom prst="roundRect">
            <a:avLst>
              <a:gd name="adj" fmla="val 43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10156"/>
            <a:ext cx="188595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10156"/>
            <a:ext cx="16116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522220"/>
            <a:ext cx="161163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words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codes, names, acronyms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26030" y="2010156"/>
            <a:ext cx="1885950" cy="1262888"/>
          </a:xfrm>
          <a:prstGeom prst="roundRect">
            <a:avLst>
              <a:gd name="adj" fmla="val 43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26030" y="2010156"/>
            <a:ext cx="188595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3190" y="2010156"/>
            <a:ext cx="16116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63190" y="2522220"/>
            <a:ext cx="161163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Paraphrases, natural language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73202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+ graph (8_15)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732020" y="2010156"/>
            <a:ext cx="39547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Savings Account Plus card was used fraudulently – am I covered, and how long will it take?"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732020" y="2528316"/>
            <a:ext cx="395478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</a:t>
            </a:r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finds the fraud-protection FAQ and the Zero Liability page</a:t>
            </a:r>
            <a:endParaRPr lang="en-US" sz="10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chains Savings Account Plus → Zero Liability → 60-day window → Fraud Resolution → 5 business days</a:t>
            </a:r>
            <a:endParaRPr lang="en-US" sz="10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both pools, then rerank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session_8/8_14_hybrid_search.py, 8_15_agentic_hybrid_search.py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GraphRAG: Connecting Facts Across Documents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 and relationships into a knowledge graph instead of treating chunks as isolated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167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policy documents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06806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0680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956816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terms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 customers are enrolled in Zero Liability Protection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6563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6563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545080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rules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covers unauthorised transactions reported within 60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24459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2445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33344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policy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go to the Fraud Resolution team; turnaround 5 business days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31673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facts as a graph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0" y="2258568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693408" y="2286000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enrols customers in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23560" y="1865376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78424" y="186537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5486400" y="3008376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583680" y="3008376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693408" y="303580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(60 days) · processed by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23560" y="2615184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78424" y="2615184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Liability Protection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0" y="3758184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6583680" y="3758184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693408" y="3785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26280" y="3364992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1144" y="3364992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transactions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20840" y="3364992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75704" y="3364992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Resolution team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23560" y="411480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78424" y="411480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business days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session_8/8_16_graph_rag.py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several relationships to reach an answer no single chunk contains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34465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44193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63649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a Savings Account Plus customer covered for fraud reported 3 weeks ago, and how long will resolution take?"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263118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8" name="Image 0" descr="FaBuildingColum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76834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9377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9377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enrols in →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60020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651760" y="263118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ShieldHalv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2768346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3969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Liability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13969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→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24612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297680" y="263118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8" name="Image 2" descr="FaCalenda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768346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8561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60 days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78561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weeks ✓ inside the window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89204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943600" y="263118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3" name="Image 3" descr="FaUserSh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768346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3153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Resolution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543153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 →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53796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7589520" y="263118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8" name="Image 4" descr="Fa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2768346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07745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business days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707745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457200" y="4169283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facts from three documents, plus a condition applied to this customer's situation.</a:t>
            </a:r>
            <a:endParaRPr lang="en-US" sz="1150" dirty="0"/>
          </a:p>
        </p:txBody>
      </p:sp>
      <p:sp>
        <p:nvSpPr>
          <p:cNvPr id="32" name="Shape 2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5" name="Text 2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session_8/8_17_multi_hop_reasoning.py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RAG with RAGAS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Assessment – scores retrieval and generation, no manual labelling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LLM make things up?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must be backed by the context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55748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20340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20340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4116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20340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LLM answer the question that was asked?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654296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18888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USEFULNESS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18888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12664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precision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818888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most of what we retrieved actually useful?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752844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917436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917436" y="2020824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5" name="Image 3" descr="FaList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116836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11212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recall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917436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we retrieve everything the answer needed?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AGAS evaluation of a RAG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138" y="164592"/>
            <a:ext cx="7863723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Metrics, Worked Through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cashless-claim question, scored four ways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0.67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337816"/>
            <a:ext cx="1604772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makes 3 claims; the context backs 2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"Intimate within </a:t>
            </a:r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hours" – the context says 24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2 / 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55748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97380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Relevancy 0.95 vs 0.30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337816"/>
            <a:ext cx="160477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guessed back from the answer and compared with the original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On-topic answer → 0.95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about waiting periods → 0.30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54296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80136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97380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0.60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337816"/>
            <a:ext cx="160477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chunks retrieved: 3 useful, 2 not (grace period, waiting period)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3 / 5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752844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801368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List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9738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0.75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95144"/>
            <a:ext cx="160477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facts needed; the TPA's role in settlement was never retrieved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3 / 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8_3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vs agentic RAG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 through both pipelines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8_11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and CRAG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evidence; retry or fall back to the web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8_13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and hybrid search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 reranker; keyword + semantic + graph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8_16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and multi-hop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bank-policy knowledge graph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8_18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evaluation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metrics on an insurance Q&amp;A system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25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failure mode before choosing a fix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decides when, what and how often to retrieve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 – similar is not the same as relevant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answer questions that span documents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with RAGAS before and after every change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9: Deep Agents – Reflection, Planning and Long-Term Memory</a:t>
            </a:r>
            <a:endParaRPr lang="en-US" sz="12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 ·  SUN 21-NOV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Agents: Reflection, Planning and Memory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check their own work, plan and re-plan, remember, and get better from their mistakes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MagnifyingGlass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self-reflection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critique and revise until a quality bar is met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execute and re-plan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choose between ReAct and plan-and-execute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Mem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agents long-term memory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episodic, semantic and procedural – plus consolidation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it all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management, self-improvement, one unified architecture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7167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an agent "deep"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010912" y="220256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2369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 loops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5010912" y="243344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354580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reflection with a quality threshold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010912" y="266433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585466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5010912" y="289521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2816352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010912" y="312610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04723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vs Plan-and-Execute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010912" y="335699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27812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 types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5010912" y="358787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509010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010912" y="381876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3739896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consolidation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010912" y="404964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3970782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and trimming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5010912" y="428053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212080" y="420166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 from failures</a:t>
            </a:r>
            <a:endParaRPr lang="en-US" sz="1050" dirty="0"/>
          </a:p>
        </p:txBody>
      </p:sp>
      <p:sp>
        <p:nvSpPr>
          <p:cNvPr id="41" name="Shape 35"/>
          <p:cNvSpPr/>
          <p:nvPr/>
        </p:nvSpPr>
        <p:spPr>
          <a:xfrm>
            <a:off x="5010912" y="451142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5212080" y="443255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architecture: reflection + planning + memory</a:t>
            </a:r>
            <a:endParaRPr lang="en-US" sz="10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an Agent "Deep"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just produce an answer – it evaluates its own process and adapts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5961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agent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60614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60614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99744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210056" y="1860614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10056" y="1860614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683258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893570" y="1860614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3570" y="1860614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36114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646426" y="1860614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46426" y="1860614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45643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agent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85108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85108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99744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10056" y="2851086"/>
            <a:ext cx="162458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10056" y="2851086"/>
            <a:ext cx="1624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task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2072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072384" y="285108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72384" y="285108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14928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825240" y="2851086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25240" y="2851086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8442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08754" y="285108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08754" y="285108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259324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69636" y="285108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69636" y="285108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89548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499860" y="2851086"/>
            <a:ext cx="127787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99860" y="2851086"/>
            <a:ext cx="12778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strategy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805166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15478" y="285108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15478" y="285108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" y="3446907"/>
            <a:ext cx="4023360" cy="884428"/>
          </a:xfrm>
          <a:prstGeom prst="roundRect">
            <a:avLst>
              <a:gd name="adj" fmla="val 620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44690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94360" y="344690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reasoning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395897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solve this?"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663440" y="3446907"/>
            <a:ext cx="4023360" cy="884428"/>
          </a:xfrm>
          <a:prstGeom prst="roundRect">
            <a:avLst>
              <a:gd name="adj" fmla="val 620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3440" y="344690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800600" y="344690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Meta-cognition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800600" y="395897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my way of solving this working?"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Self-Reflection: Generate → Critique → Revise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"Explain RAG to a beginner in 200 words"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45084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58800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LLM → draft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725168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45084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lipboar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58800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draft against a rubric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725168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45084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WandMagic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58800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+ critique → improved answer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 flipH="1">
            <a:off x="1828800" y="2828544"/>
            <a:ext cx="54864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1828800" y="260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while the critique finds issues</a:t>
            </a:r>
            <a:endParaRPr lang="en-US" sz="950" dirty="0"/>
          </a:p>
        </p:txBody>
      </p:sp>
      <p:graphicFrame>
        <p:nvGraphicFramePr>
          <p:cNvPr id="1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40608"/>
          <a:ext cx="3954780" cy="914400"/>
        </p:xfrm>
        <a:graphic>
          <a:graphicData uri="http://schemas.openxmlformats.org/drawingml/2006/table">
            <a:tbl>
              <a:tblPr/>
              <a:tblGrid>
                <a:gridCol w="1694906"/>
                <a:gridCol w="2259874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indexing / vector 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Clarity, level, length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Good, within limit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5"/>
          <p:cNvSpPr/>
          <p:nvPr/>
        </p:nvSpPr>
        <p:spPr>
          <a:xfrm>
            <a:off x="4732020" y="3340608"/>
            <a:ext cx="395478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896612" y="3450336"/>
            <a:ext cx="36255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TO FIX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4896612" y="3669792"/>
            <a:ext cx="36255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Explain retrieval more clearly  2. Say why embeddings are used  3. Show how the retrieved context reaches the LLM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session_9/9_1_openai_agent_pattern_reflection.py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Reflection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until a quality threshold is met – with an upper limit on rounds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27711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487424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87424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6 / 10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6207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72384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72384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75361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63924" y="1636776"/>
            <a:ext cx="148590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63924" y="1636776"/>
            <a:ext cx="1485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7.5 / 10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7725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68756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8756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6879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79108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79108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9 / 10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5375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64068" y="163677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64068" y="163677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250545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6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2583180"/>
            <a:ext cx="155448" cy="15544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6696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2128723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247595" y="250545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0" name="Image 1" descr="FaList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319" y="2583180"/>
            <a:ext cx="155448" cy="155448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2668219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3800246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919118" y="250545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4" name="Image 2" descr="FaCrosshai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6842" y="2583180"/>
            <a:ext cx="155448" cy="155448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4339742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5471770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5590642" y="250545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8" name="Image 3" descr="Fa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8366" y="2583180"/>
            <a:ext cx="155448" cy="1554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6011266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7143293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7262165" y="250545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42" name="Image 4" descr="Fa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9889" y="2583180"/>
            <a:ext cx="155448" cy="155448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7682789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44" name="Text 37"/>
          <p:cNvSpPr txBox="1"/>
          <p:nvPr/>
        </p:nvSpPr>
        <p:spPr>
          <a:xfrm>
            <a:off x="457200" y="3374136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 can score several dimensions and average them. Cap the number of loops so a picky critic can't run forever.</a:t>
            </a:r>
            <a:endParaRPr lang="en-US" sz="1150" dirty="0"/>
          </a:p>
        </p:txBody>
      </p:sp>
      <p:sp>
        <p:nvSpPr>
          <p:cNvPr id="45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8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session_9/9_2_meal_plan_reflection.py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Plan-and-Execute, Revisited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decides what to do (strategy); execution does it (action)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47394"/>
            <a:ext cx="4289367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three competitors, compare their pricing, identify their strengths, and recommend one."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8249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49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24990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three competitors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246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724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2462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199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519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519934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6740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8674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2867406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1487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21487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14878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pricing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6235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235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62350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features and pricing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0982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098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909822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strengths and weaknesses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25729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42572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4257294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recommendation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112327" y="125577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0" descr="FaList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08339" y="1351788"/>
            <a:ext cx="192024" cy="192024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5642679" y="1247394"/>
            <a:ext cx="3044121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numbered plan once, up front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112327" y="180289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3" name="Image 1" descr="FaPerson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339" y="1898904"/>
            <a:ext cx="192024" cy="192024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5642679" y="1794510"/>
            <a:ext cx="3044121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out each step with the right tools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112327" y="243763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6" name="Image 2" descr="FaGraduationC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339" y="2533650"/>
            <a:ext cx="192024" cy="192024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5642679" y="2341626"/>
            <a:ext cx="304412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study plan built and then executed step by step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1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session_9/9_3_study_plan_plan_execute.py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the plan when new information arrives – during execution the agent may discover that…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5564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33372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resource is unavailable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5564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PlugCircleXma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33372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fails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5564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3337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contradict an assumption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5564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33372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information changes things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48716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Circl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564892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is already done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48716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Link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56489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dependency is missing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48716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HourglassHalf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564892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 is too slow or costly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48716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FileMedic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564892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pathology report changes the plan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9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session_9/9_4_pathology_report_replanning.py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vs Plan-and-Execute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picks the next action from the latest observation; plan-and-execute plans at a higher level first</a:t>
            </a:r>
            <a:endParaRPr lang="en-US" sz="1350" dirty="0"/>
          </a:p>
        </p:txBody>
      </p:sp>
      <p:graphicFrame>
        <p:nvGraphicFramePr>
          <p:cNvPr id="1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389239"/>
                <a:gridCol w="2920181"/>
                <a:gridCol w="2920181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Plan-and-Execute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front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every 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plan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High, with replanning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tasks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overkill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get messy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suited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steps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natural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by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explicit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session_9/9_5_openai_agent_pattern_react.py vs 9_6_openai_agent_pattern_plan.py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Types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context, remember preferences, recall past work – and stop asking the same questions</a:t>
            </a:r>
            <a:endParaRPr lang="en-US" sz="1350" dirty="0"/>
          </a:p>
        </p:txBody>
      </p:sp>
      <p:graphicFrame>
        <p:nvGraphicFramePr>
          <p:cNvPr id="1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954530"/>
                <a:gridCol w="2263140"/>
                <a:gridCol w="1440180"/>
                <a:gridCol w="257175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(working)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conversation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Minutes / 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chat 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user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years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Preferences,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outside the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ChromaDB, SQL, Redis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and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"Python is your preferred language"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Episodic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 interactions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support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procedures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deploy an application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session_9/9_7_agent_memory_short_term_langgraph.py → 9_8, 9_9, 9_10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Demos, in Order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script adds one memory capability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memory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9_7_agent_memory_short_term_langgraph.py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ID from the user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9_8_agent_memory_dynamic_session_id_langgraph.py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the user ID becomes the session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→ long-term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9_9_…_short_to_long_term_langgraph.py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9_10_…_short_to_external_sqlite_langgraph.py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long-term types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9_11_…_semantic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9_12_…_procedural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9_14_…_episodic_langgraph.py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session_9/9_7 → 9_14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Memory: Three Kinds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= experiences.  Semantic = knowledge.  Procedural = skills.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HAPPENED?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ClockRotateLe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discussed Project X last Tuesday."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KNOW?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"Project X uses PostgreSQL."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DO IT?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Ge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"Deploy Project X using this procedure."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session_9/9_11_agent_memory_semantic_langgraph.py, 9_12_agent_memory_procedural_langgraph.py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 in Practice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specific past episodes outside the model and recall them when a similar case arrives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past support tickets, one text blob each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2 most similar episodes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Lin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 is how similar questions were answered"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Repl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past resolutions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5" name="Image 4" descr="FaFloppyDis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remember()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this Q and A as a new episode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" y="324002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episode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57200" y="3477768"/>
            <a:ext cx="8229600" cy="380111"/>
          </a:xfrm>
          <a:prstGeom prst="roundRect">
            <a:avLst>
              <a:gd name="adj" fmla="val 1202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94360" y="3587496"/>
            <a:ext cx="7955280" cy="197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"Customer asked: Why was my payment declined? | Resolution: ..."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session_9/9_13_episodic_memory_store.py, 9_14_agent_memory_episodic_langgraph.py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Consolidation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and compress old episodes before they pile up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consolidation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→ episode 1 … day 100 → episode 100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redundant, expensive to search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reason over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consolidation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common patterns across episodes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each group with one dense summary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summaries into the vector store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9376"/>
            <a:ext cx="9311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389376"/>
            <a:ext cx="93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episodes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415796" y="35448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26108" y="3389376"/>
            <a:ext cx="474497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26108" y="3389376"/>
            <a:ext cx="47449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patterns: 2FA issue · card declined · subscription cancellation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98514" y="35448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608826" y="3389376"/>
            <a:ext cx="100050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8826" y="3389376"/>
            <a:ext cx="1000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summaries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session_9/9_15_memory_consolidation.py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and Trimming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right information forward – and keep it within the context window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49504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get a ₹50 lakh home loan?"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what each step passes on: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244449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444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4449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81025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810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1025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retrieved policies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17601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76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7601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credit score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417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541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354177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reasoning → final answer</a:t>
            </a:r>
            <a:endParaRPr lang="en-US" sz="1100" dirty="0"/>
          </a:p>
        </p:txBody>
      </p:sp>
      <p:graphicFrame>
        <p:nvGraphicFramePr>
          <p:cNvPr id="1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18000" y="1636776"/>
          <a:ext cx="4368800" cy="914400"/>
        </p:xfrm>
        <a:graphic>
          <a:graphicData uri="http://schemas.openxmlformats.org/drawingml/2006/table">
            <a:tbl>
              <a:tblPr/>
              <a:tblGrid>
                <a:gridCol w="1248229"/>
                <a:gridCol w="2028371"/>
                <a:gridCol w="10922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Trimming 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only the latest N messages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older turns with a summary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conversations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retrieval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 back only relevant memories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the oldest content at a token limit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keep critical facts, drop 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session_9/9_16_context_management_strategies.py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 from Failures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corrected facts from mistakes – good answers leave no trace, mistakes leave a lesson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recall_lessons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past lessons relevant to this query?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ep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Answer, guided by recalled lessons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Gav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judge grades against the real policy; 7+ only for the specific correct fact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0" name="Image 3" descr="FaFloppyDis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maybe_store_lesson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score &lt; 7: store the corrected fact, not the bad answer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392424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semantic memory (facts), not episodic: who asked and when are stripped away.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session_9/9_17_self_improving_agent.py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Deep-Agent Architecture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informs planning → planning guides execution → reflection evaluates it → replanning adapts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em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know?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I do?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rson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act?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MagnifyingGlass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working?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5" name="Image 4" descr="FaRou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67944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change?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 flipH="1">
            <a:off x="1280160" y="2919984"/>
            <a:ext cx="658368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1280160" y="270052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cycle repeats as the agent works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memory assistant that remembers you, plans its replies, checks them and adapts – every idea from this session in one agent.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session_9/9_18_personal_memory_assistant.py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and Course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 – and across the course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loops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critique and revise to a quality bar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that changes when a report says so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9_13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tickets recalled and consolidated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9_17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agent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stored only when the agent was wrong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S1–9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journey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agents → LangChain → LangGraph → crews and teams → agentic RAG → deep agents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42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 evaluate how they are doing, not just what to do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needs a rubric and a stopping rule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up front for long tasks; replan when facts change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memory type by what must be remembered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context deliberately – the window is a budget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 Keep building – the code is at github.com/atulkahatecdac/agenticai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147</Slides>
  <Notes>147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147</vt:i4>
      </vt:variant>
    </vt:vector>
  </HeadingPairs>
  <TitlesOfParts>
    <vt:vector size="1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PGP – Agentic AI</dc:title>
  <dc:subject>PptxGenJS Presentation</dc:subject>
  <dc:creator>Atul Kahate</dc:creator>
  <cp:lastModifiedBy>Atul Kahate</cp:lastModifiedBy>
  <cp:revision>1</cp:revision>
  <dcterms:created xsi:type="dcterms:W3CDTF">2026-10-25T02:12:09Z</dcterms:created>
  <dcterms:modified xsi:type="dcterms:W3CDTF">2026-10-25T02:12:09Z</dcterms:modified>
</cp:coreProperties>
</file>