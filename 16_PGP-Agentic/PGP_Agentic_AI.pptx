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</p:sldIdLst>
  <p:notesMasterIdLst>
    <p:notesMasterId r:id="rId15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f7552e5f-5544-92e0-3903-e156d79fb87c}">
          <p14:sldIdLst>
            <p14:sldId id="256"/>
            <p14:sldId id="257"/>
          </p14:sldIdLst>
        </p14:section>
        <p14:section name="Session 1 – Agentic AI Foundations" id="{6b520b00-3d11-0391-34fa-80a77c28d6cc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Session 2 – LangChain Core" id="{6e8622f4-f741-c9a5-9b5c-e87ab9cb5823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  <p14:section name="Session 3 – LangChain Agents and Tools" id="{1f7fb248-2af2-74fe-2b2e-cbcd50de5396}">
          <p14:sldIdLst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</p14:sldIdLst>
        </p14:section>
        <p14:section name="Session 4 – LangGraph Workflows" id="{220b107a-ba74-1d55-3767-e4c4ac4dc0b4}">
          <p14:sldIdLst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</p14:sldIdLst>
        </p14:section>
        <p14:section name="Session 5 – LangGraph Cycles, HITL, Persistence" id="{4eb7dfd7-a913-4e48-a2c8-180d3d43af77}">
          <p14:sldIdLst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</p14:sldIdLst>
        </p14:section>
        <p14:section name="Session 6 – CrewAI" id="{cd82dc7f-0d77-81dc-32c4-a837502c8d74}">
          <p14:sldIdLst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</p14:sldIdLst>
        </p14:section>
        <p14:section name="Session 7 – AutoGen" id="{ef064c3c-9b9b-57d3-39b3-50f2ebc9d94e}">
          <p14:sldIdLst>
            <p14:sldId id="363"/>
            <p14:sldId id="364"/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373"/>
          </p14:sldIdLst>
        </p14:section>
        <p14:section name="Session 8 – Agentic RAG and GraphRAG" id="{ac9ecced-d3a8-510c-408c-fe46b87d0cda}">
          <p14:sldIdLst>
            <p14:sldId id="374"/>
            <p14:sldId id="375"/>
            <p14:sldId id="376"/>
            <p14:sldId id="377"/>
            <p14:sldId id="378"/>
            <p14:sldId id="379"/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</p14:sldIdLst>
        </p14:section>
        <p14:section name="Session 9 – Deep Agents" id="{778cf973-2528-5482-b955-856f77f74969}">
          <p14:sldIdLst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notesMaster" Target="notesMasters/notesMaster1.xml"/><Relationship Id="rId155" Type="http://schemas.openxmlformats.org/officeDocument/2006/relationships/presProps" Target="presProps.xml"/><Relationship Id="rId156" Type="http://schemas.openxmlformats.org/officeDocument/2006/relationships/viewProps" Target="viewProps.xml"/><Relationship Id="rId157" Type="http://schemas.openxmlformats.org/officeDocument/2006/relationships/theme" Target="theme/theme1.xml"/><Relationship Id="rId1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CK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CK_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CK_OPEN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image" Target="../media/image-23-8.png"/><Relationship Id="rId9" Type="http://schemas.openxmlformats.org/officeDocument/2006/relationships/image" Target="../media/image-2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image" Target="../media/image-2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image" Target="../media/image-48-4.png"/><Relationship Id="rId5" Type="http://schemas.openxmlformats.org/officeDocument/2006/relationships/image" Target="../media/image-48-5.png"/><Relationship Id="rId6" Type="http://schemas.openxmlformats.org/officeDocument/2006/relationships/image" Target="../media/image-48-6.png"/><Relationship Id="rId7" Type="http://schemas.openxmlformats.org/officeDocument/2006/relationships/image" Target="../media/image-48-7.png"/><Relationship Id="rId8" Type="http://schemas.openxmlformats.org/officeDocument/2006/relationships/image" Target="../media/image-48-8.png"/><Relationship Id="rId9" Type="http://schemas.openxmlformats.org/officeDocument/2006/relationships/image" Target="../media/image-48-9.png"/><Relationship Id="rId10" Type="http://schemas.openxmlformats.org/officeDocument/2006/relationships/image" Target="../media/image-48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image" Target="../media/image-5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image" Target="../media/image-5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image" Target="../media/image-55-4.png"/><Relationship Id="rId5" Type="http://schemas.openxmlformats.org/officeDocument/2006/relationships/image" Target="../media/image-5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image" Target="../media/image-60-4.png"/><Relationship Id="rId5" Type="http://schemas.openxmlformats.org/officeDocument/2006/relationships/image" Target="../media/image-6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image" Target="../media/image-64-3.png"/><Relationship Id="rId4" Type="http://schemas.openxmlformats.org/officeDocument/2006/relationships/image" Target="../media/image-6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image" Target="../media/image-65-3.png"/><Relationship Id="rId4" Type="http://schemas.openxmlformats.org/officeDocument/2006/relationships/image" Target="../media/image-65-4.png"/><Relationship Id="rId5" Type="http://schemas.openxmlformats.org/officeDocument/2006/relationships/image" Target="../media/image-6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image" Target="../media/image-66-3.png"/><Relationship Id="rId4" Type="http://schemas.openxmlformats.org/officeDocument/2006/relationships/image" Target="../media/image-6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image" Target="../media/image-6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image" Target="../media/image-71-3.png"/><Relationship Id="rId4" Type="http://schemas.openxmlformats.org/officeDocument/2006/relationships/image" Target="../media/image-7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image" Target="../media/image-73-3.png"/><Relationship Id="rId4" Type="http://schemas.openxmlformats.org/officeDocument/2006/relationships/image" Target="../media/image-7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image" Target="../media/image-75-3.png"/><Relationship Id="rId4" Type="http://schemas.openxmlformats.org/officeDocument/2006/relationships/image" Target="../media/image-75-4.png"/><Relationship Id="rId5" Type="http://schemas.openxmlformats.org/officeDocument/2006/relationships/image" Target="../media/image-75-5.png"/><Relationship Id="rId6" Type="http://schemas.openxmlformats.org/officeDocument/2006/relationships/image" Target="../media/image-7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image" Target="../media/image-82-3.png"/><Relationship Id="rId4" Type="http://schemas.openxmlformats.org/officeDocument/2006/relationships/image" Target="../media/image-8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image" Target="../media/image-8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image" Target="../media/image-8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image" Target="../media/image-8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image" Target="../media/image-86-3.png"/><Relationship Id="rId4" Type="http://schemas.openxmlformats.org/officeDocument/2006/relationships/image" Target="../media/image-86-4.png"/><Relationship Id="rId5" Type="http://schemas.openxmlformats.org/officeDocument/2006/relationships/image" Target="../media/image-86-5.png"/><Relationship Id="rId6" Type="http://schemas.openxmlformats.org/officeDocument/2006/relationships/image" Target="../media/image-8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image" Target="../media/image-87-3.png"/><Relationship Id="rId4" Type="http://schemas.openxmlformats.org/officeDocument/2006/relationships/image" Target="../media/image-8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image" Target="../media/image-8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91-2.png"/><Relationship Id="rId3" Type="http://schemas.openxmlformats.org/officeDocument/2006/relationships/image" Target="../media/image-91-3.png"/><Relationship Id="rId4" Type="http://schemas.openxmlformats.org/officeDocument/2006/relationships/image" Target="../media/image-91-4.png"/><Relationship Id="rId5" Type="http://schemas.openxmlformats.org/officeDocument/2006/relationships/image" Target="../media/image-91-5.png"/><Relationship Id="rId6" Type="http://schemas.openxmlformats.org/officeDocument/2006/relationships/image" Target="../media/image-91-6.png"/><Relationship Id="rId7" Type="http://schemas.openxmlformats.org/officeDocument/2006/relationships/image" Target="../media/image-91-7.png"/><Relationship Id="rId8" Type="http://schemas.openxmlformats.org/officeDocument/2006/relationships/image" Target="../media/image-91-8.png"/><Relationship Id="rId9" Type="http://schemas.openxmlformats.org/officeDocument/2006/relationships/image" Target="../media/image-9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image" Target="../media/image-92-2.png"/><Relationship Id="rId3" Type="http://schemas.openxmlformats.org/officeDocument/2006/relationships/image" Target="../media/image-92-3.png"/><Relationship Id="rId4" Type="http://schemas.openxmlformats.org/officeDocument/2006/relationships/image" Target="../media/image-9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image" Target="../media/image-94-3.png"/><Relationship Id="rId4" Type="http://schemas.openxmlformats.org/officeDocument/2006/relationships/image" Target="../media/image-9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95-2.png"/><Relationship Id="rId3" Type="http://schemas.openxmlformats.org/officeDocument/2006/relationships/image" Target="../media/image-95-3.png"/><Relationship Id="rId4" Type="http://schemas.openxmlformats.org/officeDocument/2006/relationships/image" Target="../media/image-9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image" Target="../media/image-96-2.png"/><Relationship Id="rId3" Type="http://schemas.openxmlformats.org/officeDocument/2006/relationships/image" Target="../media/image-96-3.png"/><Relationship Id="rId4" Type="http://schemas.openxmlformats.org/officeDocument/2006/relationships/image" Target="../media/image-9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image" Target="../media/image-100-2.png"/><Relationship Id="rId3" Type="http://schemas.openxmlformats.org/officeDocument/2006/relationships/image" Target="../media/image-100-3.png"/><Relationship Id="rId4" Type="http://schemas.openxmlformats.org/officeDocument/2006/relationships/image" Target="../media/image-10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4-1.png"/><Relationship Id="rId2" Type="http://schemas.openxmlformats.org/officeDocument/2006/relationships/image" Target="../media/image-104-2.png"/><Relationship Id="rId3" Type="http://schemas.openxmlformats.org/officeDocument/2006/relationships/image" Target="../media/image-10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8-1.png"/><Relationship Id="rId2" Type="http://schemas.openxmlformats.org/officeDocument/2006/relationships/image" Target="../media/image-108-2.png"/><Relationship Id="rId3" Type="http://schemas.openxmlformats.org/officeDocument/2006/relationships/image" Target="../media/image-108-3.png"/><Relationship Id="rId4" Type="http://schemas.openxmlformats.org/officeDocument/2006/relationships/image" Target="../media/image-10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9-1.png"/><Relationship Id="rId2" Type="http://schemas.openxmlformats.org/officeDocument/2006/relationships/image" Target="../media/image-109-2.png"/><Relationship Id="rId3" Type="http://schemas.openxmlformats.org/officeDocument/2006/relationships/image" Target="../media/image-10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2-1.png"/><Relationship Id="rId2" Type="http://schemas.openxmlformats.org/officeDocument/2006/relationships/image" Target="../media/image-112-2.png"/><Relationship Id="rId3" Type="http://schemas.openxmlformats.org/officeDocument/2006/relationships/image" Target="../media/image-112-3.png"/><Relationship Id="rId4" Type="http://schemas.openxmlformats.org/officeDocument/2006/relationships/image" Target="../media/image-112-4.png"/><Relationship Id="rId5" Type="http://schemas.openxmlformats.org/officeDocument/2006/relationships/image" Target="../media/image-1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4-1.png"/><Relationship Id="rId2" Type="http://schemas.openxmlformats.org/officeDocument/2006/relationships/image" Target="../media/image-114-2.png"/><Relationship Id="rId3" Type="http://schemas.openxmlformats.org/officeDocument/2006/relationships/image" Target="../media/image-114-3.png"/><Relationship Id="rId4" Type="http://schemas.openxmlformats.org/officeDocument/2006/relationships/image" Target="../media/image-1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5-1.png"/><Relationship Id="rId2" Type="http://schemas.openxmlformats.org/officeDocument/2006/relationships/image" Target="../media/image-115-2.png"/><Relationship Id="rId3" Type="http://schemas.openxmlformats.org/officeDocument/2006/relationships/image" Target="../media/image-115-3.png"/><Relationship Id="rId4" Type="http://schemas.openxmlformats.org/officeDocument/2006/relationships/image" Target="../media/image-11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6-1.png"/><Relationship Id="rId2" Type="http://schemas.openxmlformats.org/officeDocument/2006/relationships/image" Target="../media/image-116-2.png"/><Relationship Id="rId3" Type="http://schemas.openxmlformats.org/officeDocument/2006/relationships/image" Target="../media/image-116-3.png"/><Relationship Id="rId4" Type="http://schemas.openxmlformats.org/officeDocument/2006/relationships/image" Target="../media/image-11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9-1.png"/><Relationship Id="rId2" Type="http://schemas.openxmlformats.org/officeDocument/2006/relationships/image" Target="../media/image-119-2.png"/><Relationship Id="rId3" Type="http://schemas.openxmlformats.org/officeDocument/2006/relationships/image" Target="../media/image-119-3.png"/><Relationship Id="rId4" Type="http://schemas.openxmlformats.org/officeDocument/2006/relationships/image" Target="../media/image-11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1-1.png"/><Relationship Id="rId2" Type="http://schemas.openxmlformats.org/officeDocument/2006/relationships/image" Target="../media/image-121-2.png"/><Relationship Id="rId3" Type="http://schemas.openxmlformats.org/officeDocument/2006/relationships/image" Target="../media/image-121-3.png"/><Relationship Id="rId4" Type="http://schemas.openxmlformats.org/officeDocument/2006/relationships/image" Target="../media/image-121-4.png"/><Relationship Id="rId5" Type="http://schemas.openxmlformats.org/officeDocument/2006/relationships/image" Target="../media/image-121-5.png"/><Relationship Id="rId6" Type="http://schemas.openxmlformats.org/officeDocument/2006/relationships/image" Target="../media/image-121-6.png"/><Relationship Id="rId7" Type="http://schemas.openxmlformats.org/officeDocument/2006/relationships/image" Target="../media/image-121-7.png"/><Relationship Id="rId8" Type="http://schemas.openxmlformats.org/officeDocument/2006/relationships/image" Target="../media/image-121-8.png"/><Relationship Id="rId9" Type="http://schemas.openxmlformats.org/officeDocument/2006/relationships/image" Target="../media/image-121-9.png"/><Relationship Id="rId10" Type="http://schemas.openxmlformats.org/officeDocument/2006/relationships/image" Target="../media/image-121-10.png"/><Relationship Id="rId11" Type="http://schemas.openxmlformats.org/officeDocument/2006/relationships/image" Target="../media/image-121-11.png"/><Relationship Id="rId12" Type="http://schemas.openxmlformats.org/officeDocument/2006/relationships/image" Target="../media/image-121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4-1.png"/><Relationship Id="rId2" Type="http://schemas.openxmlformats.org/officeDocument/2006/relationships/image" Target="../media/image-124-2.png"/><Relationship Id="rId3" Type="http://schemas.openxmlformats.org/officeDocument/2006/relationships/image" Target="../media/image-124-3.png"/><Relationship Id="rId4" Type="http://schemas.openxmlformats.org/officeDocument/2006/relationships/image" Target="../media/image-124-4.png"/><Relationship Id="rId5" Type="http://schemas.openxmlformats.org/officeDocument/2006/relationships/image" Target="../media/image-124-5.png"/><Relationship Id="rId6" Type="http://schemas.openxmlformats.org/officeDocument/2006/relationships/image" Target="../media/image-1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6-1.png"/><Relationship Id="rId2" Type="http://schemas.openxmlformats.org/officeDocument/2006/relationships/image" Target="../media/image-126-2.png"/><Relationship Id="rId3" Type="http://schemas.openxmlformats.org/officeDocument/2006/relationships/image" Target="../media/image-12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7-1.png"/><Relationship Id="rId2" Type="http://schemas.openxmlformats.org/officeDocument/2006/relationships/image" Target="../media/image-127-2.png"/><Relationship Id="rId3" Type="http://schemas.openxmlformats.org/officeDocument/2006/relationships/image" Target="../media/image-127-3.png"/><Relationship Id="rId4" Type="http://schemas.openxmlformats.org/officeDocument/2006/relationships/image" Target="../media/image-12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2-1.png"/><Relationship Id="rId2" Type="http://schemas.openxmlformats.org/officeDocument/2006/relationships/image" Target="../media/image-132-2.png"/><Relationship Id="rId3" Type="http://schemas.openxmlformats.org/officeDocument/2006/relationships/image" Target="../media/image-132-3.png"/><Relationship Id="rId4" Type="http://schemas.openxmlformats.org/officeDocument/2006/relationships/image" Target="../media/image-132-4.png"/><Relationship Id="rId5" Type="http://schemas.openxmlformats.org/officeDocument/2006/relationships/image" Target="../media/image-13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3-1.png"/><Relationship Id="rId2" Type="http://schemas.openxmlformats.org/officeDocument/2006/relationships/image" Target="../media/image-133-2.png"/><Relationship Id="rId3" Type="http://schemas.openxmlformats.org/officeDocument/2006/relationships/image" Target="../media/image-133-3.png"/><Relationship Id="rId4" Type="http://schemas.openxmlformats.org/officeDocument/2006/relationships/image" Target="../media/image-13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5-1.png"/><Relationship Id="rId2" Type="http://schemas.openxmlformats.org/officeDocument/2006/relationships/image" Target="../media/image-135-2.png"/><Relationship Id="rId3" Type="http://schemas.openxmlformats.org/officeDocument/2006/relationships/image" Target="../media/image-135-3.png"/><Relationship Id="rId4" Type="http://schemas.openxmlformats.org/officeDocument/2006/relationships/image" Target="../media/image-13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7-1.png"/><Relationship Id="rId2" Type="http://schemas.openxmlformats.org/officeDocument/2006/relationships/image" Target="../media/image-137-2.png"/><Relationship Id="rId3" Type="http://schemas.openxmlformats.org/officeDocument/2006/relationships/image" Target="../media/image-137-3.png"/><Relationship Id="rId4" Type="http://schemas.openxmlformats.org/officeDocument/2006/relationships/image" Target="../media/image-13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9-1.png"/><Relationship Id="rId2" Type="http://schemas.openxmlformats.org/officeDocument/2006/relationships/image" Target="../media/image-139-2.png"/><Relationship Id="rId3" Type="http://schemas.openxmlformats.org/officeDocument/2006/relationships/image" Target="../media/image-13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0-1.png"/><Relationship Id="rId2" Type="http://schemas.openxmlformats.org/officeDocument/2006/relationships/image" Target="../media/image-140-2.png"/><Relationship Id="rId3" Type="http://schemas.openxmlformats.org/officeDocument/2006/relationships/image" Target="../media/image-140-3.png"/><Relationship Id="rId4" Type="http://schemas.openxmlformats.org/officeDocument/2006/relationships/image" Target="../media/image-140-4.png"/><Relationship Id="rId5" Type="http://schemas.openxmlformats.org/officeDocument/2006/relationships/image" Target="../media/image-14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1-1.png"/><Relationship Id="rId2" Type="http://schemas.openxmlformats.org/officeDocument/2006/relationships/image" Target="../media/image-141-2.png"/><Relationship Id="rId3" Type="http://schemas.openxmlformats.org/officeDocument/2006/relationships/image" Target="../media/image-14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2-1.png"/><Relationship Id="rId2" Type="http://schemas.openxmlformats.org/officeDocument/2006/relationships/image" Target="../media/image-142-2.png"/><Relationship Id="rId3" Type="http://schemas.openxmlformats.org/officeDocument/2006/relationships/image" Target="../media/image-142-3.png"/><Relationship Id="rId4" Type="http://schemas.openxmlformats.org/officeDocument/2006/relationships/image" Target="../media/image-142-4.png"/><Relationship Id="rId5" Type="http://schemas.openxmlformats.org/officeDocument/2006/relationships/image" Target="../media/image-142-5.png"/><Relationship Id="rId6" Type="http://schemas.openxmlformats.org/officeDocument/2006/relationships/image" Target="../media/image-142-6.png"/><Relationship Id="rId7" Type="http://schemas.openxmlformats.org/officeDocument/2006/relationships/image" Target="../media/image-142-7.png"/><Relationship Id="rId8" Type="http://schemas.openxmlformats.org/officeDocument/2006/relationships/image" Target="../media/image-142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6-1.png"/><Relationship Id="rId2" Type="http://schemas.openxmlformats.org/officeDocument/2006/relationships/image" Target="../media/image-146-2.png"/><Relationship Id="rId3" Type="http://schemas.openxmlformats.org/officeDocument/2006/relationships/image" Target="../media/image-14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7-1.png"/><Relationship Id="rId2" Type="http://schemas.openxmlformats.org/officeDocument/2006/relationships/image" Target="../media/image-147-2.png"/><Relationship Id="rId3" Type="http://schemas.openxmlformats.org/officeDocument/2006/relationships/image" Target="../media/image-147-3.png"/><Relationship Id="rId4" Type="http://schemas.openxmlformats.org/officeDocument/2006/relationships/image" Target="../media/image-147-4.png"/><Relationship Id="rId5" Type="http://schemas.openxmlformats.org/officeDocument/2006/relationships/image" Target="../media/image-14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0-1.png"/><Relationship Id="rId2" Type="http://schemas.openxmlformats.org/officeDocument/2006/relationships/image" Target="../media/image-150-2.png"/><Relationship Id="rId3" Type="http://schemas.openxmlformats.org/officeDocument/2006/relationships/image" Target="../media/image-150-3.png"/><Relationship Id="rId4" Type="http://schemas.openxmlformats.org/officeDocument/2006/relationships/image" Target="../media/image-15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1-1.png"/><Relationship Id="rId2" Type="http://schemas.openxmlformats.org/officeDocument/2006/relationships/image" Target="../media/image-151-2.png"/><Relationship Id="rId3" Type="http://schemas.openxmlformats.org/officeDocument/2006/relationships/image" Target="../media/image-151-3.png"/><Relationship Id="rId4" Type="http://schemas.openxmlformats.org/officeDocument/2006/relationships/image" Target="../media/image-151-4.png"/><Relationship Id="rId5" Type="http://schemas.openxmlformats.org/officeDocument/2006/relationships/image" Target="../media/image-15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6692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PGP PROGRAM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916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hands-on sessions: from your first OpenAI agent to stateful LangGraph workflows, multi-agent crews, agentic RAG and deep agents.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6517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852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Atul Kahate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12724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linkedin.com/in/atulkahate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52044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REPOSITORY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721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github.com/atulkahatecdac/agenticai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52628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1–9  ·  08:00–11:00 AM  ·  Demo code: 16_PGP-Agentic/code/session_N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358384" y="1106424"/>
            <a:ext cx="0" cy="269748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074920" y="502920"/>
            <a:ext cx="566928" cy="56692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0" descr="FaRo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6652" y="644652"/>
            <a:ext cx="283464" cy="283464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824728" y="5486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824728" y="78638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agents, tools and design patterns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358384" y="2016252"/>
            <a:ext cx="0" cy="269748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074920" y="1412748"/>
            <a:ext cx="566928" cy="56692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8" name="Image 1" descr="Fa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6652" y="1554480"/>
            <a:ext cx="283464" cy="28346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824728" y="145846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5824728" y="169621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Chains, memory, RAG and tool-using agents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5358384" y="2926080"/>
            <a:ext cx="0" cy="269748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5074920" y="2322576"/>
            <a:ext cx="566928" cy="56692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3" name="Image 2" descr="FaDiagramProje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6652" y="2464308"/>
            <a:ext cx="283464" cy="283464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824728" y="23682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5824728" y="26060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 graphs, loops, human-in-the-loop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5358384" y="3835908"/>
            <a:ext cx="0" cy="269748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5074920" y="3232404"/>
            <a:ext cx="566928" cy="56692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8" name="Image 3" descr="FaPeopleGro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6652" y="3374136"/>
            <a:ext cx="283464" cy="28346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5824728" y="32781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and AutoGen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824728" y="35158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crews, flows and teams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5074920" y="4142232"/>
            <a:ext cx="566928" cy="56692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2" name="Image 4" descr="FaB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6652" y="4283964"/>
            <a:ext cx="283464" cy="283464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824728" y="418795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and deep agents</a:t>
            </a:r>
            <a:endParaRPr lang="en-US" sz="1300" dirty="0"/>
          </a:p>
        </p:txBody>
      </p:sp>
      <p:sp>
        <p:nvSpPr>
          <p:cNvPr id="34" name="Text 27"/>
          <p:cNvSpPr txBox="1"/>
          <p:nvPr/>
        </p:nvSpPr>
        <p:spPr>
          <a:xfrm>
            <a:off x="5824728" y="44256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Smarter retrieval, reflection, memory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sessions, each 08:00–11:00 AM, each with live demos from the course repository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4358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30759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30759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124358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24-Oct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148840" y="124358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Foundations and Agent Architectures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623560" y="124358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SDK, tools, design patterns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167335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16733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160934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25-Oct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148840" y="160934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Core: Chains, Memory and RAG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23560" y="160934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LCEL, memory, vector stores, RAG pipeline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197510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203911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0391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197510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31-Oct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148840" y="197510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Agents and Tool Use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197510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Prompting, custom tools, AgentExecutor, SQL agents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240487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" y="24048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1170432" y="234086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1-Nov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148840" y="23408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LangGraph: Stateful Workflows and Routing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623560" y="234086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State, nodes, edges, reducers, routing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270662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66928" y="277063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" y="27706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170432" y="27066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7-Nov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148840" y="270662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LangGraph: Cycles, HITL and Persistence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623560" y="270662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Loops, human approval, checkpointers, guardrails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313639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6928" y="313639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1170432" y="307238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8-Nov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2148840" y="307238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with CrewAI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623560" y="307238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Crews, flows, managers, memory, observability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57200" y="343814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66928" y="350215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66928" y="35021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1170432" y="343814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14-Nov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2148840" y="343814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Systems with Microsoft AutoGen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5623560" y="343814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AgentChat, teams, GraphFlow, memory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66928" y="386791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66928" y="38679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S8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1170432" y="380390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15-Nov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2148840" y="380390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and GraphRAG for Agents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5623560" y="380390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Self-RAG, CRAG, reranking, GraphRAG, RAGAS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57200" y="416966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66928" y="423367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66928" y="42336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S9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1170432" y="416966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21-Nov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2148840" y="41696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Agents: Reflection, Planning and Memory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5623560" y="416966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Reflection, replanning, long-term memory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 ·  SAT 24-OCT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Foundations and Agent Architectures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agents are, how they are built, and the patterns behind them – using the OpenAI Agents SDK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an AI agent is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how it differs from an LLM, a chatbot and a workflow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34772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ScrewdriverWre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44373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agents with the OpenAI Agents SDK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instructions, tools, and the Runner that executes them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302285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Bo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11886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3014472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agents sync and async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know when concurrency pays off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9798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Shap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9399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the core design patterns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use, ReAct, plan-and-execute, reflection, multi-agent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199476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AI agent is and why we need one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7182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6987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Chatbots vs workflows vs agents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4889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4693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components and architecture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2595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2399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and API key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0301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0106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 basics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38008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27812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an agent tools (@function_tool)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65714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55518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multi-tool agent step by step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393420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832250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vs async agents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5010912" y="421126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212080" y="410931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design patterns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5010912" y="448833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212080" y="438637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framework landscape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an AI Agent?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that uses AI models to perceive, decide and act toward a goal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82268"/>
            <a:ext cx="1933956" cy="1770888"/>
          </a:xfrm>
          <a:prstGeom prst="roundRect">
            <a:avLst>
              <a:gd name="adj" fmla="val 3098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54686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64287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546860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040636"/>
            <a:ext cx="1604772" cy="947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input from its environment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text, user queries, images, audio, sensor data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555748" y="1382268"/>
            <a:ext cx="1933956" cy="1770888"/>
          </a:xfrm>
          <a:prstGeom prst="roundRect">
            <a:avLst>
              <a:gd name="adj" fmla="val 3098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20340" y="1546860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1642872"/>
            <a:ext cx="192024" cy="1920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14116" y="1546860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20340" y="2040636"/>
            <a:ext cx="1604772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what to do using rules, logic or ML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plan a route, pick the best response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654296" y="1382268"/>
            <a:ext cx="1933956" cy="1770888"/>
          </a:xfrm>
          <a:prstGeom prst="roundRect">
            <a:avLst>
              <a:gd name="adj" fmla="val 3098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18888" y="1546860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HandPo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642872"/>
            <a:ext cx="192024" cy="19202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312664" y="1546860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818888" y="2040636"/>
            <a:ext cx="1604772" cy="947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Performs tasks based on its decisions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answer a question, run a command, call an API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752844" y="1382268"/>
            <a:ext cx="1933956" cy="1770888"/>
          </a:xfrm>
          <a:prstGeom prst="roundRect">
            <a:avLst>
              <a:gd name="adj" fmla="val 3098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17436" y="1546860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1" name="Image 3" descr="FaChart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1642872"/>
            <a:ext cx="192024" cy="19202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11212" y="1546860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917436" y="2040636"/>
            <a:ext cx="1604772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improves over time from feedback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refine recommendations, improve accuracy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57200" y="3592068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21792" y="3701796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621792" y="3921252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generates text. An agent wraps an LLM with goals, tools and a loop, so it can actually get things done.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0" name="Text 2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session_1/1_1_my_first_agent.py (teaser)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hat is an LLM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LM alone is limited; an agentic application is the complete solu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chine learning, deep learning, generative AI and agentic AI compar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64592"/>
            <a:ext cx="8595360" cy="4297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ic system vs workflow vs autonomous ag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3366" y="164592"/>
            <a:ext cx="7697267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 Blocks of Agentic AI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we build in this course combines some of these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07058"/>
            <a:ext cx="1961388" cy="790956"/>
          </a:xfrm>
          <a:prstGeom prst="roundRect">
            <a:avLst>
              <a:gd name="adj" fmla="val 693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72593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Com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803654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707642"/>
            <a:ext cx="130302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and role in plain language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46604" y="1607058"/>
            <a:ext cx="1961388" cy="790956"/>
          </a:xfrm>
          <a:prstGeom prst="roundRect">
            <a:avLst>
              <a:gd name="adj" fmla="val 693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665476" y="1725930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Microchi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03654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6100" y="1707642"/>
            <a:ext cx="130302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reasoning engine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636008" y="1607058"/>
            <a:ext cx="1961388" cy="790956"/>
          </a:xfrm>
          <a:prstGeom prst="roundRect">
            <a:avLst>
              <a:gd name="adj" fmla="val 693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54880" y="1725930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ScrewdriverWren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604" y="1803654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75504" y="1707642"/>
            <a:ext cx="130302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APIs, code, databases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725412" y="1607058"/>
            <a:ext cx="1961388" cy="790956"/>
          </a:xfrm>
          <a:prstGeom prst="roundRect">
            <a:avLst>
              <a:gd name="adj" fmla="val 693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844284" y="1725930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ArrowsRota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1803654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64908" y="1707642"/>
            <a:ext cx="130302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– act – review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loop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2526030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76072" y="264490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" y="2722626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96696" y="2626614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in your own documents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2546604" y="2526030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2665476" y="2644902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Plu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0" y="2722626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3086100" y="2626614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standard way to plug in tools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636008" y="2526030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754880" y="2644902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0" name="Image 6" descr="FaMemor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32604" y="2722626"/>
            <a:ext cx="155448" cy="15544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175504" y="2626614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and long-term context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6725412" y="2526030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844284" y="2644902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34" name="Image 7" descr="FaUserChe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2008" y="2722626"/>
            <a:ext cx="155448" cy="155448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264908" y="2626614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at the risky steps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457200" y="3422142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576072" y="3541014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8" name="Image 8" descr="FaShieldHalved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796" y="3618738"/>
            <a:ext cx="155448" cy="155448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996696" y="3522726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inputs and outputs safe</a:t>
            </a:r>
            <a:endParaRPr lang="en-US" sz="1200" dirty="0"/>
          </a:p>
        </p:txBody>
      </p:sp>
      <p:sp>
        <p:nvSpPr>
          <p:cNvPr id="40" name="Shape 29"/>
          <p:cNvSpPr/>
          <p:nvPr/>
        </p:nvSpPr>
        <p:spPr>
          <a:xfrm>
            <a:off x="2546604" y="3422142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2665476" y="3541014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42" name="Image 9" descr="FaPeopleGroup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0" y="3618738"/>
            <a:ext cx="155448" cy="155448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3086100" y="3522726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Specialists that collaborate</a:t>
            </a:r>
            <a:endParaRPr lang="en-US" sz="1200" dirty="0"/>
          </a:p>
        </p:txBody>
      </p:sp>
      <p:sp>
        <p:nvSpPr>
          <p:cNvPr id="44" name="Shape 32"/>
          <p:cNvSpPr/>
          <p:nvPr/>
        </p:nvSpPr>
        <p:spPr>
          <a:xfrm>
            <a:off x="4636008" y="3422142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5" name="Shape 33"/>
          <p:cNvSpPr/>
          <p:nvPr/>
        </p:nvSpPr>
        <p:spPr>
          <a:xfrm>
            <a:off x="4754880" y="3541014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46" name="Image 10" descr="FaEy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32604" y="3618738"/>
            <a:ext cx="155448" cy="155448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5175504" y="3522726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of every step</a:t>
            </a:r>
            <a:endParaRPr lang="en-US" sz="1200" dirty="0"/>
          </a:p>
        </p:txBody>
      </p:sp>
      <p:sp>
        <p:nvSpPr>
          <p:cNvPr id="48" name="Shape 35"/>
          <p:cNvSpPr/>
          <p:nvPr/>
        </p:nvSpPr>
        <p:spPr>
          <a:xfrm>
            <a:off x="6725412" y="3422142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9" name="Shape 36"/>
          <p:cNvSpPr/>
          <p:nvPr/>
        </p:nvSpPr>
        <p:spPr>
          <a:xfrm>
            <a:off x="6844284" y="3541014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50" name="Image 11" descr="FaGaugeHigh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22008" y="3618738"/>
            <a:ext cx="155448" cy="155448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7264908" y="3522726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answer quality</a:t>
            </a:r>
            <a:endParaRPr lang="en-US" sz="1200" dirty="0"/>
          </a:p>
        </p:txBody>
      </p:sp>
      <p:sp>
        <p:nvSpPr>
          <p:cNvPr id="52" name="Shape 3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3" name="Shape 3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4" name="Text 4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55" name="Text 4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Setup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per laptop – every later session reuses this environment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52095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520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520952"/>
            <a:ext cx="3493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Python 3.12, VS Code and git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062734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627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932432"/>
            <a:ext cx="3493008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the course repository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github.com/atulkahatecdac/agenticai → Fork → keep the name agenticai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73481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73481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604516"/>
            <a:ext cx="3493008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it and open it in VS Code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https://github.com/YOUR-USERNAME/agenticai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32308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32308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76600"/>
            <a:ext cx="349300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activate a virtual environment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Code: Ctrl+Shift+P → Python: Select Interpreter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82752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8275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781044"/>
            <a:ext cx="349300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your OpenAI API key to .env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platform.openai.com → API keys → copy into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152095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1758696"/>
            <a:ext cx="3931920" cy="2088515"/>
          </a:xfrm>
          <a:prstGeom prst="roundRect">
            <a:avLst>
              <a:gd name="adj" fmla="val 2189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1868424"/>
            <a:ext cx="3657600" cy="19056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agenticai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venv myenv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Windows (if blocked, first run: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Set-ExecutionPolicy -Scope Process Bypass)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myenv\Scripts\activate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macOS / Linux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myenv/bin/activate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openai openai-agents python-dotenv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.env  (in the repo root)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OPENAI_API_KEY=sk-...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session_1/1_5_openai_basic.py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Call: Talking to an LLM Directly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lowest level – one request, one response, no agent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779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773936"/>
            <a:ext cx="192024" cy="1920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87552" y="1581912"/>
            <a:ext cx="288870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from .env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load_dotenv()</a:t>
            </a:r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puts OPENAI_API_KEY into the environment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400300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496312"/>
            <a:ext cx="192024" cy="19202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87552" y="2304288"/>
            <a:ext cx="288870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in, text out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message sets the role; the user message asks the question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3122676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TriangleExclam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218688"/>
            <a:ext cx="192024" cy="19202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87552" y="3026664"/>
            <a:ext cx="288870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tools, no memory, no loop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an agent does, we would have to code ourselves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4242021" y="1581912"/>
            <a:ext cx="44447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1_5_openai_basic.py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4242021" y="1819656"/>
            <a:ext cx="4444779" cy="2395728"/>
          </a:xfrm>
          <a:prstGeom prst="roundRect">
            <a:avLst>
              <a:gd name="adj" fmla="val 190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379181" y="1929384"/>
            <a:ext cx="4170459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openai import OpenAI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dotenv import load_dotenv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load_dotenv(override=True)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= OpenAI()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 = client.chat.completions.create(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model="gpt-4o-mini",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messages=[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{"role": "system",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"content": "You are a helpful assistant"},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{"role": "user",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"content": "Explain agentic AI in one paragraph"},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print(response.choices[0].message.content)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session_1/1_5_openai_basic.py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SDK, API and Endpoint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runs where when our agent talks to the model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0934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Pyth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4650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3113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68880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logic in Python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88366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0934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Cub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4650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3113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SDK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68880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our machine; builds the requests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88366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0934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l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4650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3113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68880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URL exposed by the provider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88366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09344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Microchi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46504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3113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68880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 model running on OpenAI's servers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12592"/>
          <a:ext cx="8229600" cy="914400"/>
        </p:xfrm>
        <a:graphic>
          <a:graphicData uri="http://schemas.openxmlformats.org/drawingml/2006/table">
            <a:tbl>
              <a:tblPr/>
              <a:tblGrid>
                <a:gridCol w="1714500"/>
                <a:gridCol w="2743200"/>
                <a:gridCol w="3771900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form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runs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Development Kit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our client – a Python library we import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 Programming Interface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the server side – the model provider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URL of one API operation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e.g. the chat completions or responses endpoint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27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openai-agents  ·  define an agent → add tools → run it → inspect the result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28394"/>
            <a:ext cx="1933956" cy="1732788"/>
          </a:xfrm>
          <a:prstGeom prst="roundRect">
            <a:avLst>
              <a:gd name="adj" fmla="val 316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792986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Ro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888998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792986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286762"/>
            <a:ext cx="1604772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with instructions and tools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support bot answering FAQs with function calls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55748" y="1628394"/>
            <a:ext cx="1933956" cy="1732788"/>
          </a:xfrm>
          <a:prstGeom prst="roundRect">
            <a:avLst>
              <a:gd name="adj" fmla="val 316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20340" y="1792986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Right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1888998"/>
            <a:ext cx="192024" cy="1920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14116" y="1792986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20340" y="2286762"/>
            <a:ext cx="1604772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delegates to another agent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general support hands billing questions to a billing agent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654296" y="1628394"/>
            <a:ext cx="1933956" cy="1732788"/>
          </a:xfrm>
          <a:prstGeom prst="roundRect">
            <a:avLst>
              <a:gd name="adj" fmla="val 316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18888" y="1792986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ShieldHalv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888998"/>
            <a:ext cx="192024" cy="19202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312664" y="1792986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818888" y="2286762"/>
            <a:ext cx="1604772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inputs and outputs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block unsafe requests, check the output is valid JSON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752844" y="1628394"/>
            <a:ext cx="1933956" cy="1732788"/>
          </a:xfrm>
          <a:prstGeom prst="roundRect">
            <a:avLst>
              <a:gd name="adj" fmla="val 316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17436" y="179298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1" name="Image 3" descr="FaClockRotateLef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1888998"/>
            <a:ext cx="192024" cy="19202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11212" y="1792986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917436" y="2286762"/>
            <a:ext cx="16047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conversation history across runs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tutor remembers topics already covered</a:t>
            </a:r>
            <a:endParaRPr lang="en-US" sz="10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3800094"/>
            <a:ext cx="8229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built in: tracing, MCP tools and human approval. The SDK runs the agent loop for us instead of us hand-coding it.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8" name="Text 2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session_1/1_2_openai_agent_basic.py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Agent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objects: Agent describes it, Runner runs it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451752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1_2_openai_agent_basic.py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4517525" cy="2275840"/>
          </a:xfrm>
          <a:prstGeom prst="roundRect">
            <a:avLst>
              <a:gd name="adj" fmla="val 2009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984248"/>
            <a:ext cx="4243205" cy="209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dotenv import load_dotenv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agents import Agent, Runner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load_dotenv(override=True)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= Agent(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name="Assistant",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instructions="You are a helpful customer support analyst.",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model="gpt-4o-mini",          # optional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Runner.run_sync(agent,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"Analyze this customer feedback and suggest improvements: "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"'The product was a bit stale'")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print(result.final_output)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340485" y="1838706"/>
            <a:ext cx="347472" cy="34747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8" name="Image 0" descr="FaRo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27353" y="1925574"/>
            <a:ext cx="173736" cy="17373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834261" y="1636776"/>
            <a:ext cx="2852539" cy="75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Agent(...)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Creates, but does not run, the agent: a name, a system prompt (instructions) and a model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340485" y="2648712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Pl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353" y="2735580"/>
            <a:ext cx="173736" cy="1737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34261" y="2534412"/>
            <a:ext cx="285253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Runner.run_sync(...)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instructions + message to the LLM and waits for the answer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340485" y="3371088"/>
            <a:ext cx="347472" cy="34747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Rep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7353" y="345795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834261" y="3256788"/>
            <a:ext cx="285253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result.final_output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agent's final answer, after any tool calls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session_1/1_2_openai_agent_basic.py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tool system at a gl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4533" y="164592"/>
            <a:ext cx="735493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session_1/1_6_openai_agent_pattern_tool.py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Tool Call Works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decides and describes the call; our code executes it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39369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53085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0154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253234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the return policy?"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6680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3936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3085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0154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253234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directly, or call a tool?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6680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39369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File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3085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0154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253234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call that matches the tool's schema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6680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393698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Gea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53085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0154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 executes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253234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our Python function with those arguments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6680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39369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Repl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530858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0154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answer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253234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combines the tool result into a reply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2996946"/>
            <a:ext cx="2633472" cy="1406652"/>
          </a:xfrm>
          <a:prstGeom prst="roundRect">
            <a:avLst>
              <a:gd name="adj" fmla="val 39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21792" y="316153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621792" y="3380994"/>
            <a:ext cx="2304288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(agent)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621792" y="3704082"/>
            <a:ext cx="2304288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Chooses when to call a tool, using its instructions, the context and the tool schemas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3255264" y="2996946"/>
            <a:ext cx="2633472" cy="1406652"/>
          </a:xfrm>
          <a:prstGeom prst="roundRect">
            <a:avLst>
              <a:gd name="adj" fmla="val 39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3419856" y="316153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WORK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3419856" y="3380994"/>
            <a:ext cx="2304288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function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3419856" y="3704082"/>
            <a:ext cx="230428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description (docstring) and parameters, plus the code to run</a:t>
            </a:r>
            <a:endParaRPr lang="en-US" sz="1050" dirty="0"/>
          </a:p>
        </p:txBody>
      </p:sp>
      <p:sp>
        <p:nvSpPr>
          <p:cNvPr id="36" name="Shape 29"/>
          <p:cNvSpPr/>
          <p:nvPr/>
        </p:nvSpPr>
        <p:spPr>
          <a:xfrm>
            <a:off x="6053328" y="2996946"/>
            <a:ext cx="2633472" cy="1406652"/>
          </a:xfrm>
          <a:prstGeom prst="roundRect">
            <a:avLst>
              <a:gd name="adj" fmla="val 39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6217920" y="316153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THEM</a:t>
            </a:r>
            <a:endParaRPr lang="en-US" sz="900" dirty="0"/>
          </a:p>
        </p:txBody>
      </p:sp>
      <p:sp>
        <p:nvSpPr>
          <p:cNvPr id="38" name="Text 31"/>
          <p:cNvSpPr txBox="1"/>
          <p:nvPr/>
        </p:nvSpPr>
        <p:spPr>
          <a:xfrm>
            <a:off x="6217920" y="3380994"/>
            <a:ext cx="2304288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</a:t>
            </a:r>
            <a:endParaRPr lang="en-US" sz="1400" dirty="0"/>
          </a:p>
        </p:txBody>
      </p:sp>
      <p:sp>
        <p:nvSpPr>
          <p:cNvPr id="39" name="Text 32"/>
          <p:cNvSpPr txBox="1"/>
          <p:nvPr/>
        </p:nvSpPr>
        <p:spPr>
          <a:xfrm>
            <a:off x="6217920" y="3704082"/>
            <a:ext cx="2304288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the call to our function, handles async and errors, returns the result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3" name="Text 3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session_1/1_6_openai_agent_pattern_tool.py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 Tool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normal Python function plus a decorator – the docstring tells the agent when to use it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391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– the function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576864"/>
            <a:ext cx="3931920" cy="1376680"/>
          </a:xfrm>
          <a:prstGeom prst="roundRect">
            <a:avLst>
              <a:gd name="adj" fmla="val 3321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86592"/>
            <a:ext cx="3657600" cy="1193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agents import function_tool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@function_tool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get_temperature(city: str) -&gt; str: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"""Returns mock temperature for a city."""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temps = {"london": "65°F", "tokyo": "78°F",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"mumbai": "85°F"}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temps.get(city.lower(), "70°F")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345783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– give it to the agent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583527"/>
            <a:ext cx="3931920" cy="874649"/>
          </a:xfrm>
          <a:prstGeom prst="roundRect">
            <a:avLst>
              <a:gd name="adj" fmla="val 522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3693255"/>
            <a:ext cx="3657600" cy="691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= Agent(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name="QuickAssistant",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tools=[get_temperature, get_time, calculate],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instructions="Use tools when needed. Be concise.",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754880" y="1453420"/>
            <a:ext cx="347472" cy="34747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1" name="Image 0" descr="FaT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1748" y="1540288"/>
            <a:ext cx="173736" cy="17373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248656" y="1339120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@function_tool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the function into a tool and generates its JSON schema from the type hints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754880" y="2175796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4" name="Image 1" descr="FaComme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748" y="2262664"/>
            <a:ext cx="173736" cy="17373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48656" y="2061496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docstring matters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reads it to decide if and when to call the tool – make it clear and specific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754880" y="2898172"/>
            <a:ext cx="347472" cy="34747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7" name="Image 2" descr="FaList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1748" y="2985040"/>
            <a:ext cx="173736" cy="1737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248656" y="2783872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hints are the contract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city: str</a:t>
            </a:r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becomes a required string parameter the LLM must fill in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session_1/1_6_openai_agent_pattern_tool.py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ing an AI agent in seven ste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session_1/1_1_my_first_agent.py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Multi-Tool Agent, End to End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tools, one agent, three questions answered concurrently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7234"/>
            <a:ext cx="44447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1_1_my_first_agent.py (condensed)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74978"/>
            <a:ext cx="4444779" cy="3085084"/>
          </a:xfrm>
          <a:prstGeom prst="roundRect">
            <a:avLst>
              <a:gd name="adj" fmla="val 1482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84706"/>
            <a:ext cx="4170459" cy="290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@function_tool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get_temperature(city: str) -&gt; str: ...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@function_tool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get_time(timezone: str) -&gt; str: ...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@function_tool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calculate(expression: str) -&gt; str: ...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= Agent(name="QuickAssistant", model="gpt-4o-mini",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tools=[get_temperature, get_time, calculate],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instructions="Use tools when needed. Be concise.")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def run_agent():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queries = ["What's the temperature in Tokyo?",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"Calculate 25 * 4 + 10",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"What time is it in New York?"]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tasks = [Runner.run(agent, q) for q in queries]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results = await asyncio.gather(*tasks)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q, r in zip(queries, results):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print(f"Q: {q}\nA: {r.final_output}")</a:t>
            </a:r>
            <a:endParaRPr lang="en-US" sz="9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67739" y="1237234"/>
          <a:ext cx="3419061" cy="914400"/>
        </p:xfrm>
        <a:graphic>
          <a:graphicData uri="http://schemas.openxmlformats.org/drawingml/2006/table">
            <a:tbl>
              <a:tblPr/>
              <a:tblGrid>
                <a:gridCol w="1315023"/>
                <a:gridCol w="2104037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@function_tool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Makes each function callable by the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tools=[...]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menu of tools the agent may choose from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queries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Plain-language questions – the agent picks the tool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Runner.run(...)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Async run; the list holds one task per query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asyncio.gather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all tasks at once, waits for 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final_output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agent's answer after its tool calls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session_1/1_1_my_first_agent.py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or Async?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agent, two ways to run it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07185"/>
            <a:ext cx="4023360" cy="2582926"/>
          </a:xfrm>
          <a:prstGeom prst="roundRect">
            <a:avLst>
              <a:gd name="adj" fmla="val 212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7185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07185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 – Runner.run_sync(...)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19249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Blocking: one call at a time, each waits for the previous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to write – no async / await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scripts, one-off calls, debugging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when there are many requests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3197225"/>
            <a:ext cx="3749040" cy="507492"/>
          </a:xfrm>
          <a:prstGeom prst="roundRect">
            <a:avLst>
              <a:gd name="adj" fmla="val 9009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306953"/>
            <a:ext cx="347472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Runner.run_sync(agent, msg)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print(result.final_output)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607185"/>
            <a:ext cx="4023360" cy="2582926"/>
          </a:xfrm>
          <a:prstGeom prst="roundRect">
            <a:avLst>
              <a:gd name="adj" fmla="val 212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07185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1607185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Asynchronous – await Runner.run(...)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119249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Non-blocking: many LLM or tool calls in parallel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asyncio and await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production apps, web servers, many sessions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throughput; errors via gather, timeouts, cancellation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00600" y="3364865"/>
            <a:ext cx="3749040" cy="642366"/>
          </a:xfrm>
          <a:prstGeom prst="roundRect">
            <a:avLst>
              <a:gd name="adj" fmla="val 711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37760" y="3474593"/>
            <a:ext cx="3474720" cy="459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def main():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await Runner.run(agent, msg)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asyncio.run(main())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session_1/1_7_openai_agent_sync.py, 1_8_openai_agent_async.py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ync vs async: total time 15 s vs 6 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64592"/>
            <a:ext cx="8595360" cy="4297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session_1/1_7_openai_agent_sync.py, 1_8_openai_agent_async.py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ur agentic AI patterns at a gl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session_1/1_9_openai_agent_pattern_plan.py, 1_4_…_react.py, 1_10_…_reflection.py, 1_3_…_rewoo.py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Tool Use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decides when and how to call external tools instead of doing everything itself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task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ScrewdriverWre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suitable tool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aperPla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structured input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Inbo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tool's output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PuzzlePie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7393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it into the answer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0876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576072" y="320649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0" name="Image 5" descr="FaCub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" y="3284220"/>
            <a:ext cx="155448" cy="15544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96696" y="31882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tool is a specialist</a:t>
            </a: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2546604" y="30876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2665476" y="320649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4" name="Image 6" descr="FaUpRightAndDownLeftFromCen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0" y="3284220"/>
            <a:ext cx="155448" cy="1554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086100" y="31882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tools, not code paths</a:t>
            </a:r>
            <a:endParaRPr lang="en-US" sz="1200" dirty="0"/>
          </a:p>
        </p:txBody>
      </p:sp>
      <p:sp>
        <p:nvSpPr>
          <p:cNvPr id="36" name="Shape 27"/>
          <p:cNvSpPr/>
          <p:nvPr/>
        </p:nvSpPr>
        <p:spPr>
          <a:xfrm>
            <a:off x="4636008" y="30876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4754880" y="3206496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8" name="Image 7" descr="FaListChe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32604" y="3284220"/>
            <a:ext cx="155448" cy="155448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5175504" y="31882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trace of who did what</a:t>
            </a:r>
            <a:endParaRPr lang="en-US" sz="1200" dirty="0"/>
          </a:p>
        </p:txBody>
      </p:sp>
      <p:sp>
        <p:nvSpPr>
          <p:cNvPr id="40" name="Shape 30"/>
          <p:cNvSpPr/>
          <p:nvPr/>
        </p:nvSpPr>
        <p:spPr>
          <a:xfrm>
            <a:off x="6725412" y="30876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6844284" y="3206496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42" name="Image 8" descr="FaGaugeHig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2008" y="3284220"/>
            <a:ext cx="155448" cy="155448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7264908" y="31882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Offload work to optimised tools</a:t>
            </a:r>
            <a:endParaRPr lang="en-US" sz="1200" dirty="0"/>
          </a:p>
        </p:txBody>
      </p:sp>
      <p:sp>
        <p:nvSpPr>
          <p:cNvPr id="44" name="Shape 3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7" name="Text 3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session_1/1_6_openai_agent_pattern_tool.py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ReAct (Reason + Act)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Think, act, look at the result, think again – until the goal is reached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54228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679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164080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01824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I need next?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816608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54228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ScrewdriverWre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67944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164080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01824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the right tool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816608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54228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67944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164080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01824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tool's result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816608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542288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Circl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67944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164080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01824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when the goal is met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 flipH="1">
            <a:off x="1485900" y="2919984"/>
            <a:ext cx="617220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24" name="Text 18"/>
          <p:cNvSpPr txBox="1"/>
          <p:nvPr/>
        </p:nvSpPr>
        <p:spPr>
          <a:xfrm>
            <a:off x="1485900" y="2700528"/>
            <a:ext cx="6172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the goal is achieved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457200" y="3432048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21792" y="3541776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621792" y="3761232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step is chosen from the latest observation, so the agent adapts as it learns more – ideal when the path to the answer is not known up front.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session_1/1_4_openai_agent_pattern_react.py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Plan-and-Execute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whole job first, then carry out the steps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36776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999744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210056" y="1636776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10056" y="1636776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96062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170938" y="1636776"/>
            <a:ext cx="120853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70938" y="1636776"/>
            <a:ext cx="12085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plan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06902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617214" y="1636776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17214" y="1636776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43712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647438" y="163677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47438" y="163677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2866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538978" y="163677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38978" y="163677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2020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430518" y="163677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30518" y="163677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11174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322058" y="1636776"/>
            <a:ext cx="106984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22058" y="1636776"/>
            <a:ext cx="106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answer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2386584"/>
            <a:ext cx="2633472" cy="1380744"/>
          </a:xfrm>
          <a:prstGeom prst="roundRect">
            <a:avLst>
              <a:gd name="adj" fmla="val 397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1792" y="2551176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9" name="Image 0" descr="FaList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647188"/>
            <a:ext cx="192024" cy="192024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115568" y="2551176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21792" y="3044952"/>
            <a:ext cx="2304288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complete plan to reach the goal before doing anything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3255264" y="2386584"/>
            <a:ext cx="2633472" cy="1380744"/>
          </a:xfrm>
          <a:prstGeom prst="roundRect">
            <a:avLst>
              <a:gd name="adj" fmla="val 397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419856" y="2551176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4" name="Image 1" descr="FaPersonRun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2647188"/>
            <a:ext cx="192024" cy="192024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3913632" y="2551176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3419856" y="3044952"/>
            <a:ext cx="230428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each step in order; each step can be a small ReAct loop of its own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6053328" y="2386584"/>
            <a:ext cx="2633472" cy="1380744"/>
          </a:xfrm>
          <a:prstGeom prst="roundRect">
            <a:avLst>
              <a:gd name="adj" fmla="val 397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217920" y="2551176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9" name="Image 2" descr="FaScaleBalanc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2647188"/>
            <a:ext cx="192024" cy="192024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6711696" y="2551176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ReAct</a:t>
            </a:r>
            <a:endParaRPr lang="en-US" sz="1400" dirty="0"/>
          </a:p>
        </p:txBody>
      </p:sp>
      <p:sp>
        <p:nvSpPr>
          <p:cNvPr id="41" name="Text 36"/>
          <p:cNvSpPr txBox="1"/>
          <p:nvPr/>
        </p:nvSpPr>
        <p:spPr>
          <a:xfrm>
            <a:off x="6217920" y="3044952"/>
            <a:ext cx="230428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decides after every observation; plan-and-execute commits to a strategy first</a:t>
            </a:r>
            <a:endParaRPr lang="en-US" sz="1100" dirty="0"/>
          </a:p>
        </p:txBody>
      </p:sp>
      <p:sp>
        <p:nvSpPr>
          <p:cNvPr id="42" name="Shape 3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5" name="Text 4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session_1/1_9_openai_agent_pattern_plan.py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Multi-Agent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Specialised agents collaborate on one problem, coordinated by an orchestrator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Arrives at the orchestrator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Sitema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into sub-tasks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eopleGro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sub-task to a specialist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Gea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parallel or in sequence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LayerGro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7393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and validate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2400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576072" y="335889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0" name="Image 5" descr="FaUserTi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" y="3436620"/>
            <a:ext cx="155448" cy="15544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96696" y="33406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Specialisation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does one thing well</a:t>
            </a: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2546604" y="32400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2665476" y="335889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4" name="Image 6" descr="FaUpRightAndDownLeftFromCen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0" y="3436620"/>
            <a:ext cx="155448" cy="1554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086100" y="33406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or swap agents freely</a:t>
            </a:r>
            <a:endParaRPr lang="en-US" sz="1200" dirty="0"/>
          </a:p>
        </p:txBody>
      </p:sp>
      <p:sp>
        <p:nvSpPr>
          <p:cNvPr id="36" name="Shape 27"/>
          <p:cNvSpPr/>
          <p:nvPr/>
        </p:nvSpPr>
        <p:spPr>
          <a:xfrm>
            <a:off x="4636008" y="32400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4754880" y="3358896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8" name="Image 7" descr="FaBo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32604" y="3436620"/>
            <a:ext cx="155448" cy="155448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5175504" y="33406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Parallelism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work concurrently</a:t>
            </a:r>
            <a:endParaRPr lang="en-US" sz="1200" dirty="0"/>
          </a:p>
        </p:txBody>
      </p:sp>
      <p:sp>
        <p:nvSpPr>
          <p:cNvPr id="40" name="Shape 30"/>
          <p:cNvSpPr/>
          <p:nvPr/>
        </p:nvSpPr>
        <p:spPr>
          <a:xfrm>
            <a:off x="6725412" y="32400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6844284" y="3358896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42" name="Image 8" descr="FaShieldHalved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2008" y="3436620"/>
            <a:ext cx="155448" cy="155448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7264908" y="33406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failure doesn't sink the rest</a:t>
            </a:r>
            <a:endParaRPr lang="en-US" sz="1200" dirty="0"/>
          </a:p>
        </p:txBody>
      </p:sp>
      <p:sp>
        <p:nvSpPr>
          <p:cNvPr id="44" name="Shape 3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7" name="Text 3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session_1/1_11_openai_agent_pattern_multi_agent.py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FAQ Bot to RAG: The Code Ladder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script adds one capability to the previous one</a:t>
            </a:r>
            <a:endParaRPr lang="en-US" sz="13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54658"/>
          <a:ext cx="8229600" cy="914400"/>
        </p:xfrm>
        <a:graphic>
          <a:graphicData uri="http://schemas.openxmlformats.org/drawingml/2006/table">
            <a:tbl>
              <a:tblPr/>
              <a:tblGrid>
                <a:gridCol w="391886"/>
                <a:gridCol w="2687216"/>
                <a:gridCol w="2463282"/>
                <a:gridCol w="2687216"/>
              </a:tblGrid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 / feature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FAQ bot with a hardcoded knowledge base, keyword match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calling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1_12_openai_agent_tool_hardcoded_knowledge.py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by meaning instead of keywords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search (embeddings)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1_13_openai_agent_hardcoded_semantic.py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 OpenAI host the vector store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Hosted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1_14_openai_agent_openai_vectorstore.py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FAQs in SQLite, vectorised locally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1_15_…_create_faq_db.py → 1_16_…_faq_db_vectorized.py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UI in the browser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Separate the UI (Flask)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1_17_openai_agent_flask.py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 from an insurance PDF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 over a document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1_18_openai_agent_insurance_flask.py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unsafe or off-topic 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1_19_openai_agent_guardrails.py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Traditional vs agentic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1_20_… vs 1_21_…_agentic_rag.py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used as tools by a manager agent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as tools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1_22_openai_agent_agent_as_tool.py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Remember earlier turns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Short-term memory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1_23_openai_agent_short_term_memory.py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session_1/1_12_* … 1_23_*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Agentic AI Framework Landscape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API calls to full multi-agent frameworks – the order we cover them in</a:t>
            </a:r>
            <a:endParaRPr lang="en-US" sz="13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18488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645920"/>
                <a:gridCol w="1954530"/>
                <a:gridCol w="4217670"/>
              </a:tblGrid>
              <a:tr h="24384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/ framework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fits here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 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API / 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level – call LLMs and embeddings; everything else builds on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 Agents 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agents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Adds agents, tools, handoffs, guardrails and sessions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LangChain / LangGraph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Chains and agent graphs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Compose workflows as graphs: predictable flows, loops, multi-agent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CrewAI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crews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Role-based agents collaborating on tasks; built for autonomy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AutoGen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Conversational multi-agent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that talk to each other: debate, negotiate, review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agent ↔ tool connection that makes all of the above interoperable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No-code / low-code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 builders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Drag-and-drop agents with many connectors (n8n, OpenAI Agent Builder)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1_2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agent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+ Runner.run_sync, with instructions and a model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9842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842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1_6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037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@function_tool functions the agent decides to call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700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700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1_1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6426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Multi-tool async agent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8895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tools, three queries, run concurrently with asyncio.gather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3558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1_4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3284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5753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ReAct, plan-and-execute, reflection, ReWOO, multi-agent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0416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40416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1_12+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0142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bot → RAG ladder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611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search, vector stores, guardrails, memory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= LLM + instructions + tools + a loop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only describes a tool call – our code runs it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Docstrings and type hints are how the agent understands a tool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async when calls are independent; sync when each step needs the last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pattern by how predictable the path to the answer is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LangChain Core – Chains, Memory and RAG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 ·  SAT 25-OCT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Core: Chains, Memory and RAG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LLM apps from small parts, give them memory, and ground them in your own documents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Li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chains with LCEL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| llm | parser, and the Runnables behind the pipe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34772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Mem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44373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conversation memory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buffer, summary and vector-store memory; persistence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311429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21030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301447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and search embeddings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and FAISS, similarity metrics, metadata filters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88086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Boo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97687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78104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RAG pipeline end to end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load, split, embed, retrieve, generate – and a PDF Q&amp;A bot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200253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overview and architecture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9514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854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 and Runnables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8775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780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templates and output parsers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8036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706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memory (session and persistent)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72968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63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and vector databases (Chroma, FAISS)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46557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loaders, text splitters and chunking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75818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6484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RAG pipeline with retrievers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405079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94106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Q&amp;A bot over PDFs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at a Glance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open-source framework for building applications on top of LLMs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838706"/>
            <a:ext cx="347472" cy="34747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BoxO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" y="1925574"/>
            <a:ext cx="173736" cy="1737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50976" y="1636776"/>
            <a:ext cx="3438144" cy="75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packages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langchain, langchain-core, langchain-community, plus one per provider (langchain-openai, langchain-ollama, …)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648712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" y="2735580"/>
            <a:ext cx="173736" cy="1737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50976" y="2534412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blocks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Models, prompts, output parsers, retrievers, tools – all interchangeable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3371088"/>
            <a:ext cx="347472" cy="34747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" y="3457956"/>
            <a:ext cx="173736" cy="1737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50976" y="3256788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blocks with the pipe operator: </a:t>
            </a:r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| llm | parser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4754880" y="163677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LangChain evolved</a:t>
            </a:r>
            <a:endParaRPr lang="en-US" sz="1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2276856"/>
          <a:ext cx="39319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554480"/>
                <a:gridCol w="1188720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LLMChain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SequentialChain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LCEL (Runnables)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 workflows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5" name="Shape 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8" name="Text 1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session_2/2_1_langchain_lcel.py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LCEL: Everything Is a Runnable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Expression Language – a declarative way to compose AI applications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4932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creating many chain objects, we connect </a:t>
            </a:r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Runnables</a:t>
            </a:r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the pipe operator </a:t>
            </a:r>
            <a:pPr algn="l" indent="0" marL="0">
              <a:buNone/>
            </a:pPr>
            <a:r>
              <a:rPr lang="en-US" sz="12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output of one becomes the input of the next.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404872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404872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38428" y="2560320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348740" y="2404872"/>
            <a:ext cx="44577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48740" y="2404872"/>
            <a:ext cx="4457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821942" y="2560320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032254" y="2404872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32254" y="2404872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13482" y="2560320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923794" y="2404872"/>
            <a:ext cx="86182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23794" y="2404872"/>
            <a:ext cx="8618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82549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82549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138428" y="298094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348740" y="2825496"/>
            <a:ext cx="307086" cy="310896"/>
          </a:xfrm>
          <a:prstGeom prst="roundRect">
            <a:avLst>
              <a:gd name="adj" fmla="val 1786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48740" y="2825496"/>
            <a:ext cx="3070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525012"/>
            <a:ext cx="393192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1792" y="3634740"/>
            <a:ext cx="3602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RUNNABLE HAS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" y="3854196"/>
            <a:ext cx="36027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.invoke()</a:t>
            </a:r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one input, </a:t>
            </a:r>
            <a:pPr indent="0" marL="0">
              <a:buNone/>
            </a:pPr>
            <a:r>
              <a:rPr lang="en-US" sz="12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.batch()</a:t>
            </a:r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many, </a:t>
            </a:r>
            <a:pPr indent="0" marL="0">
              <a:buNone/>
            </a:pPr>
            <a:r>
              <a:rPr lang="en-US" sz="12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.stream()</a:t>
            </a:r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token-by-token output.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754880" y="144932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| LLM with a local model (Ollama)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1687068"/>
            <a:ext cx="3931920" cy="1721358"/>
          </a:xfrm>
          <a:prstGeom prst="roundRect">
            <a:avLst>
              <a:gd name="adj" fmla="val 265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92040" y="1796796"/>
            <a:ext cx="3657600" cy="15384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langchain_core.prompts import ChatPromptTemplate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langchain_ollama import ChatOllama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= ChatPromptTemplate.from_template(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"Explain {topic} in simple terms.")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= ChatOllama(model="llama3.2")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chain = prompt | llm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 = chain.invoke({"topic": "embeddings"})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print(response.content)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session_2/2_1_langchain_lcel.py, 2_2_langchain_lcel_ollama.py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CEL operators and ex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session_2/2_1_langchain_lcel.py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Runnables You Will Use Often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building blocks that make chains flexible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633472" cy="2178304"/>
          </a:xfrm>
          <a:prstGeom prst="roundRect">
            <a:avLst>
              <a:gd name="adj" fmla="val 2519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801368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897380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801368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RunnableLambda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295144"/>
            <a:ext cx="2304288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any Python function so it can sit in a chain – cleaning, formatting, extracting values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21792" y="2848356"/>
            <a:ext cx="2304288" cy="619887"/>
          </a:xfrm>
          <a:prstGeom prst="roundRect">
            <a:avLst>
              <a:gd name="adj" fmla="val 737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58952" y="2958084"/>
            <a:ext cx="2029968" cy="4370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= RunnableLambda(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lambda t: t + "!")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add.invoke("Hello")  # Hello!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255264" y="1636776"/>
            <a:ext cx="2633472" cy="2178304"/>
          </a:xfrm>
          <a:prstGeom prst="roundRect">
            <a:avLst>
              <a:gd name="adj" fmla="val 2519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19856" y="1801368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CodeBra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1897380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13632" y="1801368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RunnableParallel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419856" y="2295144"/>
            <a:ext cx="2304288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several Runnables on the same input at once and returns a dict of their results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3419856" y="2848356"/>
            <a:ext cx="2304288" cy="747268"/>
          </a:xfrm>
          <a:prstGeom prst="roundRect">
            <a:avLst>
              <a:gd name="adj" fmla="val 611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557016" y="2958084"/>
            <a:ext cx="2029968" cy="564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RunnableParallel(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upper=up, lower=low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).invoke("Hi")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{'upper': 'HI', ...}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6053328" y="1636776"/>
            <a:ext cx="2633472" cy="2178304"/>
          </a:xfrm>
          <a:prstGeom prst="roundRect">
            <a:avLst>
              <a:gd name="adj" fmla="val 2519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17920" y="1801368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0" name="Image 2" descr="Fa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1897380"/>
            <a:ext cx="192024" cy="19202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711696" y="1801368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RunnablePassthrough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6217920" y="2295144"/>
            <a:ext cx="2304288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the input through unchanged – keep the original while other branches transform it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6217920" y="2848356"/>
            <a:ext cx="2304288" cy="619887"/>
          </a:xfrm>
          <a:prstGeom prst="roundRect">
            <a:avLst>
              <a:gd name="adj" fmla="val 737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355080" y="2958084"/>
            <a:ext cx="2029968" cy="4370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{"q": RunnablePassthrough(),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"ctx": retriever}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prompt | llm</a:t>
            </a:r>
            <a:endParaRPr lang="en-US" sz="850" dirty="0"/>
          </a:p>
        </p:txBody>
      </p:sp>
      <p:sp>
        <p:nvSpPr>
          <p:cNvPr id="25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8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session_2/2_1_langchain_lcel.py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ree types of prompt templates in LangCh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session_2/2_5_prompt_templates.py, 2_6_prompt_templates_openai.py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angChain output par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session_2/2_3_output_parsers.py, 2_4_output_parsers_openai.py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Memory Types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turns: a laptop purchase, returns, a dead battery, delivery, a replacement, support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633472" cy="1952244"/>
          </a:xfrm>
          <a:prstGeom prst="roundRect">
            <a:avLst>
              <a:gd name="adj" fmla="val 281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EVERYTHING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ListU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116836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memory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14600"/>
            <a:ext cx="2304288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the entire conversation – all six turns – to the LLM every time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grows without limit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55264" y="1636776"/>
            <a:ext cx="2633472" cy="1952244"/>
          </a:xfrm>
          <a:prstGeom prst="roundRect">
            <a:avLst>
              <a:gd name="adj" fmla="val 281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19856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A SUMMARY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19856" y="202082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Compre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2116836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13632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memory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419856" y="2514600"/>
            <a:ext cx="2304288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"Customer bought a laptop with a battery problem, asked about returns and delivery, now wants a replacement and support."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loses detail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53328" y="1636776"/>
            <a:ext cx="2633472" cy="1952244"/>
          </a:xfrm>
          <a:prstGeom prst="roundRect">
            <a:avLst>
              <a:gd name="adj" fmla="val 281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17920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MEANING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217920" y="202082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MagnifyingGl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2116836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711696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Vector-store memory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514600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"How do I replace my laptop?" → retrieves turns 5, 2 and 3 – the most </a:t>
            </a:r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the most recent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long histories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session_2/2_7_memory_types.py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Memory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memory lives only while the app runs; persistent memory survives restarts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440180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G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57734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0619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instruction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299716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 assistant is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714500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440180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ClockRotate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7734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0619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conversation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299716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from the database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714500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440180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Commen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7734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0619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question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299716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turn's input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714500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440180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Microchi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57734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0619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299716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with full context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714500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440180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Databa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57734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0619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the turn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299716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back for next time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043428"/>
            <a:ext cx="4023360" cy="1313688"/>
          </a:xfrm>
          <a:prstGeom prst="roundRect">
            <a:avLst>
              <a:gd name="adj" fmla="val 417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457200" y="304342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594360" y="30434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memory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594360" y="3555492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in RAM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when the program stops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for a single chat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4663440" y="3043428"/>
            <a:ext cx="4023360" cy="1313688"/>
          </a:xfrm>
          <a:prstGeom prst="roundRect">
            <a:avLst>
              <a:gd name="adj" fmla="val 417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4663440" y="304342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4800600" y="30434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memory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4800600" y="3555492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in a database (e.g. SQLite)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Survives restarts – multi-turn across days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 for real assistants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9" name="Text 3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session_2/2_8_persistent_chatbot.py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hy do we need RAG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session_2/2_9_chroma_db_basic.py, 2_10_vector_embedding_cosine_similarity.py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hat happens in R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698" y="164592"/>
            <a:ext cx="7810603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session_2/2_9_chroma_db_basic.py, 2_10_vector_embedding_cosine_similarity.py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mbeddings: turning text into vec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session_2/2_10_vector_embedding_cosine_similarity.py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ector similarity: finding meaningful match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session_2/2_10_vector_embedding_cosine_similarity.py, 2_16_rag_cosine_euclidean_1.py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Similarity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Nearest-neighbour retrieval ranks stored vectors by how close they are to the query vector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536192"/>
            <a:ext cx="2633472" cy="1645920"/>
          </a:xfrm>
          <a:prstGeom prst="roundRect">
            <a:avLst>
              <a:gd name="adj" fmla="val 333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70078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CompassDraft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796796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70078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194560"/>
            <a:ext cx="2304288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 between two vectors – ignores length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is better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 = same direction)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55264" y="1536192"/>
            <a:ext cx="2633472" cy="1645920"/>
          </a:xfrm>
          <a:prstGeom prst="roundRect">
            <a:avLst>
              <a:gd name="adj" fmla="val 333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19856" y="170078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RulerHorizont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1796796"/>
            <a:ext cx="192024" cy="1920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913632" y="1700784"/>
            <a:ext cx="1810512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(Euclidean) distance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419856" y="2237232"/>
            <a:ext cx="230428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Straight-line distance between two points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is better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(0 = identical)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53328" y="1536192"/>
            <a:ext cx="2633472" cy="1645920"/>
          </a:xfrm>
          <a:prstGeom prst="roundRect">
            <a:avLst>
              <a:gd name="adj" fmla="val 333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17920" y="170078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ArrowsLeft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1796796"/>
            <a:ext cx="192024" cy="19202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711696" y="170078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 product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6217920" y="2194560"/>
            <a:ext cx="230428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and magnitude together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is better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equals cosine for normalised vectors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57200" y="3621024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21792" y="373075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DEFAULT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" y="3950208"/>
            <a:ext cx="7900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 uses squared L2 distance unless you choose otherwise – so lower scores mean closer matches.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session_2/2_16_rag_cosine_euclidean_1.py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ow ChromaDB stores Q&amp;A: questions as vectors, answers as 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session_2/2_9_chroma_db_basic.py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ChromaDB: CRUD and Metadata Filters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local, persistent vector database – documents, embeddings and metadata together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2068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658430"/>
            <a:ext cx="3931920" cy="1129411"/>
          </a:xfrm>
          <a:prstGeom prst="roundRect">
            <a:avLst>
              <a:gd name="adj" fmla="val 404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68158"/>
            <a:ext cx="3657600" cy="946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= chromadb.PersistentClient(path="./chroma_db")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 = client.get_or_create_collection("employees")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col.add(ids=["1", "2"],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documents=["Alice works in Finance.",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"Bob works in HR."],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metadatas=[{"department": "Finance"},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{"department": "HR"}])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226753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Read, update, delete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464497"/>
            <a:ext cx="3931920" cy="912114"/>
          </a:xfrm>
          <a:prstGeom prst="roundRect">
            <a:avLst>
              <a:gd name="adj" fmla="val 5013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3574225"/>
            <a:ext cx="3657600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col.get(ids=["1"])["documents"]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col.update(ids=["1"],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documents=["Alice is now the Finance Manager."])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col.delete(ids=["2"])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754880" y="142068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meaning + filter by metadata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658430"/>
            <a:ext cx="3931920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92040" y="1768158"/>
            <a:ext cx="3657600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 = col.query(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query_texts=["budget"],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n_results=5,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where={"department": "Finance"},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54880" y="3162744"/>
            <a:ext cx="329184" cy="329184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4" name="Image 0" descr="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7176" y="3245040"/>
            <a:ext cx="164592" cy="164592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230368" y="3046920"/>
            <a:ext cx="3456432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query_texts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automatically, then compared by similarity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754880" y="3786060"/>
            <a:ext cx="329184" cy="329184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7" name="Image 1" descr="Fa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3868356"/>
            <a:ext cx="164592" cy="16459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230368" y="3754056"/>
            <a:ext cx="3456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Narrows results by metadata before ranking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session_2/2_11_chromadb_crud.py, 2_12_chromadb_search.py, 2_13_chroma_db_adding_metadata.py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Databases Compared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– store vectors, find the nearest ones – different trade-offs</a:t>
            </a:r>
            <a:endParaRPr lang="en-US" sz="135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18488"/>
          <a:ext cx="8229600" cy="914400"/>
        </p:xfrm>
        <a:graphic>
          <a:graphicData uri="http://schemas.openxmlformats.org/drawingml/2006/table">
            <a:tbl>
              <a:tblPr/>
              <a:tblGrid>
                <a:gridCol w="1090670"/>
                <a:gridCol w="1388125"/>
                <a:gridCol w="1883884"/>
                <a:gridCol w="1983036"/>
                <a:gridCol w="1883884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ChromaDB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/ embedded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Small–medium apps, notebooks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Easy, local persistence, Python-first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ideal at very large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Library, not a DB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in-process search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fast, offline, optimised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metadata store or server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Pinecone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cloud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Production, large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Scalable, highly available, no infra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Paid, cloud-only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Weaviate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source + cloud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with metadata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search, schema, GraphQL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setup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Milvus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source + cloud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 workloads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Highly scalable, rich index options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infrastructure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Qdrant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source + cloud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with filters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filtering, simple 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Heavier to self-host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Add-on to Redis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Apps already on Redis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Fast, real-time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specialised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session_2/2_9_chroma_db_basic.py, 2_14_faiss_search.py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FAISS: Search Without Comparing Everything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 AI Similarity Search – Meta's library for fast similarity search over dense vectors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million documents, and the user asks </a:t>
            </a:r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machine learning?"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276856"/>
            <a:ext cx="4023360" cy="1737868"/>
          </a:xfrm>
          <a:prstGeom prst="roundRect">
            <a:avLst>
              <a:gd name="adj" fmla="val 315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27685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27685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FAISS – linear scan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78892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the query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with document 1, then 2, then 3 …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all the way to document 1,000,000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Slow, and gets slower as data grows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2276856"/>
            <a:ext cx="4023360" cy="1737868"/>
          </a:xfrm>
          <a:prstGeom prst="roundRect">
            <a:avLst>
              <a:gd name="adj" fmla="val 315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227685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227685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FAISS – an index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278892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the query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it up in the FAISS index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top 5 results directly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to disk as a .index file (+ .pkl for the documents)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session_2/2_14_faiss_search.py, 2_15_faiss_search_ollama.py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RAG Pipeline, End to End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once, then answer many questions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2362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Indexing</a:t>
            </a:r>
            <a:pPr algn="l" indent="0" marL="0">
              <a:buNone/>
            </a:pPr>
            <a:r>
              <a:rPr lang="en-US" sz="115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done once, or when documents change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1005840" y="175539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FilePd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89255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93776" y="237718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93776" y="2614930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PDF, Word, web, CSV, DB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1600200" y="202971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651760" y="175539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FileImpo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89255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139696" y="237718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Loader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139696" y="2614930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Document objects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246120" y="202971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4297680" y="175539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Scisso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892554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785616" y="237718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Splitter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3785616" y="2614930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small chunks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892040" y="202971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5943600" y="1755394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1" name="Image 3" descr="FaCub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892554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431536" y="237718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5431536" y="2614930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vectors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6537960" y="202971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7589520" y="175539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6" name="Image 4" descr="FaDataba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892554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077456" y="237718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DB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7077456" y="2614930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Chroma, FAISS, Pinecone</a:t>
            </a:r>
            <a:endParaRPr lang="en-US" sz="1000" dirty="0"/>
          </a:p>
        </p:txBody>
      </p:sp>
      <p:sp>
        <p:nvSpPr>
          <p:cNvPr id="29" name="Text 22"/>
          <p:cNvSpPr txBox="1"/>
          <p:nvPr/>
        </p:nvSpPr>
        <p:spPr>
          <a:xfrm>
            <a:off x="457200" y="3029966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</a:t>
            </a:r>
            <a:pPr algn="l"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for every user question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1005840" y="34129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1" name="Image 5" descr="FaUs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3550158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493776" y="40347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493776" y="427253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user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1600200" y="36873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5" name="Shape 27"/>
          <p:cNvSpPr/>
          <p:nvPr/>
        </p:nvSpPr>
        <p:spPr>
          <a:xfrm>
            <a:off x="2651760" y="34129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6" name="Image 6" descr="FaCub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88920" y="3550158"/>
            <a:ext cx="274320" cy="27432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2139696" y="40347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it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2139696" y="427253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embedding model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3246120" y="36873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40" name="Shape 31"/>
          <p:cNvSpPr/>
          <p:nvPr/>
        </p:nvSpPr>
        <p:spPr>
          <a:xfrm>
            <a:off x="4297680" y="34129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41" name="Image 7" descr="FaMagnifyingGlas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3550158"/>
            <a:ext cx="274320" cy="27432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3785616" y="40347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Retriever</a:t>
            </a:r>
            <a:endParaRPr lang="en-US" sz="1200" dirty="0"/>
          </a:p>
        </p:txBody>
      </p:sp>
      <p:sp>
        <p:nvSpPr>
          <p:cNvPr id="43" name="Text 33"/>
          <p:cNvSpPr txBox="1"/>
          <p:nvPr/>
        </p:nvSpPr>
        <p:spPr>
          <a:xfrm>
            <a:off x="3785616" y="427253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similar chunks</a:t>
            </a:r>
            <a:endParaRPr lang="en-US" sz="1000" dirty="0"/>
          </a:p>
        </p:txBody>
      </p:sp>
      <p:sp>
        <p:nvSpPr>
          <p:cNvPr id="44" name="Shape 34"/>
          <p:cNvSpPr/>
          <p:nvPr/>
        </p:nvSpPr>
        <p:spPr>
          <a:xfrm>
            <a:off x="4892040" y="36873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45" name="Shape 35"/>
          <p:cNvSpPr/>
          <p:nvPr/>
        </p:nvSpPr>
        <p:spPr>
          <a:xfrm>
            <a:off x="5943600" y="34129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46" name="Image 8" descr="FaFileLine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80760" y="3550158"/>
            <a:ext cx="274320" cy="274320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5431536" y="40347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200" dirty="0"/>
          </a:p>
        </p:txBody>
      </p:sp>
      <p:sp>
        <p:nvSpPr>
          <p:cNvPr id="48" name="Text 37"/>
          <p:cNvSpPr txBox="1"/>
          <p:nvPr/>
        </p:nvSpPr>
        <p:spPr>
          <a:xfrm>
            <a:off x="5431536" y="427253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+ question</a:t>
            </a:r>
            <a:endParaRPr lang="en-US" sz="1000" dirty="0"/>
          </a:p>
        </p:txBody>
      </p:sp>
      <p:sp>
        <p:nvSpPr>
          <p:cNvPr id="49" name="Shape 38"/>
          <p:cNvSpPr/>
          <p:nvPr/>
        </p:nvSpPr>
        <p:spPr>
          <a:xfrm>
            <a:off x="6537960" y="36873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50" name="Shape 39"/>
          <p:cNvSpPr/>
          <p:nvPr/>
        </p:nvSpPr>
        <p:spPr>
          <a:xfrm>
            <a:off x="7589520" y="34129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51" name="Image 9" descr="FaMicrochip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26680" y="3550158"/>
            <a:ext cx="274320" cy="274320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7077456" y="40347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200" dirty="0"/>
          </a:p>
        </p:txBody>
      </p:sp>
      <p:sp>
        <p:nvSpPr>
          <p:cNvPr id="53" name="Text 41"/>
          <p:cNvSpPr txBox="1"/>
          <p:nvPr/>
        </p:nvSpPr>
        <p:spPr>
          <a:xfrm>
            <a:off x="7077456" y="427253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answer</a:t>
            </a:r>
            <a:endParaRPr lang="en-US" sz="1000" dirty="0"/>
          </a:p>
        </p:txBody>
      </p:sp>
      <p:sp>
        <p:nvSpPr>
          <p:cNvPr id="54" name="Shape 4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5" name="Shape 4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6" name="Text 4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57" name="Text 4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session_2/2_19_rag_pipeline.py, 2_20_rag_pipeline_ollama.py, 2_21_langchain_rag.py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Loaders and Text Splitters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files into Document objects, then into chunks small enough to embed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4032504" cy="2193290"/>
          </a:xfrm>
          <a:prstGeom prst="roundRect">
            <a:avLst>
              <a:gd name="adj" fmla="val 250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801368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FileIm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897380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801368"/>
            <a:ext cx="3209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loaders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295144"/>
            <a:ext cx="3703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source and return Document objects (text + metadata)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format = one loader: PDF, Word, HTML, CSV, Notion, …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PyPDFLoader returns </a:t>
            </a:r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Document per page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21792" y="3118104"/>
            <a:ext cx="3703320" cy="492506"/>
          </a:xfrm>
          <a:prstGeom prst="roundRect">
            <a:avLst>
              <a:gd name="adj" fmla="val 9283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58952" y="3227832"/>
            <a:ext cx="3429000" cy="309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loader = PyPDFLoader("banking.pdf")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documents = loader.load()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654296" y="1636776"/>
            <a:ext cx="4032504" cy="2193290"/>
          </a:xfrm>
          <a:prstGeom prst="roundRect">
            <a:avLst>
              <a:gd name="adj" fmla="val 250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818888" y="1801368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Scisso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900" y="1897380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12664" y="1801368"/>
            <a:ext cx="3209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splitters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888" y="229514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RecursiveCharacterTextSplitter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tries paragraph → newline → sentence → space → character, keeping sentences whole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SemanticChunker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asks "does the topic change here?" using embeddings instead of counting characters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session_2/2_17_document_loaders.py, 2_18_text_splitters.py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Chunk, and How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cannot send whole documents to the LLM – and we should not want to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68780"/>
            <a:ext cx="329184" cy="329184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WindowMaximiz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1751076"/>
            <a:ext cx="164592" cy="1645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636776"/>
            <a:ext cx="267004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context window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large windows fill up fast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208276"/>
            <a:ext cx="329184" cy="329184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Bo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2290572"/>
            <a:ext cx="164592" cy="16459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32688" y="2176272"/>
            <a:ext cx="267004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Faster, cheaper responses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tokens per call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831592"/>
            <a:ext cx="329184" cy="329184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Cub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" y="2913888"/>
            <a:ext cx="164592" cy="1645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32688" y="2715768"/>
            <a:ext cx="2670048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limits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models take less text than LLMs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538728"/>
            <a:ext cx="329184" cy="329184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4" name="Image 3" descr="FaBulls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" y="3621024"/>
            <a:ext cx="164592" cy="16459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32688" y="3422904"/>
            <a:ext cx="2670048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retrieval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focused chunks match questions better</a:t>
            </a:r>
            <a:endParaRPr lang="en-US" sz="13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68496" y="1636776"/>
          <a:ext cx="4718304" cy="914400"/>
        </p:xfrm>
        <a:graphic>
          <a:graphicData uri="http://schemas.openxmlformats.org/drawingml/2006/table">
            <a:tbl>
              <a:tblPr/>
              <a:tblGrid>
                <a:gridCol w="1115235"/>
                <a:gridCol w="2144684"/>
                <a:gridCol w="1458385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splits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Fixed-size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N characters or tokens; add overlap to avoid cutting ideas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 prototypes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Sentence / paragraph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natural boundaries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Articles, reports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Paragraph → sentence → clause until it fits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RAG (most common)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structure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headings and sections (#, ##)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Manuals, Markdown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the meaning or topic changes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High-quality enterprise RAG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Shape 1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0" name="Text 1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session_2/2_18_text_splitters.py, 2_21_langchain_rag.py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bridge between the vector database and the LLM – only the relevant chunks reach the prompt</a:t>
            </a:r>
            <a:endParaRPr lang="en-US" sz="135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VectorStoreRetriever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Embeds the query and returns the most similar chunks – the default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MultiQueryRetriever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LLM writes several versions of the question, retrieves for each, merges the results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ContextualCompression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Retrieves candidates, then a compressor or reranker keeps only the relevant parts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SelfQueryRetriever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LLM splits the question into a semantic query plus metadata filters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ParentDocumentRetriever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Matches on small child chunks, returns the larger parent for more context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MultiVectorRetriever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Several vectors per document (summary, chunks, questions) map back to one document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EnsembleRetriever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several retrievers and fuses the rankings (Reciprocal Rank Fusion)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session_2/2_22_retrievers.py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Q&amp;A Bot over PDFs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LangServe app that answers questions about an insurance PDF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76707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6707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36776"/>
            <a:ext cx="3493008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Chroma version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2_23_langchain_qand_a_bot_chroma.py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(or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2_24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local Ollama embeddings)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35534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35534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308860"/>
            <a:ext cx="349300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playground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http://localhost:8000/ask/playground/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85978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85978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813304"/>
            <a:ext cx="349300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about the policy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come only from the retrieved chunks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44805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44805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317748"/>
            <a:ext cx="3493008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in FAISS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2_25_langchain_qanda_bot_faiss.py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same app, different store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754880" y="1636776"/>
            <a:ext cx="1874520" cy="1430528"/>
          </a:xfrm>
          <a:prstGeom prst="roundRect">
            <a:avLst>
              <a:gd name="adj" fmla="val 383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1636776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92040" y="163677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2148840"/>
            <a:ext cx="16002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a directory of files for us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Persists automatically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12280" y="1636776"/>
            <a:ext cx="1874520" cy="1430528"/>
          </a:xfrm>
          <a:prstGeom prst="roundRect">
            <a:avLst>
              <a:gd name="adj" fmla="val 383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12280" y="1636776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949440" y="163677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2148840"/>
            <a:ext cx="16002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.index file + .pkl of documents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save_local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load_local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session_2/2_23_…_chroma.py, 2_24_…_chroma_ollama.py, 2_25_…_faiss.py, 2_26_…_pdf_chatbot.py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 chains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| llm | parser, with OpenAI and with local Ollama models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9842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842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2_7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037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Buffer, summary and vector-store memory; a persistent chatbot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700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700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2_11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6426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stores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8895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CRUD with metadata filters; FAISS indexes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3558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2_19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3284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RAG pipeline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5753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→ split → embed → store → retrieve → generate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0416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40416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2_23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0142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Q&amp;A bot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611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LangServe app over an insurance document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modern LangChain, everything is a Runnable joined with |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memory by what you can afford to send: all, a summary, or what is relevant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turn meaning into geometry; retrieval is nearest-neighbour search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strategy often matters more than the choice of vector DB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retriever decides what the LLM gets to see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3: LangChain Agents and Tool Use</a:t>
            </a:r>
            <a:endParaRPr lang="en-US" sz="1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 ·  SUN 31-OCT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Agents and Tool Use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techniques that drive agents, custom tools, and the executors that run the loop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PenToSqu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prompts that steer agents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personas, few-shot examples, chain-of-thought, ReAct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25628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ScrewdriverWre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35229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bind custom tools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@tool, bind_tools, and Pydantic schemas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93141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ArrowsRot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02742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83159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agent loop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AgentExecutor, ReAct and plan-and-execute agents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0654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Databa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0255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agents to real systems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databases, chained tools and web research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199476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fundamentals (recap)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7182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6987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techniques that drive agents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4889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4693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custom tools and binding them to an LLM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2595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2399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with Pydantic schemas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0301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0106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AgentExecutor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38008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27812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agent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65714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55518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Plan-and-Execute agent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393420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832250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 agents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5010912" y="421126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212080" y="410931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reasoning and tool chaining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5010912" y="448833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212080" y="438637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Tool-augmented research agent</a:t>
            </a:r>
            <a:endParaRPr lang="en-US" sz="11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Fundamentals: A Quick Recap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a chatbot, an agent makes decisions and performs tasks until the goal is reached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54228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679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environment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54228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67944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the problem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54228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SignsPo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67944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next action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542288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ScrewdriverWren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67944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it with a tool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54228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MagnifyingGlass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679448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result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 flipH="1">
            <a:off x="1280160" y="2919984"/>
            <a:ext cx="658368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29" name="Text 22"/>
          <p:cNvSpPr txBox="1"/>
          <p:nvPr/>
        </p:nvSpPr>
        <p:spPr>
          <a:xfrm>
            <a:off x="1280160" y="2700528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until the goal is achieved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457200" y="3432048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21792" y="3541776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SESSION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621792" y="3761232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loop, built with LangChain: prompts steer the Reason step, tools power the Act step, and an executor runs the loop.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36" name="Text 2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Prompts for Domain-Expert Personas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role, expertise, rules and style before any user interaction</a:t>
            </a:r>
            <a:endParaRPr lang="en-US" sz="135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0387"/>
          <a:ext cx="3495040" cy="914400"/>
        </p:xfrm>
        <a:graphic>
          <a:graphicData uri="http://schemas.openxmlformats.org/drawingml/2006/table">
            <a:tbl>
              <a:tblPr/>
              <a:tblGrid>
                <a:gridCol w="1165013"/>
                <a:gridCol w="2330027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assistant's expertise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primary objective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 or information sources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generate answers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to avoid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format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 of the response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Formal, friendly, technical 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318000" y="1320387"/>
            <a:ext cx="436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318000" y="1558131"/>
            <a:ext cx="4368800" cy="1376680"/>
          </a:xfrm>
          <a:prstGeom prst="roundRect">
            <a:avLst>
              <a:gd name="adj" fmla="val 3321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455160" y="1667859"/>
            <a:ext cx="4094480" cy="1193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an expert &lt;ROLE&gt;.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goal is to &lt;OBJECTIVE&gt;.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your expertise in &lt;DOMAIN&gt;.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 answering: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Explain concepts clearly.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Ask clarifying questions if information is missing.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Do not make up facts. If uncertain, say so.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Respond in a professional and concise manner.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318000" y="3289586"/>
            <a:ext cx="436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18000" y="3527330"/>
            <a:ext cx="4368800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455160" y="3637058"/>
            <a:ext cx="4094480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an experienced physician specialising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internal medicine. Always: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Explain medical terminology simply.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Recommend a professional for emergencies.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Do not diagnose with certainty from limited data.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session_3/3_1_prompting_techniques.py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Zero-Shot, One-Shot and Few-Shot Prompting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model examples of what you want – or none at all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592326"/>
            <a:ext cx="2633472" cy="2612644"/>
          </a:xfrm>
          <a:prstGeom prst="roundRect">
            <a:avLst>
              <a:gd name="adj" fmla="val 21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75691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ONLY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197637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9763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6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197637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470150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QA, summaries, translation, simple classification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inconsistent on complex tasks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" y="3238246"/>
            <a:ext cx="2304288" cy="619887"/>
          </a:xfrm>
          <a:prstGeom prst="roundRect">
            <a:avLst>
              <a:gd name="adj" fmla="val 737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8952" y="3347974"/>
            <a:ext cx="2029968" cy="4370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Classify the sentiment: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"Arrived on time, works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perfectly."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55264" y="1592326"/>
            <a:ext cx="2633472" cy="2612644"/>
          </a:xfrm>
          <a:prstGeom prst="roundRect">
            <a:avLst>
              <a:gd name="adj" fmla="val 21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19856" y="175691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EXAMPLE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419856" y="197637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19856" y="19763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60" dirty="0"/>
          </a:p>
        </p:txBody>
      </p:sp>
      <p:sp>
        <p:nvSpPr>
          <p:cNvPr id="16" name="Text 14"/>
          <p:cNvSpPr txBox="1"/>
          <p:nvPr/>
        </p:nvSpPr>
        <p:spPr>
          <a:xfrm>
            <a:off x="3913632" y="197637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419856" y="2470150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teaching a format or style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 example rarely covers every case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419856" y="3238246"/>
            <a:ext cx="2304288" cy="747268"/>
          </a:xfrm>
          <a:prstGeom prst="roundRect">
            <a:avLst>
              <a:gd name="adj" fmla="val 611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57016" y="3347974"/>
            <a:ext cx="2029968" cy="564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Review: Terrible phone.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Negative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Review: Arrived on time…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?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053328" y="1592326"/>
            <a:ext cx="2633472" cy="2612644"/>
          </a:xfrm>
          <a:prstGeom prst="roundRect">
            <a:avLst>
              <a:gd name="adj" fmla="val 21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0" y="175691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 EXAMPLES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217920" y="197637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0" y="19763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endParaRPr lang="en-US" sz="1260" dirty="0"/>
          </a:p>
        </p:txBody>
      </p:sp>
      <p:sp>
        <p:nvSpPr>
          <p:cNvPr id="24" name="Text 22"/>
          <p:cNvSpPr txBox="1"/>
          <p:nvPr/>
        </p:nvSpPr>
        <p:spPr>
          <a:xfrm>
            <a:off x="6711696" y="197637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217920" y="2470150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complex classification, extraction, structured output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longer prompts cost tokens and time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17920" y="3238246"/>
            <a:ext cx="2304288" cy="747268"/>
          </a:xfrm>
          <a:prstGeom prst="roundRect">
            <a:avLst>
              <a:gd name="adj" fmla="val 611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55080" y="3347974"/>
            <a:ext cx="2029968" cy="564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Excellent service. → Positive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Very slow delivery. → Negative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Damaged packaging. → Negative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Arrived on time… → ?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session_3/3_1_prompting_techniques.py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 (CoT) Prompting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model to reason step by step before it answers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1188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Prompt:</a:t>
            </a:r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customer has a budget of $1,200 and needs a laptop for programming, machine learning and occasional gaming. Recommend the best option.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434844"/>
            <a:ext cx="4023360" cy="1750568"/>
          </a:xfrm>
          <a:prstGeom prst="roundRect">
            <a:avLst>
              <a:gd name="adj" fmla="val 313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434844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43484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CoT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946908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recommend Laptop B because it offers the best balance of CPU, GPU, memory and price."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 – but we cannot see or check the reasoning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2434844"/>
            <a:ext cx="4023360" cy="1750568"/>
          </a:xfrm>
          <a:prstGeom prst="roundRect">
            <a:avLst>
              <a:gd name="adj" fmla="val 313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2434844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243484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CoT: "Reason step by step first"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2946908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limit is $1,200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 needs a fast CPU and 16 GB+ RAM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and gaming both need a dedicated GPU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 B: i7, 16 GB, RTX 4060, 1 TB SSD – $1,180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Laptop B meets every requirement within budget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session_3/3_1_prompting_techniques.py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Prompting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+ Act: alternate thinking with tool calls, and use each result to decide the next step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69720"/>
            <a:ext cx="33463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User:</a:t>
            </a:r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 have ₹10 lakh to invest for 10 years. Equity mutual fund, fixed deposit or balanced fund?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575560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575560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77112" y="2731008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487424" y="2575560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87424" y="2575560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237994" y="2731008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48306" y="2575560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48306" y="2575560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996184"/>
            <a:ext cx="100050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996184"/>
            <a:ext cx="10005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485138" y="315163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695450" y="2996184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695450" y="2996184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46020" y="315163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656332" y="2996184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56332" y="2996184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169275" y="156972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69275" y="1569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960" dirty="0"/>
          </a:p>
        </p:txBody>
      </p:sp>
      <p:sp>
        <p:nvSpPr>
          <p:cNvPr id="23" name="Text 21"/>
          <p:cNvSpPr txBox="1"/>
          <p:nvPr/>
        </p:nvSpPr>
        <p:spPr>
          <a:xfrm>
            <a:off x="4608187" y="1569720"/>
            <a:ext cx="407861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Thought: I need the user's risk profile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169275" y="1944624"/>
            <a:ext cx="292608" cy="29260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169275" y="19446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60" dirty="0"/>
          </a:p>
        </p:txBody>
      </p:sp>
      <p:sp>
        <p:nvSpPr>
          <p:cNvPr id="26" name="Text 24"/>
          <p:cNvSpPr txBox="1"/>
          <p:nvPr/>
        </p:nvSpPr>
        <p:spPr>
          <a:xfrm>
            <a:off x="4608187" y="1944624"/>
            <a:ext cx="407861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getCustomerProfile(id)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169275" y="2319528"/>
            <a:ext cx="292608" cy="29260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69275" y="2319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960" dirty="0"/>
          </a:p>
        </p:txBody>
      </p:sp>
      <p:sp>
        <p:nvSpPr>
          <p:cNvPr id="29" name="Text 27"/>
          <p:cNvSpPr txBox="1"/>
          <p:nvPr/>
        </p:nvSpPr>
        <p:spPr>
          <a:xfrm>
            <a:off x="4608187" y="2319528"/>
            <a:ext cx="407861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age 38, moderate risk, 10-year horizon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169275" y="269443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169275" y="2694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960" dirty="0"/>
          </a:p>
        </p:txBody>
      </p:sp>
      <p:sp>
        <p:nvSpPr>
          <p:cNvPr id="32" name="Text 30"/>
          <p:cNvSpPr txBox="1"/>
          <p:nvPr/>
        </p:nvSpPr>
        <p:spPr>
          <a:xfrm>
            <a:off x="4608187" y="2694432"/>
            <a:ext cx="407861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Thought: compare returns and risk of the options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169275" y="3069336"/>
            <a:ext cx="292608" cy="29260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169275" y="3069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60" dirty="0"/>
          </a:p>
        </p:txBody>
      </p:sp>
      <p:sp>
        <p:nvSpPr>
          <p:cNvPr id="35" name="Text 33"/>
          <p:cNvSpPr txBox="1"/>
          <p:nvPr/>
        </p:nvSpPr>
        <p:spPr>
          <a:xfrm>
            <a:off x="4608187" y="3069336"/>
            <a:ext cx="407861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getInvestmentOptions([...])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169275" y="3473196"/>
            <a:ext cx="292608" cy="29260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169275" y="34731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960" dirty="0"/>
          </a:p>
        </p:txBody>
      </p:sp>
      <p:sp>
        <p:nvSpPr>
          <p:cNvPr id="38" name="Text 36"/>
          <p:cNvSpPr txBox="1"/>
          <p:nvPr/>
        </p:nvSpPr>
        <p:spPr>
          <a:xfrm>
            <a:off x="4608187" y="3444240"/>
            <a:ext cx="4078613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equity 12% high · FD 7% low · balanced 10% medium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169275" y="3906012"/>
            <a:ext cx="292608" cy="29260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169275" y="39060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60" dirty="0"/>
          </a:p>
        </p:txBody>
      </p:sp>
      <p:sp>
        <p:nvSpPr>
          <p:cNvPr id="41" name="Text 39"/>
          <p:cNvSpPr txBox="1"/>
          <p:nvPr/>
        </p:nvSpPr>
        <p:spPr>
          <a:xfrm>
            <a:off x="4608187" y="3877056"/>
            <a:ext cx="4078613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a balanced fund suits a moderate risk profile over 10 years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session_3/3_1_prompting_techniques.py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Calling: The LLM Asks, the App Acts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its own, an LLM cannot query an API, send an email, read a database or run a function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0934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4650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3113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68880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"Most downloaded Jane Austen book on Project Gutenberg?"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88366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0934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4650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3113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decides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68880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need the book catalogue"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88366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0934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File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4650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3113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68880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search_gutenberg_books("Jane Austen")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88366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09344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Gea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46504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3113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executes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68880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 runs the function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88366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0934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Repl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46504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3113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68880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reads the result and replies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364992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21792" y="3474720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621792" y="3694176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never executes anything. It only generates a structured request; the application decides whether and how to run it.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session_3/3_2_tool_calling.py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in LangChain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with @tool, attach with bind_tools, and constrain inputs with Pydantic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35881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tool and bind it to the LLM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573625"/>
            <a:ext cx="3931920" cy="1519047"/>
          </a:xfrm>
          <a:prstGeom prst="roundRect">
            <a:avLst>
              <a:gd name="adj" fmla="val 301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83353"/>
            <a:ext cx="3657600" cy="1336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langchain_core.tools import 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search_gutenberg_books(query: str) -&gt; str: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"""Search Project Gutenberg books."""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llm_with_tools = llm.bind_tools(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[search_gutenberg_books])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335881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in, Pydantic out (3_3)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573625"/>
            <a:ext cx="3931920" cy="2148459"/>
          </a:xfrm>
          <a:prstGeom prst="roundRect">
            <a:avLst>
              <a:gd name="adj" fmla="val 212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1683353"/>
            <a:ext cx="3657600" cy="1965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SearchGutenbergInput(BaseModel):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query: str = Field(description="Title, author or subject")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@tool("search_gutenberg_books",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args_schema=SearchGutenbergInput)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search_gutenberg_books(query: str) -&gt; str: ...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BookAnswer(BaseModel):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title: str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author: str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download_count: int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structured_llm = llm.with_structured_output(BookAnswer)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4754880" y="4107847"/>
            <a:ext cx="393192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makes sure what goes to and from the LLM matches a schema – wrong types fail fast.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session_3/3_2_tool_calling.py, 3_3_tool_calling_pydantic.py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AgentExecutor: The Runtime for the Loop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the model, runs the tools it asks for, feeds the results back, and knows when to stop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8325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8325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36776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1 – the model asks for a tool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"Who wrote Pride and Prejudice?" →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serp_search(query=…)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18770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8770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141220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executor runs the tool, not the model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up serp_search, executes it, gets the web results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69214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6921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645664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go back into context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(call, result) pair is added to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agent_scratchpad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loop back to the model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19659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19659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0108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2 – another tool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"Jane Austen" →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search_gutenberg_books(query="Jane Austen")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701034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010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54552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3 – a plain-text answer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 call this time = AgentFinish; the loop ends and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result["output"]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returned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session_3/3_4_agent_executor_serp_gutenberg.py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and Plan-and-Execute in LangChain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patterns from Session 1, now built with LangChain agents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4023360" cy="1532128"/>
          </a:xfrm>
          <a:prstGeom prst="roundRect">
            <a:avLst>
              <a:gd name="adj" fmla="val 358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agent – 3_5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 → Action → Observation, repeated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web search and a Python REPL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each step from the latest observation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when the path is not known in advance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636776"/>
            <a:ext cx="4023360" cy="1532128"/>
          </a:xfrm>
          <a:prstGeom prst="roundRect">
            <a:avLst>
              <a:gd name="adj" fmla="val 358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Plan-and-execute agent – 3_6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→ Planner → Plan → Executor → Steps → Answer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is made once, up front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runs as its own small ReAct loop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for long, structured tasks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session_3/3_5_react_agent_web_search_python_repl.py, 3_6_plan_and_execute_agent.py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Talking to Databases: SQLDatabaseToolkit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→ SQL query → answer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8760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department has the highest average salary?" – the agent inspects the schema, writes the SQL, runs it, fixes it if it fails, and explains the result.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098548"/>
            <a:ext cx="4050792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6072" y="221742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Table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2295144"/>
            <a:ext cx="155448" cy="1554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96696" y="2199132"/>
            <a:ext cx="33924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sql_db_list_tables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tables exist?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636008" y="2098548"/>
            <a:ext cx="4050792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754880" y="2217420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Sitema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604" y="2295144"/>
            <a:ext cx="155448" cy="1554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75504" y="2199132"/>
            <a:ext cx="33924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sql_db_schema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of the chosen tables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2834640"/>
            <a:ext cx="4050792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76072" y="2953512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la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" y="3031236"/>
            <a:ext cx="155448" cy="1554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96696" y="2935224"/>
            <a:ext cx="33924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sql_db_query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SQL query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636008" y="2834640"/>
            <a:ext cx="4050792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754880" y="2953512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9" name="Image 3" descr="FaCircl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2604" y="3031236"/>
            <a:ext cx="155448" cy="15544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175504" y="2935224"/>
            <a:ext cx="33924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sql_db_query_checker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 query before running it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457200" y="3769614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21792" y="387934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TIP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621792" y="4098798"/>
            <a:ext cx="7900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agent a read-only database user – an LLM that can write SQL can also write DELETE.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session_3/3_7_create_sales_db.py → 3_8_sql_database_toolkit_agent.py, 3_9_sales_db_agent.py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Reasoning: Chaining Tools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"Book the cheapest flight and email me the ticket" – no single tool can do that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city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LocationD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geocode_city()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latitude / longitude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CloudSu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get_current_weather()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coordinates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MapP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find_nearby_places()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coordinates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Shi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7393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recommend_clothing()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weather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087624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21792" y="319735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CHAINING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621792" y="3416808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1 → output → Tool 2 → output → Tool 3 → final answer. The Flask app (3_11) puts a UI on top of the chaining script (3_10).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session_3/3_10_chaining_tool_outputs.py, 3_11_chaining_tool_outputs_flask.py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Tool-Augmented Research Agent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 web, dig deeper where needed, and write up what it found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SERP API on the topic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CalendarDay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Recent?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date-based search for fresh topics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 deeper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BeautifulSoup reads specific pages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FileLin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 with sources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6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session_3/3_12_research_agent_tools.py, 3_13_research_agent_tools_serp.py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techniques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Personas, few-shot, chain-of-thought and ReAct prompts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9842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842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3_2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tools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037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@tool, bind_tools and Pydantic input schemas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5100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5100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3_4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4825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AgentExecutor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7294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loop with web search and Gutenberg tools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0358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0358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3_8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0083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agent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2552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 questions over a sales database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5615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5615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3_12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5341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agent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810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scrape and summarise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93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are the agent's operating manual – structure them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requests tool calls; the executor runs them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docstring and schema are what make a tool usable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tools when one output is the next one's input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 what tools can do (read-only DB, allow-lists)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4: LangGraph – Stateful Workflows and Routing</a:t>
            </a:r>
            <a:endParaRPr lang="en-US" sz="1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 ·  SAT 1-NOV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LangGraph: Stateful Workflows and Routing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an LLM application as a graph: shared state, nodes that update it, and edges that decide what runs next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CodeComp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when to reach for LangGraph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how it differs from plain LangChain chains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34772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DiagramProje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44373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graphs from state, nodes and edges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TypedDict state, StateGraph, compile and invoke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302285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CodeMer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11886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3014472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updates with reducers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parallel nodes don't overwrite each other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9798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Rou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9399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Route, stream and debug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edges, message graphs, streaming, LangGraph Studio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200253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LangGraph (LangChain vs LangGraph)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9514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854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components: state, nodes, edges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8775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780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first graph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8036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706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Reducers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72968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63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routing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46557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graphs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75818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6484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405079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94106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Multi-node pipelines and LangGraph Studio</a:t>
            </a:r>
            <a:endParaRPr lang="en-US" sz="11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Work with LLMs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"summarise this text" task – with plain Python, a LangChain chain, and a LangGraph graph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633472" cy="2167128"/>
          </a:xfrm>
          <a:prstGeom prst="roundRect">
            <a:avLst>
              <a:gd name="adj" fmla="val 253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ABSTRACTION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116836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Python (OOP)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14600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API calls; we write the flow, state and error handling ourselves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one-off calls, prototypes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55264" y="1636776"/>
            <a:ext cx="2633472" cy="2167128"/>
          </a:xfrm>
          <a:prstGeom prst="roundRect">
            <a:avLst>
              <a:gd name="adj" fmla="val 253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19856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ABSTRACTION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19856" y="202082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2116836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13632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(LCEL)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419856" y="2514600"/>
            <a:ext cx="2304288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declarative pipeline: prompt → LLM → parser → tool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linear; built-in retries and fallbacks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standard pipelines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53328" y="1636776"/>
            <a:ext cx="2633472" cy="2167128"/>
          </a:xfrm>
          <a:prstGeom prst="roundRect">
            <a:avLst>
              <a:gd name="adj" fmla="val 253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17920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ABSTRACTION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217920" y="202082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DiagramProje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2116836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711696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514600"/>
            <a:ext cx="230428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and edges over an explicit, persistent state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Branches, loops, parallel paths, conditional routing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stateful, multi-step, multi-agent work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session_4/4_1_not_langgraph_langchain_instead.py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vs LangGraph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builds on LangChain; it doesn't replace it</a:t>
            </a:r>
            <a:endParaRPr lang="en-US" sz="1350" dirty="0"/>
          </a:p>
        </p:txBody>
      </p:sp>
      <p:graphicFrame>
        <p:nvGraphicFramePr>
          <p:cNvPr id="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LangChain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LLMs with tools, retrievers and parsers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Complex, stateful, multi-agent applications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Simple, single-step or short chains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Multi-step, long-running, with loops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Minimal; memory handled outside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Built-in shared state across every step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flow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predefined steps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branching and runtime decisions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Chatbots, document Q&amp;A, calculators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Automation, multi-agent orchestration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curve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Steeper: state, nodes, edges, coordination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session_4/4_1_not_langgraph_langchain_instead.py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LangGraph: Four Key Components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bank-transfer graph: check the balance, then buy or sell, then update the balance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540764"/>
            <a:ext cx="365760" cy="36576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32204"/>
            <a:ext cx="182880" cy="1828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9264" y="1435608"/>
            <a:ext cx="38567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that flows through the graph and is updated at each step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263140"/>
            <a:ext cx="365760" cy="36576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CircleD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54580"/>
            <a:ext cx="182880" cy="1828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69264" y="2157984"/>
            <a:ext cx="38567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step: takes the current state, returns an updated state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985516"/>
            <a:ext cx="365760" cy="36576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76956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69264" y="2880360"/>
            <a:ext cx="38567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two nodes and decides how control flows between them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620262"/>
            <a:ext cx="365760" cy="36576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4" name="Image 3" descr="FaDiagramProjec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11702"/>
            <a:ext cx="182880" cy="1828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69264" y="3602736"/>
            <a:ext cx="3856736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overall structure that organises nodes and edges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6939280" y="1828800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>
            <a:off x="5933440" y="1435608"/>
            <a:ext cx="201168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988304" y="143560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 flipH="1">
            <a:off x="5996940" y="2468880"/>
            <a:ext cx="94234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6939280" y="2468880"/>
            <a:ext cx="94234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5933440" y="2075688"/>
            <a:ext cx="2011680" cy="36576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988304" y="207568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transaction_node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996940" y="3108960"/>
            <a:ext cx="94234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 flipH="1">
            <a:off x="6939280" y="3108960"/>
            <a:ext cx="94234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5191760" y="2715768"/>
            <a:ext cx="161036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46624" y="2715768"/>
            <a:ext cx="150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buy_node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7076440" y="2715768"/>
            <a:ext cx="161036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131304" y="2715768"/>
            <a:ext cx="150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sell_node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6939280" y="3749040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5933440" y="3355848"/>
            <a:ext cx="2011680" cy="36576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988304" y="335584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balance_node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5933440" y="3995928"/>
            <a:ext cx="201168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5988304" y="399592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7" name="Text 3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session_4/4_2_greeter_graph.py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State with TypedDict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don't pass many variables to each other – they read and update one shared state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82611"/>
            <a:ext cx="33463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now knows which fields exist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820355"/>
            <a:ext cx="3346315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930083"/>
            <a:ext cx="3071995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BankState(TypedDict):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customer_id: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balance: float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transfer_amount: float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transaction_id: str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3208846"/>
            <a:ext cx="3346315" cy="100584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318574"/>
            <a:ext cx="301713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3538030"/>
            <a:ext cx="301713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returns only the fields it changed; LangGraph merges them into the full state.</a:t>
            </a:r>
            <a:endParaRPr lang="en-US" sz="12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9275" y="1582611"/>
          <a:ext cx="4517525" cy="914400"/>
        </p:xfrm>
        <a:graphic>
          <a:graphicData uri="http://schemas.openxmlformats.org/drawingml/2006/table">
            <a:tbl>
              <a:tblPr/>
              <a:tblGrid>
                <a:gridCol w="1198527"/>
                <a:gridCol w="1567305"/>
                <a:gridCol w="1751693"/>
              </a:tblGrid>
              <a:tr h="24384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TypedDict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Pydantic BaseModel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hints for dicts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and parsing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runtime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enforced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Enforced, with type conversion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supported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Nested models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nested dicts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supported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Faster – no checks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Slower – validates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when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just need structure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need validation (e.g. API input)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session_4/4_2_greeter_graph.py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Graph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 name, then greet the user – two nodes over a shared state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7234"/>
            <a:ext cx="44447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4_3_langgraph_basic.py (condensed)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74978"/>
            <a:ext cx="4444779" cy="3085084"/>
          </a:xfrm>
          <a:prstGeom prst="roundRect">
            <a:avLst>
              <a:gd name="adj" fmla="val 1482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84706"/>
            <a:ext cx="4170459" cy="290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GraphState(TypedDict):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user_name: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greeting: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ask_name_node(state):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 = input("Bot: What is your name? 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{**state, "user_name": name}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greet_user_node(state):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{**state,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"greeting": f"Hello {state['user_name']}!"}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 = StateGraph(GraphState)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workflow.add_node("ask_name", ask_name_node)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workflow.add_node("greet_user", greet_user_node)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workflow.add_edge(START, "ask_name")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workflow.add_edge("ask_name", "greet_user")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workflow.add_edge("greet_user", END)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= workflow.compile()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app.invoke({"user_name": "", "greeting": ""})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267739" y="1237234"/>
            <a:ext cx="56794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67739" y="1237234"/>
            <a:ext cx="56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63115" y="139268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073427" y="1237234"/>
            <a:ext cx="766064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73427" y="1237234"/>
            <a:ext cx="766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ask_name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66923" y="139268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077235" y="1237234"/>
            <a:ext cx="898144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77235" y="1237234"/>
            <a:ext cx="89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greet_user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02811" y="139268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213123" y="1237234"/>
            <a:ext cx="43586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13123" y="1237234"/>
            <a:ext cx="435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267739" y="209677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9" name="Image 0" descr="Fa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5463" y="2174494"/>
            <a:ext cx="155448" cy="1554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5724939" y="1987042"/>
            <a:ext cx="296186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clipboard every node reads and writes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267739" y="2736850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2" name="Image 1" descr="FaCircleD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5463" y="2814574"/>
            <a:ext cx="155448" cy="155448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724939" y="2627122"/>
            <a:ext cx="296186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functions: state in, updated state out (</a:t>
            </a:r>
            <a:pPr indent="0" marL="0">
              <a:buNone/>
            </a:pPr>
            <a:r>
              <a:rPr lang="en-US" sz="10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**state</a:t>
            </a:r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keeps the rest)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5267739" y="3296920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5" name="Image 2" descr="Fa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5463" y="3374644"/>
            <a:ext cx="155448" cy="15544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5724939" y="3267202"/>
            <a:ext cx="2961861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→ ask_name → greet_user → END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5267739" y="3856990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8" name="Image 3" descr="FaPla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5463" y="3934714"/>
            <a:ext cx="155448" cy="15544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5724939" y="3747262"/>
            <a:ext cx="296186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compile() and invoke()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runnable graph, then run it from an initial state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3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session_4/4_3_langgraph_basic.py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Reducers: Merging Updates to the Same Key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several nodes write the same field, the reducer decides how values combine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428877"/>
            <a:ext cx="4023360" cy="2131822"/>
          </a:xfrm>
          <a:prstGeom prst="roundRect">
            <a:avLst>
              <a:gd name="adj" fmla="val 257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28877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28877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reducer – last write wins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40941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B's message replaces Agent A's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2195957"/>
            <a:ext cx="3749040" cy="1181862"/>
          </a:xfrm>
          <a:prstGeom prst="roundRect">
            <a:avLst>
              <a:gd name="adj" fmla="val 386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05685"/>
            <a:ext cx="3474720" cy="998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State(TypedDict):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messages: List[str]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agent_a(state):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{"messages": ["Hello from A"]}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agent_b(state):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{"messages": ["Hello from B"]}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428877"/>
            <a:ext cx="4023360" cy="2131822"/>
          </a:xfrm>
          <a:prstGeom prst="roundRect">
            <a:avLst>
              <a:gd name="adj" fmla="val 257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428877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1428877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reducer – values accumulate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1940941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messages are kept, in order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00600" y="2195957"/>
            <a:ext cx="3749040" cy="1181862"/>
          </a:xfrm>
          <a:prstGeom prst="roundRect">
            <a:avLst>
              <a:gd name="adj" fmla="val 386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37760" y="2305685"/>
            <a:ext cx="3474720" cy="998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add_messages(old, new):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old + new        # the reducer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State(TypedDict):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messages: Annotated[List[str], add_messages]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agent_a and agent_b unchanged – nothing is lost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999611"/>
            <a:ext cx="8229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LLM (4_6):</a:t>
            </a:r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two agents check the return policies of two e-commerce sites in parallel; a reducer combines their findings.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session_4/4_4_…_without_reducer.py, 4_5_…_with_reducer.py, 4_6_langgraph_reducer_return_policy.py</a:t>
            </a:r>
            <a:endParaRPr lang="en-US" sz="8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Edges: Choosing the Next Node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a path based on the current state instead of one fixed route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554480" y="155676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CircleD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9392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17855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16302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the state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148840" y="1831086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4297680" y="155676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CodeBra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69392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36976" y="217855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function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3236976" y="2416302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state and returns a label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892040" y="1831086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040880" y="155676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Rou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69392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980176" y="217855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node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5980176" y="2416302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edge for that label is followed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57200" y="3007614"/>
            <a:ext cx="2657856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76072" y="312648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0" name="Image 3" descr="FaFileSignatu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" y="3204210"/>
            <a:ext cx="155448" cy="15544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96696" y="3108198"/>
            <a:ext cx="199948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approved or rejected?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follow-up nodes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3243072" y="3007614"/>
            <a:ext cx="2657856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3361944" y="312648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4" name="Image 4" descr="FaWall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9668" y="3204210"/>
            <a:ext cx="155448" cy="15544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3782568" y="3108198"/>
            <a:ext cx="199948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balance?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or decline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6028944" y="3007614"/>
            <a:ext cx="2657856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6147816" y="3126486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8" name="Image 5" descr="FaUserLo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5540" y="3204210"/>
            <a:ext cx="155448" cy="15544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568440" y="3108198"/>
            <a:ext cx="199948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authenticated?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or ask again</a:t>
            </a:r>
            <a:endParaRPr lang="en-US" sz="1200" dirty="0"/>
          </a:p>
        </p:txBody>
      </p:sp>
      <p:sp>
        <p:nvSpPr>
          <p:cNvPr id="30" name="Text 22"/>
          <p:cNvSpPr txBox="1"/>
          <p:nvPr/>
        </p:nvSpPr>
        <p:spPr>
          <a:xfrm>
            <a:off x="457200" y="4054602"/>
            <a:ext cx="8229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</a:t>
            </a:r>
            <a:pPr algn="l"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4_10</a:t>
            </a:r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(unconditional edges) with </a:t>
            </a:r>
            <a:pPr algn="l"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4_11</a:t>
            </a:r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(conditional on news sentiment); </a:t>
            </a:r>
            <a:pPr algn="l"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4_7</a:t>
            </a:r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routes questions to specialist nodes.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session_4/4_7_…_routing_specialists.py, 4_10_stock_price_graph.py, 4_11_…_sentiment_graph.py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Graphs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conversation itself is the state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separate fields such as question, answer and context, the state is a list of </a:t>
            </a:r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</a:t>
            </a:r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Each node reads the history and appends to 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642616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2752344"/>
            <a:ext cx="3602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971800"/>
            <a:ext cx="36027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conversation becomes the state of the graph – ideal for chat assistants like the bank FAQ demo.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163677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874520"/>
            <a:ext cx="3931920" cy="1234313"/>
          </a:xfrm>
          <a:prstGeom prst="roundRect">
            <a:avLst>
              <a:gd name="adj" fmla="val 3704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92040" y="1984248"/>
            <a:ext cx="3657600" cy="10514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messages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SystemMessage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HumanMessage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AIMessage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HumanMessage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└── AIMessage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session_4/4_8_message_graph_bank_faq.py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and LangGraph Studio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progress while the graph runs, and see the graph itself while you build it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95478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17776"/>
            <a:ext cx="395478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Normally the graph runs every node, then returns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streaming, each node's output is sent as soon as it completes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see progress instead of waiting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732020" y="1636776"/>
            <a:ext cx="395478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Studio</a:t>
            </a:r>
            <a:pPr algn="l" indent="0" marL="0">
              <a:buNone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a visual IDE for graphs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32020" y="2017776"/>
            <a:ext cx="3954780" cy="1091946"/>
          </a:xfrm>
          <a:prstGeom prst="roundRect">
            <a:avLst>
              <a:gd name="adj" fmla="val 418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69180" y="2127504"/>
            <a:ext cx="3680460" cy="909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pip install "langgraph-cli[inmem]"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langgraph dev --tunnel     # opens Studio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"domain not allowed"? Advanced settings →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Allowed domains: *.trycloudflare.com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pick stock_news, input: hdfcbank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Ctrl+C to stop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session_4/4_9_streaming_stock_recommendation.py, langgraph.json, 4_10_…_graph.py, 4_11_…_graph.py</a:t>
            </a:r>
            <a:endParaRPr lang="en-US" sz="8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angGraph memory options: no memory, MemorySaver, SqliteSa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session_4/4_12_langgraph_news_summarizer.py; session_5/5_7_langgraph_memory.py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LangGraph Examples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demos that combine everything so far – several continue into Session 5</a:t>
            </a:r>
            <a:endParaRPr lang="en-US" sz="135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2235200"/>
                <a:gridCol w="3352800"/>
                <a:gridCol w="2641600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shows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 summariser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API + conditional logic on news sentiment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4_12 (4_13 Ollama, 4_14 Gemini)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 sector outlook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Multi-node research pipeline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4_15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security reviewer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version vs a planner agent that decides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session_5/5_2, 4_16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chatbot (real data)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Kaggle FAQs in ChromaDB, Flask UI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session_5/5_15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ntfy.sh push messages and Gmail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session_5/5_16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from a Hugging Face dataset, test, apply to the bank bot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session_5/5_12 → 5_14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Short-term memory + RAG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 from memory first, else the vector DB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session_5/5_17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session_4/4_12_…_news_summarizer.py (+4_13/4_14), 4_15_…_sector_outlook.py, 4_16_…_planner_agent.py</a:t>
            </a:r>
            <a:endParaRPr lang="en-US" sz="8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Sending Email from Code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notification demos send mail through Gmail with an app password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8325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8325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36776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Google Account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and sign-in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18770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8770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141220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on 2-step verification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passwords are only available with it enabled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69214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6921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645664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app password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"App passwords" option, or go to myaccount.google.com/apppasswords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19659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19659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0108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it in .env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16-character password without spaces into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GMAIL_APP_PASSWORD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session_5/5_16_langgraph_bank_ntfy_email_flask.py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task, three ways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Python vs LangChain vs LangGraph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242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42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4_3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967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graph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0436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State, two nodes, edges, compile and invoke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3500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500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4_5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3225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Reducers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694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agents adding to the same list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8757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8757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4_7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8483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routing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0952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functions that pick the next node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0156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40156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4_12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37413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summariser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62102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API-driven graph with sentiment-based branches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93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LangGraph when you need state, branches or loops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 the contract between nodes – design it first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return partial updates; reducers decide how they merge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turn a pipeline into a decision-maker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for responsiveness; use Studio to see and debug the graph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5: LangGraph – Cycles, Human-in-the-Loop and Persistence</a:t>
            </a:r>
            <a:endParaRPr lang="en-US" sz="12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 ·  SUN 7-NOV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LangGraph: Cycles, Human-in-the-Loop and Persistence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 that loop until the work is good enough, pause for a human, and survive a crash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ArrowsRot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loops with a safe exit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back to an earlier node, with a limit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25628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User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35229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for human approval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interrupt() and resume with Command(resume=…)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93141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FloppyDis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02742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83159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and recover state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checkpointers, thread IDs, SQLite crash recovery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0654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ShieldHalve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0255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and protect the graph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schema design, subgraphs, guardrails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200253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Cycles and loops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9514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854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(HITL)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8775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780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Checkpointers and persistence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8036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706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schema design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72968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63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Subgraphs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46557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in LangGraph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75818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6484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stateful banking chatbot</a:t>
            </a:r>
            <a:endParaRPr lang="en-US" sz="11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in LangGraph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can run more than once – here, an answer is refined until the evaluator is satisfied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88392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108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328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LLM to answer or improve; iterations + 1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478280" y="1911096"/>
            <a:ext cx="76200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28600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ScaleBalanc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895856" y="2258568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895856" y="2496312"/>
            <a:ext cx="1328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LLM: continue or stop?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880360" y="1911096"/>
            <a:ext cx="76200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880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5" name="Image 2" descr="FaCodeBran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2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297936" y="2258568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should_continue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297936" y="2496312"/>
            <a:ext cx="1328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if iterations ≥ 3, else use the decision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 flipH="1">
            <a:off x="1158240" y="3319272"/>
            <a:ext cx="280416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19" name="Text 14"/>
          <p:cNvSpPr txBox="1"/>
          <p:nvPr/>
        </p:nvSpPr>
        <p:spPr>
          <a:xfrm>
            <a:off x="1158240" y="3099816"/>
            <a:ext cx="280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→ back to answer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5029200" y="163677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is just a conditional edge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029200" y="1874520"/>
            <a:ext cx="3657600" cy="2088515"/>
          </a:xfrm>
          <a:prstGeom prst="roundRect">
            <a:avLst>
              <a:gd name="adj" fmla="val 2189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5166360" y="1984248"/>
            <a:ext cx="3383280" cy="19056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AgentState(TypedDict):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question: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history: List[str]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iterations: int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decision: str   # "continue" | "stop"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builder.add_conditional_edges(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"evaluate",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should_continue,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{"continue": "answer",   # LOOP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"stop": END},           # EXIT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6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session_5/5_1_langgraph_looping_agents.py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Loops in a Workflow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order-processing state machine: approve, retry the payment, or give up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31620"/>
            <a:ext cx="37446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after payment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769364"/>
            <a:ext cx="3744686" cy="1451610"/>
          </a:xfrm>
          <a:prstGeom prst="roundRect">
            <a:avLst>
              <a:gd name="adj" fmla="val 315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879092"/>
            <a:ext cx="3470366" cy="1268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graph.add_conditional_edges(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"process_payment",        # source node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route_after_payment,      # routing function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"approved": "ship_order",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"retry":    "process_payment",   # loop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"give_up":  "fail_order",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67646" y="1554480"/>
            <a:ext cx="347472" cy="34747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8" name="Image 0" descr="FaCircle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54514" y="1641348"/>
            <a:ext cx="173736" cy="17373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61422" y="1531620"/>
            <a:ext cx="362537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to ship_order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67646" y="2093976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Rotate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514" y="2180844"/>
            <a:ext cx="173736" cy="1737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61422" y="2071116"/>
            <a:ext cx="362537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back to process_payment – this is the cycle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567646" y="2633472"/>
            <a:ext cx="347472" cy="347472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4" name="Image 2" descr="FaCircleXmar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4514" y="2720340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061422" y="2610612"/>
            <a:ext cx="362537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give_up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at fail_order after too many attempts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567646" y="3442716"/>
            <a:ext cx="4119154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732238" y="3552444"/>
            <a:ext cx="3789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4732238" y="3771900"/>
            <a:ext cx="378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every loop an exit: an attempt counter, a quality threshold, or both.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session_5/5_2_langgraph_code_review.py, 5_3_order_processing_state_machine.py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the graph at a risky step so a person can approve, edit or reject before it continues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883920" y="151790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Rece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1080" y="165506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139696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evaluate_expense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377440"/>
            <a:ext cx="132892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assesses the claim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478280" y="1792224"/>
            <a:ext cx="76200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286000" y="151790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H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65506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895856" y="2139696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human_approval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895856" y="2377440"/>
            <a:ext cx="132892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interrupt(…) pauses here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880360" y="1792224"/>
            <a:ext cx="76200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88080" y="151790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la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240" y="165506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297936" y="2139696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297936" y="2377440"/>
            <a:ext cx="132892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invoke(Command(resume=decision))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3121152"/>
            <a:ext cx="420624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interrupt()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returns control to the caller with a payload to show the human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is saved by the checkpointer – a checkpointer is </a:t>
            </a:r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alternative: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interrupt_before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interrupt_after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named node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5029200" y="1517904"/>
            <a:ext cx="365760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it's needed:</a:t>
            </a:r>
            <a:pPr algn="l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loan approvals, large transfers, medical recommendations, legal documents, contract signing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029200" y="2500884"/>
            <a:ext cx="3657600" cy="1188720"/>
          </a:xfrm>
          <a:prstGeom prst="roundRect">
            <a:avLst>
              <a:gd name="adj" fmla="val 461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193792" y="2610612"/>
            <a:ext cx="3328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HITL SCREEN SHOWS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5193792" y="2830068"/>
            <a:ext cx="33284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AI's recommendation · supporting evidence and retrieved documents · a confidence score · a short reasoning summary · clear action buttons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6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session_5/5_4_human_approval_gate.py, 5_5_support_ticketing_agent_hitl.py, 5_6_…_memory_rag.py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Checkpointers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the graph's state so execution can continue later instead of starting over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36040"/>
            <a:ext cx="2657856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45491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532636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436624"/>
            <a:ext cx="199948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state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current field values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43072" y="1336040"/>
            <a:ext cx="2657856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361944" y="1454912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LocationCrosshai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668" y="1532636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82568" y="1436624"/>
            <a:ext cx="199948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node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execution stopped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028944" y="1336040"/>
            <a:ext cx="2657856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47816" y="1454912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540" y="1532636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568440" y="1436624"/>
            <a:ext cx="199948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history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so far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57200" y="2072132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76072" y="2191004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Hasht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" y="2268728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96696" y="2172716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ID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run this state belongs to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3243072" y="2072132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361944" y="2191004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Pau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9668" y="2268728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3782568" y="2172716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interrupts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human must answer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6028944" y="2072132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147816" y="2191004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List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5540" y="2268728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68440" y="2172716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Counters, flags, results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57200" y="3115564"/>
            <a:ext cx="4023360" cy="876808"/>
          </a:xfrm>
          <a:prstGeom prst="roundRect">
            <a:avLst>
              <a:gd name="adj" fmla="val 625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57200" y="3115564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594360" y="311556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persistence</a:t>
            </a:r>
            <a:endParaRPr lang="en-US" sz="1300" dirty="0"/>
          </a:p>
        </p:txBody>
      </p:sp>
      <p:sp>
        <p:nvSpPr>
          <p:cNvPr id="31" name="Text 23"/>
          <p:cNvSpPr txBox="1"/>
          <p:nvPr/>
        </p:nvSpPr>
        <p:spPr>
          <a:xfrm>
            <a:off x="594360" y="3627628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→ state → RAM → program ends → </a:t>
            </a:r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</a:t>
            </a:r>
            <a:endParaRPr lang="en-US" sz="1100" dirty="0"/>
          </a:p>
        </p:txBody>
      </p:sp>
      <p:sp>
        <p:nvSpPr>
          <p:cNvPr id="32" name="Shape 24"/>
          <p:cNvSpPr/>
          <p:nvPr/>
        </p:nvSpPr>
        <p:spPr>
          <a:xfrm>
            <a:off x="4663440" y="3115564"/>
            <a:ext cx="4023360" cy="876808"/>
          </a:xfrm>
          <a:prstGeom prst="roundRect">
            <a:avLst>
              <a:gd name="adj" fmla="val 625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4663440" y="3115564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4800600" y="311556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persistence</a:t>
            </a:r>
            <a:endParaRPr lang="en-US" sz="1300" dirty="0"/>
          </a:p>
        </p:txBody>
      </p:sp>
      <p:sp>
        <p:nvSpPr>
          <p:cNvPr id="35" name="Text 27"/>
          <p:cNvSpPr txBox="1"/>
          <p:nvPr/>
        </p:nvSpPr>
        <p:spPr>
          <a:xfrm>
            <a:off x="4800600" y="3627628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→ state → SQLite → program ends → </a:t>
            </a:r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4267708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Checkpointer ≠ memory.</a:t>
            </a:r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checkpointer answers "where was the agent?"; memory answers "what does the agent know?"</a:t>
            </a:r>
            <a:endParaRPr lang="en-US" sz="1150" dirty="0"/>
          </a:p>
        </p:txBody>
      </p:sp>
      <p:sp>
        <p:nvSpPr>
          <p:cNvPr id="37" name="Shape 2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0" name="Text 3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session_5/5_7_langgraph_memory.py, 5_8_sqlite_checkpointing_crash_recovery.py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Recovery with a SQLite Checkpointer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 transfer that crashes half-way, then resumes exactly where it stopped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40741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Pl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54457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02920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26695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thread_id = "transfer-1"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68173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40741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Min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54457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02920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debit_account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26695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 debited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68173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40741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FloppyDis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54457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02920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26695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to SQLite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68173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40741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0" name="Image 3" descr="FaBurs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544574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02920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credit_account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26695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crash on attempt 1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2858262"/>
            <a:ext cx="3678865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2 – resume from disk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3231642"/>
            <a:ext cx="367886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app.invoke(None, config)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None means "don't start fresh; resume this thread"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finds transfer-1 with debit_account already completed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runs only credit_account – the second attempt succeeds, and the debit is not repeated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4456105" y="2858262"/>
            <a:ext cx="42306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checkpoint holds for transfer-1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456105" y="3096006"/>
            <a:ext cx="4230695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4593265" y="3205734"/>
            <a:ext cx="3956375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"amount": 250.00,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"completed_steps": ["debit_account"]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next node to run: credit_account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session_5/5_8_sqlite_checkpointing_crash_recovery.py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the State Schema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 everything the agent needs while it works – each node reads it and adds to it</a:t>
            </a:r>
            <a:endParaRPr lang="en-US" sz="1350" dirty="0"/>
          </a:p>
        </p:txBody>
      </p:sp>
      <p:graphicFrame>
        <p:nvGraphicFramePr>
          <p:cNvPr id="8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41704"/>
          <a:ext cx="3574473" cy="914400"/>
        </p:xfrm>
        <a:graphic>
          <a:graphicData uri="http://schemas.openxmlformats.org/drawingml/2006/table">
            <a:tbl>
              <a:tblPr/>
              <a:tblGrid>
                <a:gridCol w="1390073"/>
                <a:gridCol w="2184400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 history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user_query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current request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retrieved_docs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found by retrieval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tool_results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Results returned by tools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 reasoning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final_answer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response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user_profile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Preferences and profile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the workflow 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397433" y="1441704"/>
            <a:ext cx="4289367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"Am I eligible for a ₹50 lakh home loan?"</a:t>
            </a:r>
            <a:pPr algn="l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the state fills up as the graph runs: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397433" y="228447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397433" y="22844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8" name="Text 5"/>
          <p:cNvSpPr txBox="1"/>
          <p:nvPr/>
        </p:nvSpPr>
        <p:spPr>
          <a:xfrm>
            <a:off x="4836345" y="2249424"/>
            <a:ext cx="3850455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messages, user_query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97433" y="272034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397433" y="27203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11" name="Text 8"/>
          <p:cNvSpPr txBox="1"/>
          <p:nvPr/>
        </p:nvSpPr>
        <p:spPr>
          <a:xfrm>
            <a:off x="4836345" y="2685288"/>
            <a:ext cx="3850455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retrieval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retrieved_docs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97433" y="3156204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397433" y="31562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4" name="Text 11"/>
          <p:cNvSpPr txBox="1"/>
          <p:nvPr/>
        </p:nvSpPr>
        <p:spPr>
          <a:xfrm>
            <a:off x="4836345" y="3121152"/>
            <a:ext cx="3850455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tool execution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tool_results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397433" y="359206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97433" y="35920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7" name="Text 14"/>
          <p:cNvSpPr txBox="1"/>
          <p:nvPr/>
        </p:nvSpPr>
        <p:spPr>
          <a:xfrm>
            <a:off x="4836345" y="3557016"/>
            <a:ext cx="3850455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reasoning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reasoning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397433" y="402793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397433" y="40279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" dirty="0"/>
          </a:p>
        </p:txBody>
      </p:sp>
      <p:sp>
        <p:nvSpPr>
          <p:cNvPr id="20" name="Text 17"/>
          <p:cNvSpPr txBox="1"/>
          <p:nvPr/>
        </p:nvSpPr>
        <p:spPr>
          <a:xfrm>
            <a:off x="4836345" y="3992880"/>
            <a:ext cx="3850455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final_answer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session_5/5_9_langgraph_reducer_return_policy.py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Subgraphs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graph inside a graph – split one huge workflow into smaller, reusable pieces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040636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36776"/>
            <a:ext cx="2040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medical_history (subgraph)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525268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735580" y="1636776"/>
            <a:ext cx="183261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35580" y="1636776"/>
            <a:ext cx="183261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lab_analysis (subgraph)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95622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805934" y="1636776"/>
            <a:ext cx="106984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5934" y="1636776"/>
            <a:ext cx="106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analyze_xray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03214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113526" y="1636776"/>
            <a:ext cx="86182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13526" y="1636776"/>
            <a:ext cx="8618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002780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213092" y="1636776"/>
            <a:ext cx="106984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13092" y="1636776"/>
            <a:ext cx="106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386584"/>
            <a:ext cx="822960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5_11, each subgraph has its own state and nodes – e.g. lab_analysis runs load_lab_results → flag_abnormal_results → summarize_labs – and is called from one node of the main graph.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179064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6072" y="329793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1" name="Image 0" descr="FaPuzzlePie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3375660"/>
            <a:ext cx="155448" cy="15544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996696" y="3279648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responsibility each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subgraph does one well-defined job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3243072" y="3179064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361944" y="329793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5" name="Image 1" descr="FaRecy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668" y="3375660"/>
            <a:ext cx="155448" cy="155448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3782568" y="3279648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the same subgraph into other graphs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6028944" y="3179064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147816" y="3297936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9" name="Image 2" descr="FaMagnifyingGl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540" y="3375660"/>
            <a:ext cx="155448" cy="15544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6568440" y="3279648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Easier to test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a piece without running everything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session_5/5_10_simple_subgraph_example.py, 5_11_medical_diagnosis_subgraphs.py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uardrails in AI ag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session_5/5_12_…_create_guardrails.py, 5_13_…_test_guardrails_flask.py, 5_14_…_bank_flask.py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Guardrails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that keep a model within limits: safe, on-topic, accurate and within policy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41882"/>
            <a:ext cx="2657856" cy="600456"/>
          </a:xfrm>
          <a:prstGeom prst="roundRect">
            <a:avLst>
              <a:gd name="adj" fmla="val 91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460754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B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538478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442466"/>
            <a:ext cx="199948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blocking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restricted words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43072" y="1341882"/>
            <a:ext cx="2657856" cy="600456"/>
          </a:xfrm>
          <a:prstGeom prst="roundRect">
            <a:avLst>
              <a:gd name="adj" fmla="val 91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361944" y="1460754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668" y="1538478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82568" y="1442466"/>
            <a:ext cx="199948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validation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length, no URLs or code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028944" y="1341882"/>
            <a:ext cx="2657856" cy="600456"/>
          </a:xfrm>
          <a:prstGeom prst="roundRect">
            <a:avLst>
              <a:gd name="adj" fmla="val 91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47816" y="1460754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List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540" y="1538478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568440" y="1442466"/>
            <a:ext cx="199948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Allow-listed topics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product questions, say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57200" y="2070354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76072" y="2189226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" y="2266950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96696" y="2170938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safety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similarity to harmful intent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3243072" y="2070354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361944" y="218922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Comme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9668" y="2266950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3782568" y="2170938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guardrails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"Use the context only"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6028944" y="2070354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147816" y="218922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Eras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5540" y="2266950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68440" y="2170938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filtering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sensitive data, profanity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57200" y="2951226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576072" y="3070098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0" name="Image 6" descr="FaScrewdriverWrench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796" y="3147822"/>
            <a:ext cx="155448" cy="15544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996696" y="3051810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Tool-use limits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web search for medical queries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3243072" y="2951226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3361944" y="3070098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34" name="Image 7" descr="FaGaugeHig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9668" y="3147822"/>
            <a:ext cx="155448" cy="155448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3782568" y="3051810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and abuse control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Throttling, authentication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6028944" y="2951226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6147816" y="3070098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8" name="Image 8" descr="FaBookOpe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25540" y="3147822"/>
            <a:ext cx="155448" cy="155448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568440" y="3051810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Retrieval-only answers with citations</a:t>
            </a:r>
            <a:endParaRPr lang="en-US" sz="1200" dirty="0"/>
          </a:p>
        </p:txBody>
      </p:sp>
      <p:sp>
        <p:nvSpPr>
          <p:cNvPr id="40" name="Text 29"/>
          <p:cNvSpPr txBox="1"/>
          <p:nvPr/>
        </p:nvSpPr>
        <p:spPr>
          <a:xfrm>
            <a:off x="457200" y="4101846"/>
            <a:ext cx="822960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demos build a semantic guardrail from a Hugging Face dataset (5_12), test it (5_13), then put it in front of the bank chatbot (5_14).</a:t>
            </a:r>
            <a:endParaRPr lang="en-US" sz="1100" dirty="0"/>
          </a:p>
        </p:txBody>
      </p:sp>
      <p:sp>
        <p:nvSpPr>
          <p:cNvPr id="41" name="Shape 3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2" name="Shape 3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4" name="Text 3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session_5/5_12_…_create_guardrails.py, 5_13_…_test_guardrails_flask.py, 5_14_…_bank_flask.py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to End: The Stateful Banking Chatbot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assistant grows feature by feature across these scripts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5_15  RAG chatbot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FAQs in ChromaDB, Flask UI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5_16  Notifications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ntfy.sh alerts and Gmail for escalations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ShieldHalv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5_14  Guardrails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questions never reach the LLM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Memo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5_17  STM + RAG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short-term memory first, then the vector DB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57200" y="3240024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21792" y="334975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621792" y="3569208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5_15 and ask a few banking questions; then 5_16 to see an escalation reach your phone (ntfy) and inbox; then 5_14 and try an off-topic or unsafe question.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9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session_5/5_15_…_chromadb_flask_chatbot.py, 5_16_…_ntfy_email_flask.py, 5_17_…_STM_RAG_chatbot.py</a:t>
            </a:r>
            <a:endParaRPr lang="en-US" sz="85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self-refining loop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→ evaluate → continue or stop, capped at 3 rounds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9842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842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5_4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gate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037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interrupt() and Command(resume=…) for expense claims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700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700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5_8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6426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recovery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8895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SQLite checkpointer resumes a half-done transfer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3558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5_11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3284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Subgraphs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5753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medical-diagnosis flow built from smaller graphs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0416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40416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5_14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0142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bank bot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611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guardrails in front of RAG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59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loop is a conditional edge pointing backwards – always add an exit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needs a checkpointer to pause and resume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thread_id is how you pick which saved run to continue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state fields before writing nodes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belong on input, output and tool use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6: Multi-Agent Orchestration with CrewAI</a:t>
            </a:r>
            <a:endParaRPr lang="en-US" sz="12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 ·  SAT 8-NOV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with CrewAI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of role-playing agents (crews) and the event-driven flows that control them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PeopleGro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crews from agents and tasks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roles, goals, backstories, tools and processes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25628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DiagramProje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35229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execution with Flows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@start, @listen, @router and shared state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83997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UserTi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293598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831592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 with managers and humans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crews, levels of autonomy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51510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ShieldHalve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61111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41528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crews reliable and observable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memory, structured output, guardrails, LangSmith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199476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concepts: agents, tasks, crews, process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7182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6987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crews for real tasks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4889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4693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vs Flow, and conditional routing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2595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2399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crews and manager agents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0301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0106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and controlled autonomy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38008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27812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and knowledge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65714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55518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outputs and agent-to-agent communication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393420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832250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Guardrails, error handling and reliability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5010912" y="421126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212080" y="410931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for crews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5010912" y="448833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212080" y="438637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crew application</a:t>
            </a:r>
            <a:endParaRPr lang="en-US" sz="115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CrewAI?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Python framework where AI agents with different roles collaborate on complex tasks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1933956" cy="2221992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116836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2020824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14600"/>
            <a:ext cx="16047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they do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they aim for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Backstory: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context that sharpens them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they can call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55748" y="1636776"/>
            <a:ext cx="1933956" cy="2221992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720340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720340" y="202082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List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116836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214116" y="2020824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2720340" y="2514600"/>
            <a:ext cx="16047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to do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format and content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who does it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"Extract customer names"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654296" y="1636776"/>
            <a:ext cx="1933956" cy="2221992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818888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818888" y="202082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UserTi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2116836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312664" y="2020824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4818888" y="2514600"/>
            <a:ext cx="16047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Delegates tasks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the agents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process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the results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752844" y="1636776"/>
            <a:ext cx="1933956" cy="2221992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917436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UTILITIES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6917436" y="2020824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5" name="Image 3" descr="FaScrewdriverWren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2116836"/>
            <a:ext cx="192024" cy="19202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411212" y="2020824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6917436" y="2514600"/>
            <a:ext cx="16047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readers, web search, APIs, databases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tools for your domain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session_6/6_1_crewai_basics.py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Basic Crew to an Advanced One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crew runs tasks in order; advanced applications also need orchestration, state and control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57886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1602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006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3840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85318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57886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ChartL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1602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006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3840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85318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57886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160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006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3840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85318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57886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0" name="Image 3" descr="FaUserTi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16024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006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3840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Orchestrates all three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57200" y="3029712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57200" y="3029712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1069086" y="3185160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1279398" y="3029712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1279398" y="3029712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1821942" y="3185160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2032254" y="3029712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2032254" y="3029712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57200" y="3450336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57200" y="3450336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1069086" y="360578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4" name="Shape 28"/>
          <p:cNvSpPr/>
          <p:nvPr/>
        </p:nvSpPr>
        <p:spPr>
          <a:xfrm>
            <a:off x="1279398" y="3450336"/>
            <a:ext cx="113919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1279398" y="3450336"/>
            <a:ext cx="1139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050" dirty="0"/>
          </a:p>
        </p:txBody>
      </p:sp>
      <p:sp>
        <p:nvSpPr>
          <p:cNvPr id="36" name="Shape 30"/>
          <p:cNvSpPr/>
          <p:nvPr/>
        </p:nvSpPr>
        <p:spPr>
          <a:xfrm>
            <a:off x="2446020" y="360578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7" name="Shape 31"/>
          <p:cNvSpPr/>
          <p:nvPr/>
        </p:nvSpPr>
        <p:spPr>
          <a:xfrm>
            <a:off x="2656332" y="3450336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2656332" y="3450336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3268218" y="360578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40" name="Shape 34"/>
          <p:cNvSpPr/>
          <p:nvPr/>
        </p:nvSpPr>
        <p:spPr>
          <a:xfrm>
            <a:off x="3478530" y="3450336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3478530" y="3450336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5458408" y="3029712"/>
            <a:ext cx="3228392" cy="1188720"/>
          </a:xfrm>
          <a:prstGeom prst="roundRect">
            <a:avLst>
              <a:gd name="adj" fmla="val 461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5623000" y="3139440"/>
            <a:ext cx="2899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CREWS MUST ANSWER</a:t>
            </a:r>
            <a:endParaRPr lang="en-US" sz="900" dirty="0"/>
          </a:p>
        </p:txBody>
      </p:sp>
      <p:sp>
        <p:nvSpPr>
          <p:cNvPr id="44" name="Text 38"/>
          <p:cNvSpPr txBox="1"/>
          <p:nvPr/>
        </p:nvSpPr>
        <p:spPr>
          <a:xfrm>
            <a:off x="5623000" y="3358896"/>
            <a:ext cx="2899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happen next? · Which agent should act? · What carries forward? · What if the result is poor? · Where should a human step in?</a:t>
            </a:r>
            <a:endParaRPr lang="en-US" sz="1200" dirty="0"/>
          </a:p>
        </p:txBody>
      </p:sp>
      <p:sp>
        <p:nvSpPr>
          <p:cNvPr id="45" name="Shape 3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8" name="Text 4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session_6/6_1_crewai_basics.py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ow context and memory work in Crew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session_6/6_2_crewai_document_generator.py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Examples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crews to run and adapt</a:t>
            </a:r>
            <a:endParaRPr lang="en-US" sz="1350" dirty="0"/>
          </a:p>
        </p:txBody>
      </p:sp>
      <p:graphicFrame>
        <p:nvGraphicFramePr>
          <p:cNvPr id="9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2150918"/>
                <a:gridCol w="4021282"/>
                <a:gridCol w="2057400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generator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Researches a technology and writes documentation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6_2_crewai_document_generator.py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analyser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Parses, analyses and summarises system logs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6_3_crewai_log_analyzer.py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bill analysis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Finds cost drivers in a GCP billing export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6_4_crewai_cloud_bill.py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analysis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data (marketaux.com key) with a Flask UI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6_5_crewai_stock_analysis_flask.py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reviewer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review, without and with agent 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6_11 vs 6_10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same crew traced in LangSmith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6_14_crewai_observability.py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service bot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search, then low → reply, medium → email, high → ntfy alert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6_15 (embeddings) → 6_16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session_6/6_2 … 6_5, 6_10/6_11, 6_14, 6_15 → 6_16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vs Flow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= who does the work.  Flow = how the application runs.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4023360" cy="1562608"/>
          </a:xfrm>
          <a:prstGeom prst="roundRect">
            <a:avLst>
              <a:gd name="adj" fmla="val 35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 of agents working together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collaboration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perform the tasks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multi-agent work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636776"/>
            <a:ext cx="4023360" cy="1562608"/>
          </a:xfrm>
          <a:prstGeom prst="roundRect">
            <a:avLst>
              <a:gd name="adj" fmla="val 35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the overall application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orchestration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what happens next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complex, branching workflows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638296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638296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69086" y="379374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79398" y="3638296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79398" y="3638296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099310" y="379374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309622" y="3638296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309622" y="3638296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29534" y="379374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339846" y="3638296"/>
            <a:ext cx="183261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39846" y="3638296"/>
            <a:ext cx="183261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→ Analyze → Report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199888" y="379374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410200" y="3638296"/>
            <a:ext cx="169392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10200" y="3638296"/>
            <a:ext cx="16939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→ Research again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session_6/6_6_crew_vs_flow.py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Building Blocks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decorators plus a shared state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21473"/>
            <a:ext cx="1961388" cy="928116"/>
          </a:xfrm>
          <a:prstGeom prst="roundRect">
            <a:avLst>
              <a:gd name="adj" fmla="val 59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740345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Pl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818069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722057"/>
            <a:ext cx="130302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@start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flow begins (there can be several)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46604" y="1621473"/>
            <a:ext cx="1961388" cy="928116"/>
          </a:xfrm>
          <a:prstGeom prst="roundRect">
            <a:avLst>
              <a:gd name="adj" fmla="val 59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665476" y="1740345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EarList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18069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6100" y="1722057"/>
            <a:ext cx="130302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@listen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when another step's output arrives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636008" y="1621473"/>
            <a:ext cx="1961388" cy="928116"/>
          </a:xfrm>
          <a:prstGeom prst="roundRect">
            <a:avLst>
              <a:gd name="adj" fmla="val 59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54880" y="1740345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CodeBran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604" y="1818069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75504" y="1722057"/>
            <a:ext cx="130302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@router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which path to take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725412" y="1621473"/>
            <a:ext cx="1961388" cy="928116"/>
          </a:xfrm>
          <a:prstGeom prst="roundRect">
            <a:avLst>
              <a:gd name="adj" fmla="val 59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844284" y="1740345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Databa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1818069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64908" y="1722057"/>
            <a:ext cx="130302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→ update → pass forward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457200" y="2988501"/>
            <a:ext cx="376645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on confidence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457200" y="3226245"/>
            <a:ext cx="3766457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94360" y="3335973"/>
            <a:ext cx="3492137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@router(fetch_snapshot)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route_on_confidence(self):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self.state.confidence &gt;= 0.8: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"good"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"retry"</a:t>
            </a:r>
            <a:endParaRPr lang="en-US" sz="950" dirty="0"/>
          </a:p>
        </p:txBody>
      </p:sp>
      <p:sp>
        <p:nvSpPr>
          <p:cNvPr id="23" name="Text 17"/>
          <p:cNvSpPr txBox="1"/>
          <p:nvPr/>
        </p:nvSpPr>
        <p:spPr>
          <a:xfrm>
            <a:off x="4543697" y="2988501"/>
            <a:ext cx="41431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Listeners subscribe to the route labels: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@listen("good")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@listen("retry")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 can converge again with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or_(…)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hard-coded sequence – the flow decides at run time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session_6/6_6_crew_vs_flow.py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Flow: Stock Research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a live snapshot, judge its quality, then analyse it with a crew – or explain why not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08418"/>
            <a:ext cx="436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6_6_crew_vs_flow.py (condensed)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546162"/>
            <a:ext cx="4368800" cy="2942717"/>
          </a:xfrm>
          <a:prstGeom prst="roundRect">
            <a:avLst>
              <a:gd name="adj" fmla="val 1554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55890"/>
            <a:ext cx="4094480" cy="2759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ResearchState(BaseModel):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ticker: str = "AAPL"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snapshot: str = ""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confidence: float = 0.0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report: str = ""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StockResearchFlow(Flow[ResearchState]):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@start()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fetch_snapshot(self): ...      # yfinance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@router(fetch_snapshot)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route_on_confidence(self): ... # good | retry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@listen("retry")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handle_low_confidence(self): ...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@listen("good")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analyze_with_crew(self): ...   # Crew.kickoff()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@listen(or_(handle_low_confidence,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analyze_with_crew))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finalize_report(self): ...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191760" y="135109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191760" y="135109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5630672" y="1308418"/>
            <a:ext cx="3056128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Pydantic model shared by every step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191760" y="190049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91760" y="19004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5630672" y="1777810"/>
            <a:ext cx="3056128" cy="537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@start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the stock snapshot; confidence = share of fields present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191760" y="2449894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91760" y="24498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5630672" y="2407222"/>
            <a:ext cx="3056128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@router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0.8 → "good", otherwise "retry"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191760" y="291928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91760" y="291928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8" name="Text 16"/>
          <p:cNvSpPr txBox="1"/>
          <p:nvPr/>
        </p:nvSpPr>
        <p:spPr>
          <a:xfrm>
            <a:off x="5630672" y="2876614"/>
            <a:ext cx="3056128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@listen("good")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equity-analyst crew writes the take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191760" y="338867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91760" y="338867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" dirty="0"/>
          </a:p>
        </p:txBody>
      </p:sp>
      <p:sp>
        <p:nvSpPr>
          <p:cNvPr id="21" name="Text 19"/>
          <p:cNvSpPr txBox="1"/>
          <p:nvPr/>
        </p:nvSpPr>
        <p:spPr>
          <a:xfrm>
            <a:off x="5630672" y="3346006"/>
            <a:ext cx="3056128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or_(…)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branches converge in finalize_report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session_6/6_6_crew_vs_flow.py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Crews and Manager Agents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a fixed researcher → analyst → writer chain, a manager decides who does what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 flipH="1">
            <a:off x="1056277" y="1837944"/>
            <a:ext cx="147247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528751" y="1837944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528751" y="1837944"/>
            <a:ext cx="147247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797231" y="1444752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52095" y="1444752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agent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56277" y="2478024"/>
            <a:ext cx="147247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528751" y="2478024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 flipH="1">
            <a:off x="2528751" y="2478024"/>
            <a:ext cx="147247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" y="2084832"/>
            <a:ext cx="1198154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2064" y="2084832"/>
            <a:ext cx="10884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929674" y="2084832"/>
            <a:ext cx="1198154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84538" y="2084832"/>
            <a:ext cx="10884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02149" y="2084832"/>
            <a:ext cx="1198154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57013" y="2084832"/>
            <a:ext cx="10884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797231" y="2724912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852095" y="2724912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output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920343" y="1444752"/>
            <a:ext cx="3766457" cy="1130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the overall objective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Delegates work to specialists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their results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what needs more work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the final output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3529584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1792" y="363931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ONLY WHEN NEEDED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" y="3858768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workflow is straightforward and not agentic, a sequential crew is simpler and cheaper than a manager agent.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session_6/6_7_hierarchical_crew.py</a:t>
            </a:r>
            <a:endParaRPr lang="en-US" sz="9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and Controlled Autonomy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how much the crew may do on its own</a:t>
            </a:r>
            <a:endParaRPr lang="en-US" sz="1350" dirty="0"/>
          </a:p>
        </p:txBody>
      </p:sp>
      <p:graphicFrame>
        <p:nvGraphicFramePr>
          <p:cNvPr id="10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4517525" cy="914400"/>
        </p:xfrm>
        <a:graphic>
          <a:graphicData uri="http://schemas.openxmlformats.org/drawingml/2006/table">
            <a:tbl>
              <a:tblPr/>
              <a:tblGrid>
                <a:gridCol w="1505842"/>
                <a:gridCol w="1417263"/>
                <a:gridCol w="1594421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behaviour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Human-in-the-loop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human approves each 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 a refund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Human-on-the-loop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human supervises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 automated decisions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Human-out-of-the-loop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autonomous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Automated classification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013643" y="2029968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6282123" y="1636776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336987" y="163677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013643" y="2670048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6282123" y="2276856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36987" y="227685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 flipH="1">
            <a:off x="6144963" y="3310128"/>
            <a:ext cx="86868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7013643" y="3310128"/>
            <a:ext cx="86868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282123" y="2916936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36987" y="291693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13443" y="3557016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68307" y="355701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→ Execute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150803" y="3557016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05667" y="355701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→ Revise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session_6/6_8_human_in_the_loop.py</a:t>
            </a:r>
            <a:endParaRPr lang="en-US" sz="9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Memory, Knowledge and Structured Output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agents know, what they remember – and how they hand results to each other reliably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743456"/>
            <a:ext cx="347472" cy="34747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" y="1830324"/>
            <a:ext cx="173736" cy="1737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50976" y="1636776"/>
            <a:ext cx="3101479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information do I need to know?" – documents given up front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450592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Mem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" y="2537460"/>
            <a:ext cx="173736" cy="1737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50976" y="2343912"/>
            <a:ext cx="3101479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do I remember from earlier work?" – retrieved when needed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3157728"/>
            <a:ext cx="347472" cy="34747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" y="3244596"/>
            <a:ext cx="173736" cy="1737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50976" y="3051048"/>
            <a:ext cx="3101479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state ≠ memory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 this run's temporary context; memory outlives it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372495" y="1636776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372495" y="1636776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984381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5194693" y="1636776"/>
            <a:ext cx="141655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194693" y="1636776"/>
            <a:ext cx="14165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6638683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6848995" y="1636776"/>
            <a:ext cx="1347216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848995" y="1636776"/>
            <a:ext cx="1347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schema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372495" y="2057400"/>
            <a:ext cx="93116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372495" y="2057400"/>
            <a:ext cx="9311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agent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4372495" y="2532888"/>
            <a:ext cx="43143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6_12_structured_outputs.py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4372495" y="2770632"/>
            <a:ext cx="4314305" cy="1091946"/>
          </a:xfrm>
          <a:prstGeom prst="roundRect">
            <a:avLst>
              <a:gd name="adj" fmla="val 418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4509655" y="2880360"/>
            <a:ext cx="4039985" cy="909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ResearchFinding(BaseModel):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company: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revenue_growth: float   # 0.12 = 12%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risk_level: str         # low | medium | high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confidence: float       # 0-1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evidence: list[str]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9" name="Text 2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session_6/6_9_memory_and_knowledge.py, 6_10 vs 6_11, 6_12_structured_outputs.py</a:t>
            </a:r>
            <a:endParaRPr lang="en-US" sz="9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Guardrails, Error Handling and Reliability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fail – plan for it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954780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agents fail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10156"/>
            <a:ext cx="3954780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incomplete information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the wrong tool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invalid output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stuck in a loop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 on a service that is down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732020" y="1636776"/>
            <a:ext cx="3954780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guardrail checks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732020" y="2010156"/>
            <a:ext cx="3954780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fields exist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contains evidence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is above a threshold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follows policy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is read-only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are within an allowed range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759708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3759708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138428" y="3915156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348740" y="3759708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48740" y="3759708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099310" y="3915156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309622" y="3759708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309622" y="3759708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060192" y="3915156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70504" y="3759708"/>
            <a:ext cx="1277874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70504" y="3759708"/>
            <a:ext cx="12778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/ policy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session_6/6_13_guardrails_and_reliability.py</a:t>
            </a:r>
            <a:endParaRPr lang="en-US" sz="9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with LangSmith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every agent step, prompt, tool call and token count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36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36776"/>
            <a:ext cx="33057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at smith.langchain.com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09473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9473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048256"/>
            <a:ext cx="3305774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tracing project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→ New → market-research-crew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55270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527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552700"/>
            <a:ext cx="33057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settings to .env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296418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964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64180"/>
            <a:ext cx="33057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crew and open the trace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67646" y="1636776"/>
            <a:ext cx="4119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67646" y="1874520"/>
            <a:ext cx="4119154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4806" y="1984248"/>
            <a:ext cx="3844834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LANGSMITH_TRACING="true"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LANGSMITH_ENDPOINT="https://api.smith.langchain.com"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LANGSMITH_API_KEY="your api key"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LANGSMITH_PROJECT="market-research-crew"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session_6/6_14_crewai_observability.py</a:t>
            </a:r>
            <a:endParaRPr lang="en-US" sz="9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crew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Agents, tasks and a crew that combines their work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242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42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6_6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967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Flow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04368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@start, @router and @listen around a stock-analysis crew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5100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5100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6_7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4825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crew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7294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manager agent delegating to specialists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0358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0358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6_12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0083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hand-offs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2552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outputs and guardrails between agents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5615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5615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6_16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5341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service bot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810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 plus priority-based escalation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crew is about who works; a flow is about what happens next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roles, goals and expected outputs make agents dependable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manager agent only when the work really needs judgement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structured data between agents, not free text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everything – multi-agent bugs are hard to see otherwise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7: Multi-Agent Systems with Microsoft AutoGen</a:t>
            </a:r>
            <a:endParaRPr lang="en-US" sz="12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 ·  SUN 14-NOV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Systems with Microsoft AutoGen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cooperate by talking to each other – in teams, group chats and graphs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48971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Ro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58572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AssistantAgents with tools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clients, messages, streaming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07340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Bo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16941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06502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agents sync and async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get structured, multimodal output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74853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284454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64871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 agents into teams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round-robin, selector and Magentic-One group chats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51510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DiagramProjec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61111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41528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the conversation as a graph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GraphFlow with parallel branches and joins; memory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200253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overview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9514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854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AssistantAgent and tools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8775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780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 vs asynchronous agents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8036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706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72968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63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messages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46557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/ group chats: round-robin, selector, magentic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75818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6484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GraphFlow (including parallel join)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405079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94106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15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at a Glance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open-source framework for agents that cooperate – fully asynchronous since v0.4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33472" cy="1792224"/>
          </a:xfrm>
          <a:prstGeom prst="roundRect">
            <a:avLst>
              <a:gd name="adj" fmla="val 3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36192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UI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1755648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WindowMaximiz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851660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1755648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Studio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249424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UI to prototype agents by drag and drop and watch them interact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demoing ideas or validating a workflow before coding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55264" y="1371600"/>
            <a:ext cx="2633472" cy="1792224"/>
          </a:xfrm>
          <a:prstGeom prst="roundRect">
            <a:avLst>
              <a:gd name="adj" fmla="val 3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19856" y="1536192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USE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19856" y="1755648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1851660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13632" y="1755648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AgentChat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419856" y="2249424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Python API for single- and multi-agent conversational apps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dialogue and turn-taking matter most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53328" y="1371600"/>
            <a:ext cx="2633472" cy="1792224"/>
          </a:xfrm>
          <a:prstGeom prst="roundRect">
            <a:avLst>
              <a:gd name="adj" fmla="val 3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17920" y="1536192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LEVEL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217920" y="1755648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Microchi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1851660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711696" y="1755648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249424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runtime: agents, messages, handlers at scale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many agents coordinate beyond simple chats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3602736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21792" y="3712464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SESSION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621792" y="3931920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demo uses AgentChat (packages autogen-agentchat and autogen-ext) with an OpenAI model client – 7_5 also uses Anthropic Claude.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8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session_7/7_1_autogen_basic.py</a:t>
            </a:r>
            <a:endParaRPr lang="en-US" sz="9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AutoGen Demos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concept per script, building up from a single agent to teams and graphs</a:t>
            </a:r>
            <a:endParaRPr lang="en-US" sz="1350" dirty="0"/>
          </a:p>
        </p:txBody>
      </p:sp>
      <p:graphicFrame>
        <p:nvGraphicFramePr>
          <p:cNvPr id="1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3954780" cy="914400"/>
        </p:xfrm>
        <a:graphic>
          <a:graphicData uri="http://schemas.openxmlformats.org/drawingml/2006/table">
            <a:tbl>
              <a:tblPr/>
              <a:tblGrid>
                <a:gridCol w="3064955"/>
                <a:gridCol w="889826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adds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AssistantAgent syntax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a live forex API as a tool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Sends a TextMessage instead of a plain task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agents, run one after the other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agents in parallel – Claude + Yahoo Finance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output (OpenAI models)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MultiModalMessage – text plus an image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32020" y="1636776"/>
          <a:ext cx="3954780" cy="914400"/>
        </p:xfrm>
        <a:graphic>
          <a:graphicData uri="http://schemas.openxmlformats.org/drawingml/2006/table">
            <a:tbl>
              <a:tblPr/>
              <a:tblGrid>
                <a:gridCol w="3064955"/>
                <a:gridCol w="889826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adds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Round-robin group chat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Selector group chat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Magentic-One group chat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Fact-check: "India never faced a recession in 30 years"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GraphFlow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GraphFlow with a parallel join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session_7/7_1_* … 7_14_*</a:t>
            </a:r>
            <a:endParaRPr lang="en-US" sz="9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AssistantAgent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LLM-backed agent that can call Python functions as tools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7_2_autogen_forex_api.py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57600" cy="1766316"/>
          </a:xfrm>
          <a:prstGeom prst="roundRect">
            <a:avLst>
              <a:gd name="adj" fmla="val 258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984248"/>
            <a:ext cx="3383280" cy="1583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= AssistantAgent(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name="forex_agent",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model_client=OpenAIChatCompletionClient(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model="gpt-4o-mini"),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tools=[get_forex_rate],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def main():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Console(agent.run_stream(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task="Current forex rate of USD to INR?"))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asyncio.run(main())</a:t>
            </a:r>
            <a:endParaRPr lang="en-US" sz="850" dirty="0"/>
          </a:p>
        </p:txBody>
      </p:sp>
      <p:graphicFrame>
        <p:nvGraphicFramePr>
          <p:cNvPr id="1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636776"/>
          <a:ext cx="4206240" cy="914400"/>
        </p:xfrm>
        <a:graphic>
          <a:graphicData uri="http://schemas.openxmlformats.org/drawingml/2006/table">
            <a:tbl>
              <a:tblPr/>
              <a:tblGrid>
                <a:gridCol w="1602377"/>
                <a:gridCol w="2603863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Identifies the agent among many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model_client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LLM backend that powers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tools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functions – converted to FunctionTools with a schema automatically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system_message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Role, tone and purpose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reflect_on_tool_use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Adds a self-check after tool calls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model_client_stream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Streams tokens as they arrive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session_7/7_2_autogen_forex_api.py, 7_3_autogen_forex_api_text_message.py</a:t>
            </a:r>
            <a:endParaRPr lang="en-US" sz="9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TextMessage Travels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user to the model and back, wrapped in message objects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TextMessage(content=…, source="User")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In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96312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agent.run_stream(task=text_message)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Right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96312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to_model_message() – automatic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Microchi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96312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client generates a reply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Repl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7393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96312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TextMessage(content="1 USD = 83.12 INR", source="forex_agent")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392424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21792" y="350215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BOTHER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621792" y="3721608"/>
            <a:ext cx="7900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objects carry who sent what – essential once several agents are talking in the same conversation.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session_7/7_3_autogen_forex_api_text_message.py</a:t>
            </a:r>
            <a:endParaRPr lang="en-US" sz="9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 vs Asynchronous Agents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 1 idea again, now with AutoGen agents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4023360" cy="2298954"/>
          </a:xfrm>
          <a:prstGeom prst="roundRect">
            <a:avLst>
              <a:gd name="adj" fmla="val 238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finishes before the next starts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 later steps need earlier outputs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to reason about; slower on I/O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2840736"/>
            <a:ext cx="3749040" cy="507492"/>
          </a:xfrm>
          <a:prstGeom prst="roundRect">
            <a:avLst>
              <a:gd name="adj" fmla="val 9009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950464"/>
            <a:ext cx="347472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 = await desc_agent.on_messages([...])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 = await context_agent.on_messages([...])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636776"/>
            <a:ext cx="4023360" cy="2298954"/>
          </a:xfrm>
          <a:prstGeom prst="roundRect">
            <a:avLst>
              <a:gd name="adj" fmla="val 238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agents run together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 tasks don't depend on each other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Faster; shared state is harder to manage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00600" y="2840736"/>
            <a:ext cx="3749040" cy="912114"/>
          </a:xfrm>
          <a:prstGeom prst="roundRect">
            <a:avLst>
              <a:gd name="adj" fmla="val 5013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37760" y="2950464"/>
            <a:ext cx="3474720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 = asyncio.create_task(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desc_agent.on_messages(...))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 = asyncio.create_task(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context_agent.on_messages(...))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desc, ctx = await asyncio.gather(t1, t2)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session_7/7_4_autogen_synchronous_agents.py, 7_5_autogen_asynchronous_agents.py</a:t>
            </a:r>
            <a:endParaRPr lang="en-US" sz="9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model return JSON that matches a schema, ready for the next step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FileLi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job postings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Unstructured description text (Kaggle LinkedIn jobs)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Ro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agent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each description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5" name="Image 2" descr="FaTable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schema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company_name, role, location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FileCo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out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Consistent, easy to parse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3240024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supported with OpenAI models. The schema guarantees the downstream code always gets the same keys.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session_7/7_6_autogen_structured_output.py</a:t>
            </a:r>
            <a:endParaRPr lang="en-US" sz="9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Teams: Agents Talking to Agents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speaks next is what distinguishes the team types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1933956" cy="1847088"/>
          </a:xfrm>
          <a:prstGeom prst="roundRect">
            <a:avLst>
              <a:gd name="adj" fmla="val 297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801368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ArrowsSp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897380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801368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295144"/>
            <a:ext cx="16047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take turns in a fixed order; everyone sees everything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Writer and Critic refine a post until the Critic says APPROVE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555748" y="1636776"/>
            <a:ext cx="1933956" cy="1847088"/>
          </a:xfrm>
          <a:prstGeom prst="roundRect">
            <a:avLst>
              <a:gd name="adj" fmla="val 297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20340" y="1801368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HandPo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1897380"/>
            <a:ext cx="192024" cy="1920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14116" y="1801368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20340" y="2295144"/>
            <a:ext cx="1604772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picks the next speaker after each message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Reviewer, Coder and Tester – whoever is needed next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654296" y="1636776"/>
            <a:ext cx="1933956" cy="1847088"/>
          </a:xfrm>
          <a:prstGeom prst="roundRect">
            <a:avLst>
              <a:gd name="adj" fmla="val 297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18888" y="1801368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WandMagic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897380"/>
            <a:ext cx="192024" cy="19202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312664" y="1801368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Magentic-One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818888" y="2295144"/>
            <a:ext cx="1604772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general-purpose team for open-ended tasks over web and files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analyse a PDF report or a web page end to end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752844" y="1636776"/>
            <a:ext cx="1933956" cy="1847088"/>
          </a:xfrm>
          <a:prstGeom prst="roundRect">
            <a:avLst>
              <a:gd name="adj" fmla="val 297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17436" y="1801368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1" name="Image 3" descr="FaRightLef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1897380"/>
            <a:ext cx="192024" cy="19202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11212" y="1801368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Swarm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917436" y="2295144"/>
            <a:ext cx="1604772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hand off control with HandoffMessage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DataCollector passes results to a DataAnalyzer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session_7/7_8_…_round_robin_group_chat.py, 7_9_…_selector_….py, 7_10_…_magentic_….py, 7_11_….py</a:t>
            </a:r>
            <a:endParaRPr lang="en-US" sz="9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GraphFlow: Conversations as a Directed Graph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LangGraph, for AutoGen teams – sequential, parallel and conditional paths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752600"/>
            <a:ext cx="329184" cy="329184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CircleD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1834896"/>
            <a:ext cx="164592" cy="1645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636776"/>
            <a:ext cx="3360532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are agents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 are the allowed transitions, optionally conditional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375916"/>
            <a:ext cx="329184" cy="329184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CodeBra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2458212"/>
            <a:ext cx="164592" cy="16459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32688" y="2343912"/>
            <a:ext cx="33605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Branches, loops, joins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 out to parallel agents, then join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915412"/>
            <a:ext cx="329184" cy="329184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FlagChecker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" y="2997708"/>
            <a:ext cx="164592" cy="1645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32688" y="2883408"/>
            <a:ext cx="33605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termination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turns, a stop signal, or graph completion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454908"/>
            <a:ext cx="329184" cy="329184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4" name="Image 3" descr="FaTriangleExclam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" y="3537204"/>
            <a:ext cx="164592" cy="16459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32688" y="3422904"/>
            <a:ext cx="33605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experimental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API changes; design termination carefully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4658980" y="1636776"/>
            <a:ext cx="40278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7_13: two editors in parallel, one reviewer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4658980" y="1874520"/>
            <a:ext cx="4027820" cy="1511554"/>
          </a:xfrm>
          <a:prstGeom prst="roundRect">
            <a:avLst>
              <a:gd name="adj" fmla="val 302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796140" y="1984248"/>
            <a:ext cx="3753500" cy="1328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 = DiGraphBuilder()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builder.add_node(writer).add_node(editor1) \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.add_node(editor2).add_node(final_reviewer)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builder.add_edge("writer", "editor1")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builder.add_edge("writer", "editor2")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builder.add_edge("editor1", "final_reviewer")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builder.add_edge("editor2", "final_reviewer")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= GraphFlow(participants=builder.get_participants(),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graph=builder.build())</a:t>
            </a:r>
            <a:endParaRPr lang="en-US" sz="850" dirty="0"/>
          </a:p>
        </p:txBody>
      </p:sp>
      <p:sp>
        <p:nvSpPr>
          <p:cNvPr id="19" name="Shape 1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1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session_7/7_12_autogen_graphflow.py, 7_13_autogen_graphflow_parallel_join.py</a:t>
            </a:r>
            <a:endParaRPr lang="en-US" sz="9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in AutoGen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facts and inject the relevant ones into the agent's context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7446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7_14_autogen_memory.py (condensed)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744686" cy="1638935"/>
          </a:xfrm>
          <a:prstGeom prst="roundRect">
            <a:avLst>
              <a:gd name="adj" fmla="val 279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984248"/>
            <a:ext cx="3470366" cy="1456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user_memory = ListMemory()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assistant_agent = AssistantAgent(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name="multilingual_assistant",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model_client=client,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memory=[user_memory],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 = input("Preferred language? ")   # e.g. Hindi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user_memory.add(MemoryContent(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content=f"The user prefers replies in {lang}.",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mime_type=MemoryMimeType.TEXT))</a:t>
            </a:r>
            <a:endParaRPr lang="en-US" sz="850" dirty="0"/>
          </a:p>
        </p:txBody>
      </p:sp>
      <p:graphicFrame>
        <p:nvGraphicFramePr>
          <p:cNvPr id="1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67646" y="1636776"/>
          <a:ext cx="4119154" cy="914400"/>
        </p:xfrm>
        <a:graphic>
          <a:graphicData uri="http://schemas.openxmlformats.org/drawingml/2006/table">
            <a:tbl>
              <a:tblPr/>
              <a:tblGrid>
                <a:gridCol w="1441704"/>
                <a:gridCol w="2677450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a fact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query()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 relevant facts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update_context()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Inject them into the agent's context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clear()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/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close()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fresh / release resources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chronological list – demos, small tasks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search in a vector DB – RAG-style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session_7/7_14_autogen_memory.py</a:t>
            </a:r>
            <a:endParaRPr lang="en-US" sz="9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7_2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tool-using agent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AssistantAgent calling a live forex API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242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42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7_5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967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agents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0436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and Yahoo Finance agents run concurrently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3500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500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7_6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3225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extraction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694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postings → JSON via a Pydantic schema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8757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8757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7_8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8483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chats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0952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Round-robin, selector and Magentic-One teams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0156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40156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7_13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37413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GraphFlow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62102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editors joined by a final reviewer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models collaboration as conversation between agents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async – use it to run independent agents together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type = the rule for who speaks next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GraphFlow brings explicit, graph-shaped control to teams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is just context the framework injects for you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8: Agentic RAG and GraphRAG for Agents</a:t>
            </a:r>
            <a:endParaRPr lang="en-US" sz="12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  ·  SAT 15-NOV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and GraphRAG for Agents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simple retrieve-then-generate is not enough: smarter retrieval, self-checking, graphs – and how to measure it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TriangleExclam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why RAG fails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retrieval, noise, hallucination, fragmentation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25628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Ro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35229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an agent drive retrieval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strategies, Self-RAG, corrective RAG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93141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RankingSt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02742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83159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what reaches the LLM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and hybrid keyword + semantic search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0654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CircleNod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0255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facts and measure quality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GraphRAG, multi-hop reasoning, RAGAS metrics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199476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failure modes and advanced approaches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7182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6987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RAG vs agentic RAG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4889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4693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+ reasoning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2595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2399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0301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0106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Corrective RAG (CRAG)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38008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27812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Re-ranking retrieved chunks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65714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55518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393420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832250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5010912" y="421126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212080" y="410931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reasoning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5010912" y="448833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212080" y="438637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RAG with RAGAS</a:t>
            </a:r>
            <a:endParaRPr lang="en-US" sz="115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RAG Fails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failure modes to recognise before reaching for a fix</a:t>
            </a:r>
            <a:endParaRPr lang="en-US" sz="1350" dirty="0"/>
          </a:p>
        </p:txBody>
      </p:sp>
      <p:graphicFrame>
        <p:nvGraphicFramePr>
          <p:cNvPr id="1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1403873"/>
                <a:gridCol w="2226833"/>
                <a:gridCol w="2275242"/>
                <a:gridCol w="2323652"/>
              </a:tblGrid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 causes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Missed retrieval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answer is in the knowledge base but isn't retrieved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 query wording, weak embeddings, top-k too small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has the ATM withdrawal limit; unrelated card-security chunks come back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Irrelevant context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Retrieved chunks aren't relevant enough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retrieval precision, too much top-k, no reranking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Refund question; shipping and warranty chunks retrieved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Hallucination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LLM states facts the context doesn't support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information, model assumptions, overconfidence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Context: refunds in 5 business days. LLM: "…and you'll receive an email confirmation"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in the middle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right chunk is retrieved but buried among others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much context, poor ordering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key clause sits at position 7 of 10 and is ignored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Fragmentation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answer is split across chunks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fixed-size chunking, no overlap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rule and its exception land in different chunks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session_8/8_1_rag_hallucination_eval.py</a:t>
            </a:r>
            <a:endParaRPr lang="en-US" sz="9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Advanced-RAG Toolbox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techniques this session covers – each targets a specific weakness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97508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51638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Ro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594104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498092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decides what, how and when to retrieve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46604" y="1397508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665476" y="1516380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Rotate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594104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6100" y="1498092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evidence; retrieves again if weak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636008" y="1397508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54880" y="1516380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Glo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604" y="1594104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75504" y="1498092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Corrective RAG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back to web search when local fails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725412" y="1397508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844284" y="1516380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RankingSt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1594104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64908" y="1498092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stronger model re-orders the chunks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2430780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76072" y="254965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Light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" y="2627376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96696" y="2531364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a hypothetical answer, search with it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2546604" y="2430780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2665476" y="2549652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Clo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0" y="2627376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3086100" y="2531364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expansion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rewrites of the question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636008" y="2430780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754880" y="2549652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0" name="Image 6" descr="FaCircleNod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32604" y="2627376"/>
            <a:ext cx="155448" cy="15544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175504" y="2531364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 and relationships as a graph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6725412" y="2430780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844284" y="2549652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34" name="Image 7" descr="FaShuffl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2008" y="2627376"/>
            <a:ext cx="155448" cy="155448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264908" y="2531364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RAG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keyword, vector and graph search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457200" y="3464052"/>
            <a:ext cx="1961388" cy="935736"/>
          </a:xfrm>
          <a:prstGeom prst="roundRect">
            <a:avLst>
              <a:gd name="adj" fmla="val 586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576072" y="3582924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8" name="Image 8" descr="FaStair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796" y="3660648"/>
            <a:ext cx="155448" cy="155448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996696" y="3564636"/>
            <a:ext cx="1303020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several facts to one answer</a:t>
            </a:r>
            <a:endParaRPr lang="en-US" sz="1200" dirty="0"/>
          </a:p>
        </p:txBody>
      </p:sp>
      <p:sp>
        <p:nvSpPr>
          <p:cNvPr id="40" name="Shape 29"/>
          <p:cNvSpPr/>
          <p:nvPr/>
        </p:nvSpPr>
        <p:spPr>
          <a:xfrm>
            <a:off x="2546604" y="3464052"/>
            <a:ext cx="1961388" cy="935736"/>
          </a:xfrm>
          <a:prstGeom prst="roundRect">
            <a:avLst>
              <a:gd name="adj" fmla="val 586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2665476" y="3582924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42" name="Image 9" descr="FaBrai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0" y="3660648"/>
            <a:ext cx="155448" cy="155448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3086100" y="3564636"/>
            <a:ext cx="1303020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+ reasoning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and decide on retrieved facts</a:t>
            </a:r>
            <a:endParaRPr lang="en-US" sz="1200" dirty="0"/>
          </a:p>
        </p:txBody>
      </p:sp>
      <p:sp>
        <p:nvSpPr>
          <p:cNvPr id="44" name="Shape 32"/>
          <p:cNvSpPr/>
          <p:nvPr/>
        </p:nvSpPr>
        <p:spPr>
          <a:xfrm>
            <a:off x="4636008" y="3464052"/>
            <a:ext cx="1961388" cy="935736"/>
          </a:xfrm>
          <a:prstGeom prst="roundRect">
            <a:avLst>
              <a:gd name="adj" fmla="val 586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5" name="Shape 33"/>
          <p:cNvSpPr/>
          <p:nvPr/>
        </p:nvSpPr>
        <p:spPr>
          <a:xfrm>
            <a:off x="4754880" y="3582924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46" name="Image 10" descr="FaGaugeHigh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32604" y="3660648"/>
            <a:ext cx="155448" cy="155448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5175504" y="3564636"/>
            <a:ext cx="1303020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retrieval and answer quality</a:t>
            </a:r>
            <a:endParaRPr lang="en-US" sz="1200" dirty="0"/>
          </a:p>
        </p:txBody>
      </p:sp>
      <p:sp>
        <p:nvSpPr>
          <p:cNvPr id="48" name="Shape 35"/>
          <p:cNvSpPr/>
          <p:nvPr/>
        </p:nvSpPr>
        <p:spPr>
          <a:xfrm>
            <a:off x="6725412" y="3464052"/>
            <a:ext cx="1961388" cy="935736"/>
          </a:xfrm>
          <a:prstGeom prst="roundRect">
            <a:avLst>
              <a:gd name="adj" fmla="val 586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9" name="Shape 36"/>
          <p:cNvSpPr/>
          <p:nvPr/>
        </p:nvSpPr>
        <p:spPr>
          <a:xfrm>
            <a:off x="6844284" y="3582924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50" name="Image 11" descr="FaShieldHalved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22008" y="3660648"/>
            <a:ext cx="155448" cy="155448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7264908" y="3564636"/>
            <a:ext cx="1303020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checks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backed by context</a:t>
            </a:r>
            <a:endParaRPr lang="en-US" sz="1200" dirty="0"/>
          </a:p>
        </p:txBody>
      </p:sp>
      <p:sp>
        <p:nvSpPr>
          <p:cNvPr id="52" name="Shape 3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3" name="Shape 3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4" name="Text 4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55" name="Text 4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session_8/8_1_rag_hallucination_eval.py</a:t>
            </a:r>
            <a:endParaRPr lang="en-US" sz="9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RAG vs Agentic RAG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 pipeline vs an agent that plans its retrieval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4023360" cy="2014728"/>
          </a:xfrm>
          <a:prstGeom prst="roundRect">
            <a:avLst>
              <a:gd name="adj" fmla="val 27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RAG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retrieval pipeline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once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LLM call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planning; follows a predefined sequence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architecture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straightforward Q&amp;A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636776"/>
            <a:ext cx="4023360" cy="2014728"/>
          </a:xfrm>
          <a:prstGeom prst="roundRect">
            <a:avLst>
              <a:gd name="adj" fmla="val 27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Intelligent, dynamic workflow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as many times as needed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reasoning steps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Plans, then chooses the best path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agent architecture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complex problem solving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session_8/8_3_…_vs_agentic_rag.py, 8_4_…_serp.py, 8_5_…_traditional_rag.py vs 8_6_…_agentic_rag.py</a:t>
            </a:r>
            <a:endParaRPr lang="en-US" sz="85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raditional RAG vs agentic RAG f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session_8/8_3_traditional_vs_agentic_rag.py</a:t>
            </a:r>
            <a:endParaRPr lang="en-US" sz="9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Retrieval Strategies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 system picks how to retrieve – including not retrieving at all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755648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ForwardFa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833372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737360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retrieval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directly when existing knowledge is enough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43072" y="1636776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361944" y="1755648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Magnifying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668" y="1833372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82568" y="1737360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retrieval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once for simple factual questions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028944" y="1636776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47816" y="1755648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Rot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540" y="1833372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568440" y="1737360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retrieval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more when the first pass isn't enough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57200" y="2532888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76072" y="2651760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PenToSqua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" y="2729484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96696" y="2633472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reformulation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question for better search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3243072" y="2532888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361944" y="265176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LayerGro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9668" y="2729484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3782568" y="2633472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vector DB, SQL, APIs and web search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6028944" y="2532888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147816" y="2651760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ScrewdriverWrenc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5540" y="2729484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68440" y="2633472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Tool-based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right tool for the request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session_8/8_7_adaptive_retrieval_strategies.py, 8_8_adaptive_retrieval_strategies_serp.py</a:t>
            </a:r>
            <a:endParaRPr lang="en-US" sz="9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+ Reasoning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supplies the facts; reasoning uses them to solve the user's problem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501648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611376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830832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"Can I get a ₹50 lakh home loan? My salary is ₹18 lakh a year, I already have a car loan, and my credit score is 760."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763520"/>
            <a:ext cx="4023360" cy="1532128"/>
          </a:xfrm>
          <a:prstGeom prst="roundRect">
            <a:avLst>
              <a:gd name="adj" fmla="val 358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763520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7635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finds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275584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eligibility policy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interest rates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profile and existing loans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Credit-score rules, RBI lending rules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763520"/>
            <a:ext cx="4023360" cy="1532128"/>
          </a:xfrm>
          <a:prstGeom prst="roundRect">
            <a:avLst>
              <a:gd name="adj" fmla="val 358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763520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7635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does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3275584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Calculates the debt-to-income ratio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credit-score eligibility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the policy rules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out the maximum amount and suitable options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session_8/8_9_loan_eligibility_rag_reasoning.py</a:t>
            </a:r>
            <a:endParaRPr lang="en-US" sz="9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Cohere RAG Pipeline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Embed, rerank and generate – with grounding built into the chat endpoint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55448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embed()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26700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→ 1536-dim vectors (embed-v4.0)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148840" y="1911096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RankingSt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36976" y="225856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rerank()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3236976" y="2496312"/>
            <a:ext cx="26700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324 FAQs → the top 3 for the query (rerank-v3.5)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892040" y="1911096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0408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980176" y="225856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chat()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5980176" y="2496312"/>
            <a:ext cx="26700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with the reranked FAQs passed as documents=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57200" y="3240024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21792" y="334975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621792" y="3569208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"How do I get my money back for an order?" – reranking correctly surfaces the three refund FAQs. Cohere's chat endpoint grounds the answer itself; with OpenAI you build that prompt yourself.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4" name="Text 1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session_8/8_10_cohere_rag_pipeline.py</a:t>
            </a:r>
            <a:endParaRPr lang="en-US" sz="9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Self-RAG: Don't Trust the First Retrieval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→ check → retrieve or generate again if needed → answer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1696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5412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387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76500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for a cashless health claim?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89128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1696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Magnifying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5412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387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76500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chunks from the policy DB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89128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1696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5" name="Image 2" descr="FaScaleBalanc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541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387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76500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Sufficient and relevant? One chunk is off-topic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89128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1696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0" name="Image 3" descr="FaFileLin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54124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387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76500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form, original bills, discharge summary, prescription, diagnostic reports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 flipH="1">
            <a:off x="1485900" y="3299460"/>
            <a:ext cx="617220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24" name="Text 18"/>
          <p:cNvSpPr txBox="1"/>
          <p:nvPr/>
        </p:nvSpPr>
        <p:spPr>
          <a:xfrm>
            <a:off x="1485900" y="3080004"/>
            <a:ext cx="6172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insufficient → retrieve again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457200" y="3811524"/>
            <a:ext cx="8229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RAG trusts whatever comes back. Self-RAG grades its own evidence and searches again – here, specifically for cashless-claim documents.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9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session_8/8_11_self_rag.py</a:t>
            </a:r>
            <a:endParaRPr lang="en-US" sz="9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Corrective RAG (CRAG)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local knowledge fails, fall back to the web instead of guessing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2572547" y="1618488"/>
            <a:ext cx="914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1658147" y="1225296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13011" y="1225296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72547" y="2368296"/>
            <a:ext cx="914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658147" y="1975104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13011" y="1975104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from the vector DB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 flipH="1">
            <a:off x="1520987" y="3118104"/>
            <a:ext cx="105156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572547" y="3118104"/>
            <a:ext cx="105156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682275" y="3145536"/>
            <a:ext cx="20056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658147" y="2724912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713011" y="2724912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the chunks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20987" y="3867912"/>
            <a:ext cx="105156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H="1">
            <a:off x="2572547" y="3867912"/>
            <a:ext cx="105156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06587" y="34747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1451" y="3474720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→ use them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09707" y="34747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64571" y="3474720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→ web search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658147" y="4224528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713011" y="4224528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the answer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007935" y="1225296"/>
            <a:ext cx="3678865" cy="143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RAG answers from whatever it retrieved – even the wrong thing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CRAG grades the retrieved chunks first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or missing evidence triggers a web search instead of a guess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comes from the best evidence available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07935" y="2819908"/>
            <a:ext cx="3678865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72527" y="2929636"/>
            <a:ext cx="33496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 VS CRAG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172527" y="3149092"/>
            <a:ext cx="334968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 retries the same knowledge base; CRAG reaches for a different source.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session_8/8_12_corrective_rag.py</a:t>
            </a:r>
            <a:endParaRPr lang="en-US" sz="9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Retrieved Chunks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similar chunk is not always the most relevant one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16964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16964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069086" y="177241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279398" y="1616964"/>
            <a:ext cx="113919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79398" y="1616964"/>
            <a:ext cx="1139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46020" y="177241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656332" y="1616964"/>
            <a:ext cx="113919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56332" y="1616964"/>
            <a:ext cx="1139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20 chunks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822954" y="177241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033266" y="1616964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33266" y="1616964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Reranker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853178" y="177241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063490" y="1616964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63490" y="1616964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3–5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83402" y="177241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093714" y="1616964"/>
            <a:ext cx="44577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93714" y="1616964"/>
            <a:ext cx="4457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050" dirty="0"/>
          </a:p>
        </p:txBody>
      </p:sp>
      <p:graphicFrame>
        <p:nvGraphicFramePr>
          <p:cNvPr id="1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66772"/>
          <a:ext cx="8229600" cy="914400"/>
        </p:xfrm>
        <a:graphic>
          <a:graphicData uri="http://schemas.openxmlformats.org/drawingml/2006/table">
            <a:tbl>
              <a:tblPr/>
              <a:tblGrid>
                <a:gridCol w="5108028"/>
                <a:gridCol w="1560786"/>
                <a:gridCol w="1560786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"Documents for a cashless health insurance claim?"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score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Reranked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– Submit the claim form, original bills and discharge summary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 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– Premiums must be paid within the grace period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 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– Required documents include prescription and diagnostic reports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 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457200" y="3811524"/>
            <a:ext cx="8229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cross-encoder reranker reads the query and each chunk together. B was only "about health insurance"; A and C go to the LLM.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6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session_8/8_13_cohere_reranking.py</a:t>
            </a:r>
            <a:endParaRPr lang="en-US" sz="9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methods so each one covers the other's blind spot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954780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+ semantic (8_14)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2010156"/>
            <a:ext cx="1885950" cy="1262888"/>
          </a:xfrm>
          <a:prstGeom prst="roundRect">
            <a:avLst>
              <a:gd name="adj" fmla="val 43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010156"/>
            <a:ext cx="188595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10156"/>
            <a:ext cx="16116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522220"/>
            <a:ext cx="161163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words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codes, names, acronyms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26030" y="2010156"/>
            <a:ext cx="1885950" cy="1262888"/>
          </a:xfrm>
          <a:prstGeom prst="roundRect">
            <a:avLst>
              <a:gd name="adj" fmla="val 43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26030" y="2010156"/>
            <a:ext cx="188595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63190" y="2010156"/>
            <a:ext cx="16116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663190" y="2522220"/>
            <a:ext cx="161163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Paraphrases, natural language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732020" y="1636776"/>
            <a:ext cx="3954780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+ graph (8_15)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732020" y="2010156"/>
            <a:ext cx="395478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Savings Account Plus card was used fraudulently – am I covered, and how long will it take?"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732020" y="2528316"/>
            <a:ext cx="395478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</a:t>
            </a:r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finds the fraud-protection FAQ and the Zero Liability page</a:t>
            </a:r>
            <a:endParaRPr lang="en-US" sz="10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</a:t>
            </a:r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chains Savings Account Plus → Zero Liability → 60-day window → Fraud Resolution → 5 business days</a:t>
            </a:r>
            <a:endParaRPr lang="en-US" sz="10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both pools, then rerank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session_8/8_14_hybrid_search.py, 8_15_agentic_hybrid_search.py</a:t>
            </a:r>
            <a:endParaRPr lang="en-US" sz="9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GraphRAG: Connecting Facts Across Documents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entities and relationships into a knowledge graph instead of treating chunks as isolated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1673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separate policy documents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06806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0680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956816"/>
            <a:ext cx="321868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terms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Account Plus customers are enrolled in Zero Liability Protection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65633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6563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545080"/>
            <a:ext cx="321868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rules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covers unauthorised transactions reported within 60 days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24459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2445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133344"/>
            <a:ext cx="321868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policy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go to the Fraud Resolution team; turnaround 5 business days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131673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facts as a graph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83680" y="2258568"/>
            <a:ext cx="914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6693408" y="2286000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enrols customers in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23560" y="1865376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78424" y="1865376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Account Plus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flipH="1">
            <a:off x="5486400" y="3008376"/>
            <a:ext cx="109728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583680" y="3008376"/>
            <a:ext cx="109728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693408" y="3035808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(60 days) · processed by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623560" y="2615184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78424" y="2615184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Liability Protection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0" y="3758184"/>
            <a:ext cx="109728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6583680" y="3758184"/>
            <a:ext cx="109728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693408" y="3785616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turnaround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26280" y="3364992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81144" y="3364992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Unauthorised transactions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720840" y="3364992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75704" y="3364992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Resolution team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23560" y="4114800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78424" y="411480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business days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session_8/8_16_graph_rag.py</a:t>
            </a:r>
            <a:endParaRPr lang="en-US" sz="9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Reasoning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several relationships to reach an answer no single chunk contains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434465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44193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63649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 a Savings Account Plus customer covered for fraud reported 3 weeks ago, and how long will resolution take?"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05840" y="263118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8" name="Image 0" descr="FaBuildingColum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768346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93776" y="325297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Account Plus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93776" y="349072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enrols in →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1600200" y="290550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651760" y="263118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ShieldHalv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2768346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139696" y="325297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Liability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2139696" y="349072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→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3246120" y="290550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4297680" y="263118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8" name="Image 2" descr="FaCalendar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2768346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785616" y="325297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60 days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3785616" y="349072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weeks ✓ inside the window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892040" y="290550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5943600" y="263118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3" name="Image 3" descr="FaUserShiel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2768346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431536" y="325297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Resolution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5431536" y="349072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turnaround →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6537960" y="290550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7" name="Shape 21"/>
          <p:cNvSpPr/>
          <p:nvPr/>
        </p:nvSpPr>
        <p:spPr>
          <a:xfrm>
            <a:off x="7589520" y="263118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8" name="Image 4" descr="Fa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2768346"/>
            <a:ext cx="274320" cy="27432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077456" y="325297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business days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7077456" y="349072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</a:t>
            </a:r>
            <a:endParaRPr lang="en-US" sz="1000" dirty="0"/>
          </a:p>
        </p:txBody>
      </p:sp>
      <p:sp>
        <p:nvSpPr>
          <p:cNvPr id="31" name="Text 24"/>
          <p:cNvSpPr txBox="1"/>
          <p:nvPr/>
        </p:nvSpPr>
        <p:spPr>
          <a:xfrm>
            <a:off x="457200" y="4169283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facts from three documents, plus a condition applied to this customer's situation.</a:t>
            </a:r>
            <a:endParaRPr lang="en-US" sz="1150" dirty="0"/>
          </a:p>
        </p:txBody>
      </p:sp>
      <p:sp>
        <p:nvSpPr>
          <p:cNvPr id="32" name="Shape 2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5" name="Text 2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session_8/8_17_multi_hop_reasoning.py</a:t>
            </a:r>
            <a:endParaRPr lang="en-US" sz="9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RAG with RAGAS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 Assessment – scores retrieval and generation, no manual labelling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1933956" cy="1834896"/>
          </a:xfrm>
          <a:prstGeom prst="roundRect">
            <a:avLst>
              <a:gd name="adj" fmla="val 299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Bulls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116836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2020824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14600"/>
            <a:ext cx="16047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LLM make things up?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must be backed by the context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55748" y="1636776"/>
            <a:ext cx="1933956" cy="1834896"/>
          </a:xfrm>
          <a:prstGeom prst="roundRect">
            <a:avLst>
              <a:gd name="adj" fmla="val 299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720340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720340" y="202082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116836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214116" y="2020824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relevancy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2720340" y="2557272"/>
            <a:ext cx="16047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LLM answer the question that was asked?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654296" y="1636776"/>
            <a:ext cx="1933956" cy="1834896"/>
          </a:xfrm>
          <a:prstGeom prst="roundRect">
            <a:avLst>
              <a:gd name="adj" fmla="val 299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818888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USEFULNESS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818888" y="202082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Fil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2116836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312664" y="2020824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precision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4818888" y="2557272"/>
            <a:ext cx="16047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most of what we retrieved actually useful?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752844" y="1636776"/>
            <a:ext cx="1933956" cy="1834896"/>
          </a:xfrm>
          <a:prstGeom prst="roundRect">
            <a:avLst>
              <a:gd name="adj" fmla="val 299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917436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6917436" y="2020824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5" name="Image 3" descr="FaList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2116836"/>
            <a:ext cx="192024" cy="19202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411212" y="2020824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recall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6917436" y="2557272"/>
            <a:ext cx="16047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we retrieve everything the answer needed?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session_8/8_18_ragas_evaluation.py, 8_19_ragas_evaluation_customer_support.py</a:t>
            </a:r>
            <a:endParaRPr lang="en-US" sz="9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AGAS evaluation of a RAG pipe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138" y="164592"/>
            <a:ext cx="7863723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session_8/8_18_ragas_evaluation.py, 8_19_ragas_evaluation_customer_support.py</a:t>
            </a:r>
            <a:endParaRPr lang="en-US" sz="9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Metrics, Worked Through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cashless-claim question, scored four ways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1933956" cy="1944624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801368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Bulls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897380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801368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 0.67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337816"/>
            <a:ext cx="1604772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makes 3 claims; the context backs 2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"Intimate within </a:t>
            </a:r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hours" – the context says 24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2 / 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555748" y="1636776"/>
            <a:ext cx="1933956" cy="1944624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20340" y="1801368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1897380"/>
            <a:ext cx="192024" cy="1920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14116" y="1801368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Relevancy 0.95 vs 0.30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20340" y="2337816"/>
            <a:ext cx="160477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are guessed back from the answer and compared with the original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On-topic answer → 0.95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about waiting periods → 0.30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654296" y="1636776"/>
            <a:ext cx="1933956" cy="1944624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18888" y="1801368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Fil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897380"/>
            <a:ext cx="192024" cy="19202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312664" y="1801368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0.60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818888" y="2337816"/>
            <a:ext cx="160477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chunks retrieved: 3 useful, 2 not (grace period, waiting period)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3 / 5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752844" y="1636776"/>
            <a:ext cx="1933956" cy="1944624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17436" y="1801368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1" name="Image 3" descr="FaList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1897380"/>
            <a:ext cx="192024" cy="19202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11212" y="1801368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0.75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917436" y="2295144"/>
            <a:ext cx="160477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facts needed; the TPA's role in settlement was never retrieved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3 / 4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session_8/8_18_ragas_evaluation.py, 8_19_ragas_evaluation_customer_support.py</a:t>
            </a:r>
            <a:endParaRPr lang="en-US" sz="9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8_3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vs agentic RAG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question through both pipelines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242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42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8_11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967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 and CRAG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0436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the evidence; retry or fall back to the web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3500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500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8_13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3225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and hybrid search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694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 reranker; keyword + semantic + graph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8757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8757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8_16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8483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 and multi-hop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0952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bank-policy knowledge graph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0156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40156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8_18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37413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evaluation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62102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metrics on an insurance Q&amp;A system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259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failure mode before choosing a fix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decides when, what and how often to retrieve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 – similar is not the same as relevant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 answer questions that span documents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with RAGAS before and after every change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9: Deep Agents – Reflection, Planning and Long-Term Memory</a:t>
            </a:r>
            <a:endParaRPr lang="en-US" sz="12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9  ·  SUN 21-NOV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Agents: Reflection, Planning and Memory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check their own work, plan and re-plan, remember, and get better from their mistakes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MagnifyingGlass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self-reflection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generate, critique and revise until a quality bar is met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25628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List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35229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execute and re-plan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choose between ReAct and plan-and-execute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93141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Mem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02742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83159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agents long-term memory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episodic, semantic and procedural – plus consolidation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9798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9399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it all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management, self-improvement, one unified architecture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1971675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an agent "deep"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5010912" y="2202561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23694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Self-reflection loops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5010912" y="243344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354580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reflection with a quality threshold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5010912" y="266433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585466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Plan-and-Execute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5010912" y="289521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2816352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Replanning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5010912" y="3126105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047238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vs Plan-and-Execute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5010912" y="3356991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278124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memory types</a:t>
            </a:r>
            <a:endParaRPr 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5010912" y="358787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509010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memory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5010912" y="381876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212080" y="3739896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consolidation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5010912" y="404964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212080" y="3970782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propagation and trimming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5010912" y="4280535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5212080" y="4201668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Self-improvement from failures</a:t>
            </a:r>
            <a:endParaRPr lang="en-US" sz="1050" dirty="0"/>
          </a:p>
        </p:txBody>
      </p:sp>
      <p:sp>
        <p:nvSpPr>
          <p:cNvPr id="41" name="Shape 35"/>
          <p:cNvSpPr/>
          <p:nvPr/>
        </p:nvSpPr>
        <p:spPr>
          <a:xfrm>
            <a:off x="5010912" y="4511421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5212080" y="4432554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architecture: reflection + planning + memory</a:t>
            </a:r>
            <a:endParaRPr lang="en-US" sz="105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an Agent "Deep"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doesn't just produce an answer – it evaluates its own process and adapts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5961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agent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860614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60614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99744" y="2016061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210056" y="1860614"/>
            <a:ext cx="44577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10056" y="1860614"/>
            <a:ext cx="4457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683258" y="2016061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893570" y="1860614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93570" y="1860614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436114" y="2016061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646426" y="1860614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646426" y="1860614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45643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agent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851086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851086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99744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210056" y="2851086"/>
            <a:ext cx="162458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10056" y="2851086"/>
            <a:ext cx="1624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the task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862072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072384" y="2851086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72384" y="2851086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14928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825240" y="2851086"/>
            <a:ext cx="44577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825240" y="2851086"/>
            <a:ext cx="4457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298442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508754" y="2851086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08754" y="2851086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259324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469636" y="2851086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69636" y="2851086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89548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499860" y="2851086"/>
            <a:ext cx="1277874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99860" y="2851086"/>
            <a:ext cx="12778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strategy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805166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8015478" y="285108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15478" y="285108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57200" y="3446907"/>
            <a:ext cx="4023360" cy="884428"/>
          </a:xfrm>
          <a:prstGeom prst="roundRect">
            <a:avLst>
              <a:gd name="adj" fmla="val 620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3446907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94360" y="3446907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reasoning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3958971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"How do I solve this?"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663440" y="3446907"/>
            <a:ext cx="4023360" cy="884428"/>
          </a:xfrm>
          <a:prstGeom prst="roundRect">
            <a:avLst>
              <a:gd name="adj" fmla="val 620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663440" y="3446907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800600" y="3446907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Meta-cognition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800600" y="3958971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 my way of solving this working?"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Self-Reflection: Generate → Critique → Revise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"Explain RAG to a beginner in 200 words"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554480" y="145084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58800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072640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310384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LLM → draft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148840" y="1725168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4297680" y="145084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Clipboar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58800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36976" y="2072640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3236976" y="2310384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the draft against a rubric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892040" y="1725168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040880" y="145084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WandMagic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58800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980176" y="2072640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5980176" y="2310384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+ critique → improved answer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 flipH="1">
            <a:off x="1828800" y="2828544"/>
            <a:ext cx="548640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19" name="Text 14"/>
          <p:cNvSpPr txBox="1"/>
          <p:nvPr/>
        </p:nvSpPr>
        <p:spPr>
          <a:xfrm>
            <a:off x="1828800" y="260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while the critique finds issues</a:t>
            </a:r>
            <a:endParaRPr lang="en-US" sz="950" dirty="0"/>
          </a:p>
        </p:txBody>
      </p:sp>
      <p:graphicFrame>
        <p:nvGraphicFramePr>
          <p:cNvPr id="1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40608"/>
          <a:ext cx="3954780" cy="914400"/>
        </p:xfrm>
        <a:graphic>
          <a:graphicData uri="http://schemas.openxmlformats.org/drawingml/2006/table">
            <a:tbl>
              <a:tblPr/>
              <a:tblGrid>
                <a:gridCol w="1694906"/>
                <a:gridCol w="2259874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Rubric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Completeness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indexing / vector search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Clarity, level, length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Good, within limit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5"/>
          <p:cNvSpPr/>
          <p:nvPr/>
        </p:nvSpPr>
        <p:spPr>
          <a:xfrm>
            <a:off x="4732020" y="3340608"/>
            <a:ext cx="3954780" cy="100584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896612" y="3450336"/>
            <a:ext cx="36255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TO FIX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4896612" y="3669792"/>
            <a:ext cx="36255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Explain retrieval more clearly  2. Say why embeddings are used  3. Show how the retrieved context reaches the LLM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session_9/9_1_openai_agent_pattern_reflection.py</a:t>
            </a:r>
            <a:endParaRPr lang="en-US" sz="9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Reflection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until a quality threshold is met – with an upper limit on rounds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36776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277112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487424" y="1636776"/>
            <a:ext cx="134721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87424" y="1636776"/>
            <a:ext cx="1347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Critique: 6 / 10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62072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072384" y="163677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72384" y="163677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753612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963924" y="1636776"/>
            <a:ext cx="148590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963924" y="1636776"/>
            <a:ext cx="1485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Critique: 7.5 / 10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7725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687568" y="163677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87568" y="163677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6879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579108" y="1636776"/>
            <a:ext cx="134721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79108" y="1636776"/>
            <a:ext cx="1347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Critique: 9 / 10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95375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64068" y="1636776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64068" y="1636776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2386584"/>
            <a:ext cx="1543507" cy="5486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6072" y="250545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6" name="Image 0" descr="FaBulls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2583180"/>
            <a:ext cx="155448" cy="155448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996696" y="2487168"/>
            <a:ext cx="8851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2128723" y="2386584"/>
            <a:ext cx="1543507" cy="5486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247595" y="250545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0" name="Image 1" descr="FaList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5319" y="2583180"/>
            <a:ext cx="155448" cy="155448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2668219" y="2487168"/>
            <a:ext cx="8851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3800246" y="2386584"/>
            <a:ext cx="1543507" cy="5486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3919118" y="2505456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4" name="Image 2" descr="FaCrosshai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6842" y="2583180"/>
            <a:ext cx="155448" cy="155448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4339742" y="2487168"/>
            <a:ext cx="8851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5471770" y="2386584"/>
            <a:ext cx="1543507" cy="5486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5590642" y="2505456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38" name="Image 3" descr="Fa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8366" y="2583180"/>
            <a:ext cx="155448" cy="155448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6011266" y="2487168"/>
            <a:ext cx="8851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</a:t>
            </a:r>
            <a:endParaRPr lang="en-US" sz="1100" dirty="0"/>
          </a:p>
        </p:txBody>
      </p:sp>
      <p:sp>
        <p:nvSpPr>
          <p:cNvPr id="40" name="Shape 34"/>
          <p:cNvSpPr/>
          <p:nvPr/>
        </p:nvSpPr>
        <p:spPr>
          <a:xfrm>
            <a:off x="7143293" y="2386584"/>
            <a:ext cx="1543507" cy="5486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7262165" y="250545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42" name="Image 4" descr="Fa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9889" y="2583180"/>
            <a:ext cx="155448" cy="155448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7682789" y="2487168"/>
            <a:ext cx="8851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44" name="Text 37"/>
          <p:cNvSpPr txBox="1"/>
          <p:nvPr/>
        </p:nvSpPr>
        <p:spPr>
          <a:xfrm>
            <a:off x="457200" y="3374136"/>
            <a:ext cx="8229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 can score several dimensions and average them. Cap the number of loops so a picky critic can't run forever.</a:t>
            </a:r>
            <a:endParaRPr lang="en-US" sz="1150" dirty="0"/>
          </a:p>
        </p:txBody>
      </p:sp>
      <p:sp>
        <p:nvSpPr>
          <p:cNvPr id="45" name="Shape 3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8" name="Text 4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session_9/9_2_meal_plan_reflection.py</a:t>
            </a:r>
            <a:endParaRPr lang="en-US" sz="9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Plan-and-Execute, Revisited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decides what to do (strategy); execution does it (action)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47394"/>
            <a:ext cx="4289367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"Research three competitors, compare their pricing, identify their strengths, and recommend one."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82499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499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824990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three competitors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7246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7246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2462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competitor 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519934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5199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519934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competitor B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86740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86740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2867406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competitor C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21487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21487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214878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pricing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56235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56235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562350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features and pricing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90982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9098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" dirty="0"/>
          </a:p>
        </p:txBody>
      </p:sp>
      <p:sp>
        <p:nvSpPr>
          <p:cNvPr id="25" name="Text 23"/>
          <p:cNvSpPr txBox="1"/>
          <p:nvPr/>
        </p:nvSpPr>
        <p:spPr>
          <a:xfrm>
            <a:off x="896112" y="3909822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strengths and weaknesses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4257294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42572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60" dirty="0"/>
          </a:p>
        </p:txBody>
      </p:sp>
      <p:sp>
        <p:nvSpPr>
          <p:cNvPr id="28" name="Text 26"/>
          <p:cNvSpPr txBox="1"/>
          <p:nvPr/>
        </p:nvSpPr>
        <p:spPr>
          <a:xfrm>
            <a:off x="896112" y="4257294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recommendation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112327" y="1255776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0" name="Image 0" descr="FaList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08339" y="1351788"/>
            <a:ext cx="192024" cy="192024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5642679" y="1247394"/>
            <a:ext cx="3044121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the numbered plan once, up front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112327" y="180289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3" name="Image 1" descr="FaPersonRun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339" y="1898904"/>
            <a:ext cx="192024" cy="192024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5642679" y="1794510"/>
            <a:ext cx="3044121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out each step with the right tools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5112327" y="2437638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6" name="Image 2" descr="FaGraduationC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8339" y="2533650"/>
            <a:ext cx="192024" cy="192024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5642679" y="2341626"/>
            <a:ext cx="3044121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demo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study plan built and then executed step by step</a:t>
            </a:r>
            <a:endParaRPr lang="en-US" sz="1300" dirty="0"/>
          </a:p>
        </p:txBody>
      </p:sp>
      <p:sp>
        <p:nvSpPr>
          <p:cNvPr id="38" name="Shape 3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1" name="Text 3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session_9/9_3_study_plan_plan_execute.py</a:t>
            </a:r>
            <a:endParaRPr lang="en-US" sz="90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Replanning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the plan when new information arrives – during execution the agent may discover that…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1961388" cy="603504"/>
          </a:xfrm>
          <a:prstGeom prst="roundRect">
            <a:avLst>
              <a:gd name="adj" fmla="val 909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755648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B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833372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737360"/>
            <a:ext cx="1303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resource is unavailable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46604" y="1636776"/>
            <a:ext cx="1961388" cy="603504"/>
          </a:xfrm>
          <a:prstGeom prst="roundRect">
            <a:avLst>
              <a:gd name="adj" fmla="val 909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665476" y="1755648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PlugCircleXma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33372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6100" y="1737360"/>
            <a:ext cx="1303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fails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636008" y="1636776"/>
            <a:ext cx="1961388" cy="603504"/>
          </a:xfrm>
          <a:prstGeom prst="roundRect">
            <a:avLst>
              <a:gd name="adj" fmla="val 909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54880" y="1755648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TriangleExclam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604" y="1833372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75504" y="1737360"/>
            <a:ext cx="1303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contradict an assumption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725412" y="1636776"/>
            <a:ext cx="1961388" cy="603504"/>
          </a:xfrm>
          <a:prstGeom prst="roundRect">
            <a:avLst>
              <a:gd name="adj" fmla="val 909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844284" y="1755648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Bo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1833372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64908" y="1737360"/>
            <a:ext cx="1303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information changes things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2368296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76072" y="2487168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Circle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" y="2564892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96696" y="2468880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is already done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2546604" y="2368296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2665476" y="2487168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LinkSla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0" y="2564892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3086100" y="2468880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dependency is missing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636008" y="2368296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754880" y="2487168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0" name="Image 6" descr="FaHourglassHalf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32604" y="2564892"/>
            <a:ext cx="155448" cy="15544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175504" y="2468880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approach is too slow or costly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6725412" y="2368296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844284" y="2487168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34" name="Image 7" descr="FaFileMedic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2008" y="2564892"/>
            <a:ext cx="155448" cy="155448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264908" y="2468880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demo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pathology report changes the plan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9" name="Text 2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session_9/9_4_pathology_report_replanning.py</a:t>
            </a:r>
            <a:endParaRPr lang="en-US" sz="9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vs Plan-and-Execute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picks the next action from the latest observation; plan-and-execute plans at a higher level first</a:t>
            </a:r>
            <a:endParaRPr lang="en-US" sz="1350" dirty="0"/>
          </a:p>
        </p:txBody>
      </p:sp>
      <p:graphicFrame>
        <p:nvGraphicFramePr>
          <p:cNvPr id="1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2389239"/>
                <a:gridCol w="2920181"/>
                <a:gridCol w="2920181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Plan-and-Execute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front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every step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plan level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High, with replanning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tasks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Excellent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overkill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workflows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get messy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 suited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Debugging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steps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natural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Transparency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by 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explicit 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session_9/9_5_openai_agent_pattern_react.py vs 9_6_openai_agent_pattern_plan.py</a:t>
            </a:r>
            <a:endParaRPr lang="en-US" sz="90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Types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context, remember preferences, recall past work – and stop asking the same questions</a:t>
            </a:r>
            <a:endParaRPr lang="en-US" sz="1350" dirty="0"/>
          </a:p>
        </p:txBody>
      </p:sp>
      <p:graphicFrame>
        <p:nvGraphicFramePr>
          <p:cNvPr id="1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1954530"/>
                <a:gridCol w="2263140"/>
                <a:gridCol w="1440180"/>
                <a:gridCol w="2571750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Short-term (working)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current conversation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Minutes / 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Previous chat messages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Long-term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 user knowledge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to years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Preferences, profile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Stored outside the agent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ChromaDB, SQL, Redis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Facts and knowledge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"Python is your preferred language"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Episodic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Past interactions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Earlier support sessions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Procedural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Learned procedures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deploy an application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session_9/9_7_agent_memory_short_term_langgraph.py → 9_8, 9_9, 9_10</a:t>
            </a:r>
            <a:endParaRPr lang="en-US" sz="9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Demos, in Order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script adds one memory capability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8325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8325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36776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memory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9_7_agent_memory_short_term_langgraph.py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18770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8770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141220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ID from the user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9_8_agent_memory_dynamic_session_id_langgraph.py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the user ID becomes the session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69214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6921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645664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→ long-term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9_9_…_short_to_long_term_langgraph.py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9_10_…_short_to_external_sqlite_langgraph.py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19659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19659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0108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long-term types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9_11_…_semantic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9_12_…_procedural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9_14_…_episodic_langgraph.py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session_9/9_7 → 9_14</a:t>
            </a:r>
            <a:endParaRPr lang="en-US" sz="90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Memory: Three Kinds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= experiences.  Semantic = knowledge.  Procedural = skills.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633472" cy="1432560"/>
          </a:xfrm>
          <a:prstGeom prst="roundRect">
            <a:avLst>
              <a:gd name="adj" fmla="val 383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HAPPENED?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ClockRotateLef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116836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14600"/>
            <a:ext cx="2304288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discussed Project X last Tuesday."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55264" y="1636776"/>
            <a:ext cx="2633472" cy="1432560"/>
          </a:xfrm>
          <a:prstGeom prst="roundRect">
            <a:avLst>
              <a:gd name="adj" fmla="val 383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19856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I KNOW?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19856" y="202082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B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2116836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13632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419856" y="2514600"/>
            <a:ext cx="2304288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"Project X uses PostgreSQL."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053328" y="1636776"/>
            <a:ext cx="2633472" cy="1432560"/>
          </a:xfrm>
          <a:prstGeom prst="roundRect">
            <a:avLst>
              <a:gd name="adj" fmla="val 383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17920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DO IT?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217920" y="202082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Gea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2116836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711696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514600"/>
            <a:ext cx="2304288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"Deploy Project X using this procedure."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session_9/9_11_agent_memory_semantic_langgraph.py, 9_12_agent_memory_procedural_langgraph.py</a:t>
            </a:r>
            <a:endParaRPr lang="en-US" sz="9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Memory in Practice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specific past episodes outside the model and recall them when a similar case arrives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324 past support tickets, one text blob each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Magnifying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recall()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2 most similar episodes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FileLin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"Here is how similar questions were answered"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Repl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past resolutions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5" name="Image 4" descr="FaFloppyDis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7393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remember()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this Q and A as a new episode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457200" y="324002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episode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457200" y="3477768"/>
            <a:ext cx="8229600" cy="380111"/>
          </a:xfrm>
          <a:prstGeom prst="roundRect">
            <a:avLst>
              <a:gd name="adj" fmla="val 1202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594360" y="3587496"/>
            <a:ext cx="7955280" cy="1972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"Customer asked: Why was my payment declined? | Resolution: ..."</a:t>
            </a:r>
            <a:endParaRPr 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session_9/9_13_episodic_memory_store.py, 9_14_agent_memory_episodic_langgraph.py</a:t>
            </a:r>
            <a:endParaRPr lang="en-US" sz="9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Consolidation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 and compress old episodes before they pile up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4023360" cy="1313688"/>
          </a:xfrm>
          <a:prstGeom prst="roundRect">
            <a:avLst>
              <a:gd name="adj" fmla="val 417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consolidation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→ episode 1 … day 100 → episode 100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Large, redundant, expensive to search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reason over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636776"/>
            <a:ext cx="4023360" cy="1313688"/>
          </a:xfrm>
          <a:prstGeom prst="roundRect">
            <a:avLst>
              <a:gd name="adj" fmla="val 417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consolidation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common patterns across episodes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each group with one dense summary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summaries into the vector store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389376"/>
            <a:ext cx="93116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389376"/>
            <a:ext cx="9311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episodes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415796" y="35448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626108" y="3389376"/>
            <a:ext cx="474497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26108" y="3389376"/>
            <a:ext cx="47449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patterns: 2FA issue · card declined · subscription cancellation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398514" y="35448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608826" y="3389376"/>
            <a:ext cx="1000506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08826" y="3389376"/>
            <a:ext cx="10005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summaries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session_9/9_15_memory_consolidation.py</a:t>
            </a:r>
            <a:endParaRPr lang="en-US" sz="90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Propagation and Trimming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the right information forward – and keep it within the context window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49504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"Can I get a ₹50 lakh home loan?"</a:t>
            </a:r>
            <a:pPr algn="l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what each step passes on: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244449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444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444496"/>
            <a:ext cx="3056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81025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810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810256"/>
            <a:ext cx="3056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retrieved policies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17601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176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176016"/>
            <a:ext cx="3056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credit score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54177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541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3541776"/>
            <a:ext cx="3056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reasoning → final answer</a:t>
            </a:r>
            <a:endParaRPr lang="en-US" sz="1100" dirty="0"/>
          </a:p>
        </p:txBody>
      </p:sp>
      <p:graphicFrame>
        <p:nvGraphicFramePr>
          <p:cNvPr id="1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18000" y="1636776"/>
          <a:ext cx="4368800" cy="914400"/>
        </p:xfrm>
        <a:graphic>
          <a:graphicData uri="http://schemas.openxmlformats.org/drawingml/2006/table">
            <a:tbl>
              <a:tblPr/>
              <a:tblGrid>
                <a:gridCol w="1248229"/>
                <a:gridCol w="2028371"/>
                <a:gridCol w="1092200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Trimming strategy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Sliding window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only the latest N messages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Chatbots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Summarisation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 older turns with a summary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conversations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retrieval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Pull back only relevant memories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Long-term 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Token-based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 the oldest content at a token limit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Priority-based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keep critical facts, drop details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agents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session_9/9_16_context_management_strategies.py</a:t>
            </a:r>
            <a:endParaRPr lang="en-US" sz="90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Self-Improvement from Failures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corrected facts from mistakes – good answers leave no trace, mistakes leave a lesson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recall_lessons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past lessons relevant to this query?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Rep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96312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Answer, guided by recalled lessons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5" name="Image 2" descr="FaGav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96312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judge grades against the real policy; 7+ only for the specific correct fact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0" name="Image 3" descr="FaFloppyDis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maybe_store_lesson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96312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score &lt; 7: store the corrected fact, not the bad answer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3392424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semantic memory (facts), not episodic: who asked and when are stripped away.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session_9/9_17_self_improving_agent.py</a:t>
            </a:r>
            <a:endParaRPr lang="en-US" sz="900" dirty="0"/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Unified Deep-Agent Architecture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informs planning → planning guides execution → reflection evaluates it → replanning adapts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54228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Mem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679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I know?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54228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List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67944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I do?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54228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ersonRun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67944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act?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54228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0" name="Image 3" descr="FaMagnifyingGlassCh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67944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working?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54228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5" name="Image 4" descr="FaRou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679448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Replanning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change?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 flipH="1">
            <a:off x="1280160" y="2919984"/>
            <a:ext cx="658368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29" name="Text 22"/>
          <p:cNvSpPr txBox="1"/>
          <p:nvPr/>
        </p:nvSpPr>
        <p:spPr>
          <a:xfrm>
            <a:off x="1280160" y="2700528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cycle repeats as the agent works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457200" y="3432048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21792" y="3541776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DEMO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621792" y="3761232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memory assistant that remembers you, plans its replies, checks them and adapts – every idea from this session in one agent.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6" name="Text 2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session_9/9_18_personal_memory_assistant.py</a:t>
            </a:r>
            <a:endParaRPr lang="en-US" sz="900" dirty="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9 and Course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 – and across the course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loops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Generate, critique and revise to a quality bar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242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42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9_4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967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Replanning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0436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 that changes when a report says so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3500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500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9_13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3225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memory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694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tickets recalled and consolidated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8757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8757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9_17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8483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Self-improving agent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0952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stored only when the agent was wrong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0156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40156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S1–9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37413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journey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62102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agents → LangChain → LangGraph → crews and teams → agentic RAG → deep agents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42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agents evaluate how they are doing, not just what to do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needs a rubric and a stopping rule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up front for long tasks; replan when facts change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memory type by what must be remembered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 context deliberately – the window is a budget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 Keep building – the code is at github.com/atulkahatecdac/agenticai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152</Slides>
  <Notes>152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152</vt:i4>
      </vt:variant>
    </vt:vector>
  </HeadingPairs>
  <TitlesOfParts>
    <vt:vector size="1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PGP – Agentic AI</dc:title>
  <dc:subject>PptxGenJS Presentation</dc:subject>
  <dc:creator>Atul Kahate</dc:creator>
  <cp:lastModifiedBy>Atul Kahate</cp:lastModifiedBy>
  <cp:revision>1</cp:revision>
  <dcterms:created xsi:type="dcterms:W3CDTF">2026-10-21T05:57:53Z</dcterms:created>
  <dcterms:modified xsi:type="dcterms:W3CDTF">2026-10-21T05:57:53Z</dcterms:modified>
</cp:coreProperties>
</file>